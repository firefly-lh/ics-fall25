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827A3-3FE4-AB21-8573-4FF06EC0C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9FADF9-6795-4201-FC4A-BDE899468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F4037-6FD4-24C6-85AA-34F291D23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71CFB3-36CF-0353-5270-7C09F0D7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A33C9-8E79-3BC2-09EF-5BD2D63C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848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CDEFA-1F07-F56C-CD0C-86542FA9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E6CA28-A3B1-5B92-F762-99FE6BA4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5EA7A9-9FB3-2BC0-F163-818D5AEC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27D0EF-FA95-7FA1-BFCA-49B8D0D3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5C77BE-6C5F-4E04-95E6-A15FF26F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58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4B182-EEE4-C038-230E-53F4CF65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FD342B-B566-05BD-E76F-3EC2D770C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FFF7E-6C08-0451-B96D-B139F26C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18358D-585E-262E-5D32-26CE1278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82864-FF88-8635-5AF7-56FAC63C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77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A84E0-EFC2-CE44-3F19-55235CC8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3E6B5-9637-B393-0F46-D2DC9212F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C68064-ED6E-CCB9-F444-BE748A5F8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2B8378-E9CC-AC68-FEED-2EFC1DD0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8D9EE-7DAA-7003-9384-9D2BA261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158DD1-DB2B-74FB-DA9F-B8DABB50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EEC75-B534-28A9-2FDD-0A629B52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8246B9-4183-7039-6144-D90332EE2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0AADCB-644E-C373-7145-B5D721367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70DF66-B022-23BD-4767-763966556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C7A931-F947-55BE-F321-9B4E98710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2539B2-E9AD-F869-A407-460BD8BE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527E3B-0D10-DAFF-EF6C-F00A1E2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B46F39-8802-F6AD-7E94-D84EA021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6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D92F5-3B96-96CD-E3B5-D956673C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1724DA-A36F-EC1C-D278-E31C9D99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5DA12B-7F5E-5020-2F6E-14CC696D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353ACD-743E-5A8C-2F93-68AB6970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67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9EB619-5180-0BFD-C8D4-8F4B5CD8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719B56-2119-224C-8F29-CE7A0148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76B158-526D-8894-6DE0-94818412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02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BB510-D99B-E1AB-9E73-1EB9E985D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08F207-A12F-2371-D98C-9BA0A2B62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DD783-5E32-02E0-FCCC-85B6E6CB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8FF15F-BD87-5D1E-E66E-3AF471E4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A90F7-E1A3-005C-8F13-837C3CB7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2DDEE3-5687-625E-1BE6-9B360666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33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FB634-B1BE-8A8B-56E4-61E098DD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7D12B4-7872-3307-468D-01E165359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147C9D-1B04-5FAF-1E74-B7AFA351A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B1C7A-FB6D-32BB-EDB6-88D31FD3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E3378C-07AB-6ACE-EF25-297A7745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B13BDB-FB7C-0C5B-C6F1-F71BAFD32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87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F8D1A-EFEA-E4F9-48DD-7BC9DC30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18736C-197B-9261-F647-4B77F6D44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B7FA1-1144-DA49-A44A-7F23D234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489CC-2083-1FE3-8266-5FA69783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64C96D-9837-D965-345C-97BB1BB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18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E60323-92EE-66E2-2DD3-8F20194CE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52F5CB-9C6B-1614-42DA-8CCB47B5B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486802-73F0-FF3F-6896-C2B1B709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E36ED-1317-67E8-EEDF-F273F13AB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BABFFD-4573-242C-EDBF-12B9DC32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76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26813F-2558-2E96-F40E-12F7536E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4141F0-CA1F-FF0F-CC02-C7D6526BF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6E7164-AD10-4675-B8E3-29CC0453B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D4C32-0DE0-416E-95F1-435A09D9BDD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F6B564-7311-ADCA-E551-5FEB44C83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71BB2B-C278-1555-386B-C1BBBF65E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538F7-E5D0-4D45-8530-44009027D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0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C0475-1776-7E08-798D-2BC220273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基本汇编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E7BBEE-829F-A0EB-FB8C-A5D4D5159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2025/9/24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9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4AABA-01AE-AE77-9BFF-90472437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x86-64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整数寄存器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650704-09F5-8BA2-4A03-AB5507DB9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726" y="282971"/>
            <a:ext cx="5183509" cy="6102486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BF4D891-8F88-0D54-7536-107DE2F0C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76683" cy="4351338"/>
          </a:xfrm>
        </p:spPr>
        <p:txBody>
          <a:bodyPr>
            <a:normAutofit/>
          </a:bodyPr>
          <a:lstStyle/>
          <a:p>
            <a:r>
              <a:rPr lang="zh-CN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用“字（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lang="zh-CN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）”表示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zh-CN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位数据类型，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对应“双字（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double words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）”和“四字（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quad words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）”为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32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和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64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位数据类型。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共有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16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个通用寄存器，其中</a:t>
            </a:r>
            <a:r>
              <a:rPr lang="en-US" altLang="zh-CN" sz="2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rsp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较为特殊，存储了栈顶指针，一般不用于存储其他数据。</a:t>
            </a:r>
            <a:endParaRPr lang="en-US" altLang="zh-CN" sz="2000" dirty="0">
              <a:effectLst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一个寄存器的低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32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，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16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和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8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位分别有别名，可用于独立访问。例如，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2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访问全部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64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位，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2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eax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访问低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32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位，且在写入时会将高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32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位清零。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%ax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和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%al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访问低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16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，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8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位，但写入时会保留高位。</a:t>
            </a:r>
            <a:endParaRPr lang="en-US" altLang="zh-CN" sz="2000" dirty="0">
              <a:effectLst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对于前四个寄存器，有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%ah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用于访问低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16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位中的高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8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位。</a:t>
            </a:r>
            <a:endParaRPr lang="en-US" altLang="zh-CN" sz="2000" dirty="0">
              <a:effectLst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zh-CN" altLang="zh-CN" sz="2000" dirty="0">
              <a:effectLst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zh-CN" altLang="en-US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89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0E611-77DA-4497-226F-E4645FDE8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868F6-C6D0-789A-D337-DC8A0CFB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数据传送指令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23FEDBB-2814-2D35-DC4F-1332B20E8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movq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指令传送四字，源在前，目的在后。</a:t>
            </a:r>
            <a:endParaRPr lang="zh-CN" altLang="zh-CN" sz="2000" dirty="0">
              <a:effectLst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不存在直接从内存到内存的数据传送指令。首先因为内存寻址参数复杂，指令过长导致开销很大，而且内存读写速度慢会导致性能下降，利用寄存器中转数据几乎没有额外开销。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71AC7BF-BCB6-4ED7-6527-9334EC3B9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05464"/>
              </p:ext>
            </p:extLst>
          </p:nvPr>
        </p:nvGraphicFramePr>
        <p:xfrm>
          <a:off x="838199" y="2262747"/>
          <a:ext cx="10515600" cy="2332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62206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41316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784381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2161925"/>
                    </a:ext>
                  </a:extLst>
                </a:gridCol>
              </a:tblGrid>
              <a:tr h="388751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汇编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r>
                        <a:rPr lang="zh-CN" altLang="en-US" b="1" dirty="0"/>
                        <a:t>语言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822863"/>
                  </a:ext>
                </a:extLst>
              </a:tr>
              <a:tr h="388751">
                <a:tc>
                  <a:txBody>
                    <a:bodyPr/>
                    <a:lstStyle/>
                    <a:p>
                      <a:r>
                        <a:rPr lang="zh-CN" altLang="en-US" dirty="0"/>
                        <a:t>立即数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movq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 $0x16,%rax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</a:rPr>
                        <a:t>temp = 0x16;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24479"/>
                  </a:ext>
                </a:extLst>
              </a:tr>
              <a:tr h="388751">
                <a:tc>
                  <a:txBody>
                    <a:bodyPr/>
                    <a:lstStyle/>
                    <a:p>
                      <a:r>
                        <a:rPr lang="zh-CN" altLang="en-US" dirty="0"/>
                        <a:t>立即数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内存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movq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 105,(%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)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</a:rPr>
                        <a:t>*p = 105;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266016"/>
                  </a:ext>
                </a:extLst>
              </a:tr>
              <a:tr h="388751"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movq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,%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 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</a:rPr>
                        <a:t>a = b;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968334"/>
                  </a:ext>
                </a:extLst>
              </a:tr>
              <a:tr h="388751"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内存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movq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rdx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,(%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)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</a:rPr>
                        <a:t>*p = temp;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50182"/>
                  </a:ext>
                </a:extLst>
              </a:tr>
              <a:tr h="388751">
                <a:tc>
                  <a:txBody>
                    <a:bodyPr/>
                    <a:lstStyle/>
                    <a:p>
                      <a:r>
                        <a:rPr lang="zh-CN" altLang="en-US" dirty="0"/>
                        <a:t>内存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movq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 (%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rdx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),%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rax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</a:rPr>
                        <a:t>temp = *p;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21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69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BFD7E-00DC-E04E-7366-30871748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0A784-7791-AA49-7D29-ED6B0149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寻址模式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812D7D-75A8-75A9-9F7A-C918E7F83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86" y="1690688"/>
            <a:ext cx="8997028" cy="427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4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C5D6-329F-6F09-B9F2-2B5D4D23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6F6A-DC92-E8DA-7B5A-D44D3882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寻址模式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423AF15-F26E-AEE0-2B75-8A7F19B3A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7785" cy="4351338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Imm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b,i,s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) -&gt; M[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Imm+R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[b]+R[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]*s]</a:t>
            </a:r>
          </a:p>
          <a:p>
            <a:r>
              <a:rPr lang="en-US" altLang="zh-CN" sz="20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Imm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立即数，固定偏移量；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b</a:t>
            </a:r>
            <a:r>
              <a:rPr lang="en-US" altLang="zh-CN" sz="20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zh-CN" altLang="en-US" sz="20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寄存器，</a:t>
            </a:r>
            <a:r>
              <a:rPr lang="en-US" altLang="zh-CN" sz="20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base</a:t>
            </a:r>
            <a:r>
              <a:rPr lang="zh-CN" altLang="en-US" sz="20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，内存的起始偏移；</a:t>
            </a:r>
            <a:endParaRPr lang="en-US" altLang="zh-CN" sz="2000" dirty="0">
              <a:effectLst/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i: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寄存器，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index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，内存的偏移序数；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s:1,2,4,8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中的固定值，单次偏移量，便于移位计算，与常见数组元素的大小有关。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以右侧代码为例，若传入的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arr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指针在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rdi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，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i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变量在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rsi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，返回值传送到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，理论上有：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movq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4(%rdi,%rsi,8),%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加快运行速度，但对于其他大小的数组，可能需要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lea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等其他指令计算总位移量。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8190FB-218B-0645-E7DC-D021D83DC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984" y="1910982"/>
            <a:ext cx="5268612" cy="18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3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D72CC-1F38-6F3D-566A-C3AC6A03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5C329-8EF0-C214-4A05-778380E0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其他数据传送指令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B641CD2-9AE9-8E66-A6BB-6E443796E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不同大小的数据传送指令。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特殊的，常规的</a:t>
            </a:r>
            <a:r>
              <a:rPr lang="en-US" altLang="zh-CN" sz="2000" dirty="0" err="1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movq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传送的立即数只能为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32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位的源并符号扩展，而</a:t>
            </a:r>
            <a:r>
              <a:rPr lang="en-US" altLang="zh-CN" sz="2000" dirty="0" err="1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movabsq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可以将任意的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64</a:t>
            </a:r>
            <a:r>
              <a:rPr lang="zh-CN" altLang="en-US" sz="20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位立即数传送到寄存器。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C19D8D-0821-1CC1-CD81-7C5E936E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164" y="2319561"/>
            <a:ext cx="6942254" cy="295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0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E3570-0080-36DF-2203-FC2BD235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FE6C9-F75C-9297-2D6B-69C59A8B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算数运算示例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8BD4B74-453B-B7C4-4229-0680DF349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8481" y="2586603"/>
            <a:ext cx="3683555" cy="3439845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x:%rdi,y:%rsi,z:%rdx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rdi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+%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rsi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         t1:%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+%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         t2:%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rsi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+%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rsi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*2=%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rsi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*3 t4:%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&lt;&lt;4=%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*16    t4:%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rdx</a:t>
            </a: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rcx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rdi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+%rdx+4        t5:%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rcx</a:t>
            </a: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rcx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*%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         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rval</a:t>
            </a:r>
            <a:r>
              <a:rPr lang="en-US" altLang="zh-CN" sz="1400" dirty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:%</a:t>
            </a:r>
            <a:r>
              <a:rPr lang="en-US" altLang="zh-CN" sz="1400" dirty="0" err="1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rax</a:t>
            </a:r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endParaRPr lang="en-US" altLang="zh-CN" sz="14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87371D-3CC3-6043-C06F-4D38F359F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64" y="2503860"/>
            <a:ext cx="3240839" cy="30807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7FA546-1C87-7EE7-3FE7-1381033F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75" y="3144251"/>
            <a:ext cx="3695570" cy="19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3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557D-BE2F-3566-31B0-1350BF55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2BE7A-1E1F-7E9F-9484-BC954D3E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特殊二元运算：全乘法和除法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ED5233-C726-B694-A207-6055DD80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</a:rPr>
              <a:t>隐含地要求操作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%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rax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%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</a:rPr>
              <a:t>rdx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</a:rPr>
              <a:t>寄存器表示一个八字即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128</a:t>
            </a:r>
            <a:r>
              <a:rPr lang="zh-CN" altLang="en-US" sz="2000" dirty="0">
                <a:latin typeface="Consolas" panose="020B0609020204030204" pitchFamily="49" charset="0"/>
                <a:ea typeface="宋体" panose="02010600030101010101" pitchFamily="2" charset="-122"/>
              </a:rPr>
              <a:t>整数的低位和高位。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DF5DD5C-EBF5-3CF3-E2F0-BC591244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2418935"/>
            <a:ext cx="79343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42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578</Words>
  <Application>Microsoft Office PowerPoint</Application>
  <PresentationFormat>宽屏</PresentationFormat>
  <Paragraphs>72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黑体</vt:lpstr>
      <vt:lpstr>Arial</vt:lpstr>
      <vt:lpstr>Calibri</vt:lpstr>
      <vt:lpstr>Consolas</vt:lpstr>
      <vt:lpstr>Office 主题​​</vt:lpstr>
      <vt:lpstr>基本汇编</vt:lpstr>
      <vt:lpstr>x86-64 整数寄存器 </vt:lpstr>
      <vt:lpstr>数据传送指令</vt:lpstr>
      <vt:lpstr>寻址模式</vt:lpstr>
      <vt:lpstr>寻址模式</vt:lpstr>
      <vt:lpstr>其他数据传送指令</vt:lpstr>
      <vt:lpstr>算数运算示例</vt:lpstr>
      <vt:lpstr>特殊二元运算：全乘法和除法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zhiyu060309@163.com</dc:creator>
  <cp:lastModifiedBy>zhiyu060309@163.com</cp:lastModifiedBy>
  <cp:revision>110</cp:revision>
  <dcterms:created xsi:type="dcterms:W3CDTF">2025-09-23T16:05:40Z</dcterms:created>
  <dcterms:modified xsi:type="dcterms:W3CDTF">2025-09-23T17:46:33Z</dcterms:modified>
</cp:coreProperties>
</file>