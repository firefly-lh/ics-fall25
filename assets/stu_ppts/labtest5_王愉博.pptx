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08" d="100"/>
          <a:sy n="108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CDF1F-3E21-307E-50B0-51B38FD8E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5AB76D-F1DA-BBC9-AA1C-9054D836C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65E1C-DD30-0264-EA0E-511C2BBC7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7EC64-52C4-DAB0-3990-6A67438E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24DCE-4A4D-6B5A-8251-9E4D1668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322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C355F-C64F-40AE-2D8C-D290CB92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1D47A0-FBE2-0BBB-B16E-A7DE1D1DE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79C8A-6EFE-4489-6577-B2695CA1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643FC-35CA-3EF1-31BC-C107000A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9BA62-0460-71C9-56DB-AA70AE4F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163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EB005-4A9B-9777-34AE-9AC08A7F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AD6CED-61A4-FF77-9089-253B32955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644E95-3FD7-804E-7576-27A207D4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5BCDB-AC4F-9556-CA4A-38B3C632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1D483-C38F-EB0A-3CBA-9C3C00302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2161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C037D-441A-7884-CD55-445D0529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F4265-8991-72A3-8BA0-60FB94CEB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FC853F-93FF-0B4F-4B20-F8C2AA705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B8763F-590B-26B8-2D1F-C1148F3A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B1D766-3524-D741-9252-72136265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DB20E2-945D-E10F-7F07-7676A767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288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45BE6-D21F-05D1-CC26-F1F100A4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C543A8-1DD9-C46D-C363-3C241883B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BAF15F-7EE1-249C-877B-EBFDBE5E7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A33CAA-405F-A649-8ED9-6D6E4CDD8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DE6AA4-365C-79C5-8414-36A8DE2A8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5785F7-34C9-DD83-31C2-657A47458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0E2E3E-D559-5229-BACC-4BF232A8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183735-742F-56C1-1B0A-838D7263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4729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9B779-44D8-7823-CC14-B74EE868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058BFE-0513-FB78-83B3-62E26C68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9DC34F-6414-7D4E-5E77-256A1C2F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181A50-9E96-AF51-C9A9-37AEA88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84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24F894-B486-29BF-7AC5-9A6D6806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A1C0FD-D138-1261-C88D-2886BF98D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CB83B0-94CA-E7B0-7332-3A3943FA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695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6BB99-2F56-C2B6-2950-CD7E45EB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77F25-CED4-CD36-3EFC-32E9DEBF2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58F431-08EA-D6BC-295C-C2EBBAAD3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A3AFC9-02F8-2F54-A2FA-D87976DDE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73818-9A9D-0167-4C24-06EE2D4C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012766-D122-2D38-F581-31FAAACD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97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68C61-5572-8A9C-5E34-57F775D2E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0AE640-6DD8-BAE8-C077-FB32BC9FB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67A58D-A4CC-BEB6-D021-B790F172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F5355B-FDB4-E1CA-1372-89014FED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99C2D7-1BD4-579E-848F-516CBAF4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72C782-4654-399E-1AF0-4FC61ABE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277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4B5E4-69DF-516B-F1B9-5FF1886C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61A8C7-7992-362B-5D7C-4001C3C71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533FD0-A733-3093-B88C-00C9F9AB0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B59D29-778C-4A03-48CC-621AA062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201DB-7469-6646-C8F3-A5F5D4BC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14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EBB390-DEE7-DE17-875D-2EC66D057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0035BF-6412-2A49-7465-5200FE582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6EA26-F544-1053-A14B-A1A23548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824602-2D78-3177-BB53-A31835A4C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2CF61-B1AF-0A3C-FCD7-C98DDE82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8077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897D52-3275-DC53-05CB-E72732F8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88B623-E771-703F-D557-877AA8D30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21B9F-D62C-6ACF-84F5-829F0A74A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B32B7-5A78-F947-ADA5-ED90D976CE37}" type="datetimeFigureOut">
              <a:rPr kumimoji="1" lang="zh-CN" altLang="en-US" smtClean="0"/>
              <a:t>2025/12/17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41890-A766-EC5D-BE49-B8CA07D92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70E20A-9C6F-C60A-C1EB-4AD5DF577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77064-21E8-7D4C-BF97-484D0B65FD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276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B29DC-D7A8-C3B9-081E-8617B6E81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Lab</a:t>
            </a:r>
            <a:r>
              <a:rPr kumimoji="1" lang="zh-CN" altLang="en-US" dirty="0"/>
              <a:t>测试</a:t>
            </a:r>
            <a:r>
              <a:rPr kumimoji="1" lang="en-US" altLang="zh-CN" dirty="0"/>
              <a:t>Lab5-Lab7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6C7B20-A44C-36BE-EF7F-CB37C34676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王愉博 </a:t>
            </a:r>
            <a:r>
              <a:rPr kumimoji="1" lang="en-US" altLang="zh-CN" dirty="0"/>
              <a:t>20251217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563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9460B-338D-DFD4-CF29-8A959FC8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A19A393-460A-F20A-5511-37F13AB3E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306" y="1825625"/>
            <a:ext cx="9371388" cy="43513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A82CAAD-22FA-8009-032C-D35C19C75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57" y="365125"/>
            <a:ext cx="9193925" cy="261771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7097918-C234-D427-5833-5AA288123BE9}"/>
              </a:ext>
            </a:extLst>
          </p:cNvPr>
          <p:cNvSpPr/>
          <p:nvPr/>
        </p:nvSpPr>
        <p:spPr>
          <a:xfrm>
            <a:off x="1828800" y="924909"/>
            <a:ext cx="525517" cy="462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156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71BFD-3E15-7804-818B-47F6D175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4D17014-9352-C50F-8D68-FD0851FFD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4485"/>
            <a:ext cx="10515600" cy="32485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CC8EF2-7EC0-171B-6CB5-E9E90A21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72" y="3543011"/>
            <a:ext cx="10284643" cy="15153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6F3818D-D532-DD9F-B01A-9E480D7CAC31}"/>
              </a:ext>
            </a:extLst>
          </p:cNvPr>
          <p:cNvSpPr txBox="1"/>
          <p:nvPr/>
        </p:nvSpPr>
        <p:spPr>
          <a:xfrm>
            <a:off x="1182414" y="5210668"/>
            <a:ext cx="982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默认</a:t>
            </a:r>
            <a:r>
              <a:rPr kumimoji="1" lang="en-US" altLang="zh-CN" dirty="0"/>
              <a:t>instruction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hit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9B5EAB-4194-665A-DCF2-473AE2270A5E}"/>
              </a:ext>
            </a:extLst>
          </p:cNvPr>
          <p:cNvSpPr/>
          <p:nvPr/>
        </p:nvSpPr>
        <p:spPr>
          <a:xfrm>
            <a:off x="1418896" y="2659116"/>
            <a:ext cx="525517" cy="462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6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75BBD-F7F9-60A2-59AF-E0734FF8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339EAAF-D7DF-A204-4CDC-DB88C6621C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724" y="3905642"/>
            <a:ext cx="10515600" cy="13894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B0D9CDF-CDDC-09BF-D28B-6FF63A7DA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24" y="365125"/>
            <a:ext cx="9078310" cy="334242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4D5A3F6-4788-4247-F703-CE801AC7B0B2}"/>
              </a:ext>
            </a:extLst>
          </p:cNvPr>
          <p:cNvSpPr/>
          <p:nvPr/>
        </p:nvSpPr>
        <p:spPr>
          <a:xfrm>
            <a:off x="1597572" y="2005431"/>
            <a:ext cx="525517" cy="462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146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65A76-829B-F27A-E7D6-69883A273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EA554-E6AF-FA66-955B-346003B5D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866651-0A38-6E7A-E00A-5875ACCB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7772400" cy="440589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0AE24FE-6FDB-9FBC-B996-EF506C882A2D}"/>
              </a:ext>
            </a:extLst>
          </p:cNvPr>
          <p:cNvSpPr/>
          <p:nvPr/>
        </p:nvSpPr>
        <p:spPr>
          <a:xfrm>
            <a:off x="1187668" y="2837793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158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AA10B-D8D3-A414-F390-B599D48E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EA7B008-BCE5-1690-DDCF-914AB705E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560299"/>
            <a:ext cx="10515600" cy="26897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BBF51E-56B3-0ADD-C94E-23CE858FE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973" y="373390"/>
            <a:ext cx="7772400" cy="29044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89C8BB7-6A8B-7031-6AF7-0C3A7F6385BD}"/>
              </a:ext>
            </a:extLst>
          </p:cNvPr>
          <p:cNvSpPr/>
          <p:nvPr/>
        </p:nvSpPr>
        <p:spPr>
          <a:xfrm>
            <a:off x="1828799" y="1596798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621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7566-7740-8585-959C-87193E12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CFAFD-A947-ABD3-F682-DC495D0D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A212E-6A31-542B-93D7-CDDC865C0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C00C1B-DCA0-6FB0-D3D4-4194151D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132" y="444500"/>
            <a:ext cx="6604000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82F4B-1650-8E3B-BB3E-D2C8AFD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DD9FC8-69F7-2298-F2C6-649717D3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67" y="365125"/>
            <a:ext cx="9698421" cy="4391951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0BF8A8-038A-F381-C0FE-71CE455A6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333" y="4609932"/>
            <a:ext cx="10515600" cy="209850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7A67ED5-940E-93D0-9AFE-AE7D0304FB39}"/>
              </a:ext>
            </a:extLst>
          </p:cNvPr>
          <p:cNvSpPr/>
          <p:nvPr/>
        </p:nvSpPr>
        <p:spPr>
          <a:xfrm>
            <a:off x="1534512" y="2962145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10596DA-EBF3-660D-231B-B76D19CC6E7A}"/>
              </a:ext>
            </a:extLst>
          </p:cNvPr>
          <p:cNvCxnSpPr>
            <a:cxnSpLocks/>
          </p:cNvCxnSpPr>
          <p:nvPr/>
        </p:nvCxnSpPr>
        <p:spPr>
          <a:xfrm>
            <a:off x="2480441" y="3331779"/>
            <a:ext cx="2333297" cy="66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053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C972B-542C-6E17-BD13-70C9718A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EE8B-7D3D-2A86-15B8-D3AFA76B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5131D1-4E4D-2309-490B-E13D04EEB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67" y="365125"/>
            <a:ext cx="9698421" cy="4391951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68DF76-0FD0-CAF2-8EFB-D364152AC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7333" y="4609932"/>
            <a:ext cx="10515600" cy="209850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3C9AF02-F342-B4AD-1E41-963C28EC0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5" y="1362226"/>
            <a:ext cx="12114050" cy="152812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011607D-798F-A6BB-A556-1F3236B732CE}"/>
              </a:ext>
            </a:extLst>
          </p:cNvPr>
          <p:cNvSpPr/>
          <p:nvPr/>
        </p:nvSpPr>
        <p:spPr>
          <a:xfrm>
            <a:off x="1534512" y="2962145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1A6651F-E09D-3E78-F45B-C66695B88210}"/>
              </a:ext>
            </a:extLst>
          </p:cNvPr>
          <p:cNvCxnSpPr>
            <a:cxnSpLocks/>
          </p:cNvCxnSpPr>
          <p:nvPr/>
        </p:nvCxnSpPr>
        <p:spPr>
          <a:xfrm>
            <a:off x="2480441" y="3331779"/>
            <a:ext cx="2333297" cy="66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71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EE75D-41EC-E0EA-860E-63B421CF4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53D10E-CAB1-8E7F-EA9E-D5C0C041D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B1A53A-68CE-1D52-5CA3-596E9DB4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70" y="276036"/>
            <a:ext cx="8966200" cy="44379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E839BBC-9198-EB55-E825-A5612FCED2BB}"/>
              </a:ext>
            </a:extLst>
          </p:cNvPr>
          <p:cNvSpPr/>
          <p:nvPr/>
        </p:nvSpPr>
        <p:spPr>
          <a:xfrm>
            <a:off x="2017988" y="1314359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467D2E-5B5D-D7CA-1BA6-18490AEF6EC7}"/>
              </a:ext>
            </a:extLst>
          </p:cNvPr>
          <p:cNvSpPr txBox="1"/>
          <p:nvPr/>
        </p:nvSpPr>
        <p:spPr>
          <a:xfrm>
            <a:off x="1182414" y="5210668"/>
            <a:ext cx="9827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如果不屏蔽信号可能存在与</a:t>
            </a:r>
            <a:r>
              <a:rPr kumimoji="1" lang="en-US" altLang="zh-CN" dirty="0" err="1"/>
              <a:t>sigchld_handler</a:t>
            </a:r>
            <a:r>
              <a:rPr kumimoji="1" lang="en-US" altLang="zh-CN" dirty="0"/>
              <a:t>/eval</a:t>
            </a:r>
            <a:r>
              <a:rPr kumimoji="1" lang="zh-CN" altLang="en-US" dirty="0"/>
              <a:t>的竞争，当</a:t>
            </a:r>
            <a:r>
              <a:rPr kumimoji="1" lang="en-US" altLang="zh-CN" dirty="0" err="1"/>
              <a:t>sigint_handler</a:t>
            </a:r>
            <a:r>
              <a:rPr kumimoji="1" lang="zh-CN" altLang="en-US" dirty="0"/>
              <a:t>查到前台进程</a:t>
            </a:r>
            <a:r>
              <a:rPr kumimoji="1" lang="en-US" altLang="zh-CN" dirty="0" err="1"/>
              <a:t>pid</a:t>
            </a:r>
            <a:r>
              <a:rPr kumimoji="1" lang="zh-CN" altLang="en-US" dirty="0"/>
              <a:t>还未向其发送</a:t>
            </a:r>
            <a:r>
              <a:rPr kumimoji="1" lang="en-US" altLang="zh-CN" dirty="0"/>
              <a:t>SIGINT</a:t>
            </a:r>
            <a:r>
              <a:rPr kumimoji="1" lang="zh-CN" altLang="en-US" dirty="0"/>
              <a:t>时如果前台进程完成，</a:t>
            </a:r>
            <a:r>
              <a:rPr kumimoji="1" lang="en-US" altLang="zh-CN" dirty="0" err="1"/>
              <a:t>sigchld_handler</a:t>
            </a:r>
            <a:r>
              <a:rPr kumimoji="1" lang="zh-CN" altLang="en-US" dirty="0"/>
              <a:t>就会在</a:t>
            </a:r>
            <a:r>
              <a:rPr kumimoji="1" lang="en-US" altLang="zh-CN" dirty="0"/>
              <a:t>kill</a:t>
            </a:r>
            <a:r>
              <a:rPr kumimoji="1" lang="zh-CN" altLang="en-US" dirty="0"/>
              <a:t>前运行，造成错误</a:t>
            </a:r>
          </a:p>
        </p:txBody>
      </p:sp>
    </p:spTree>
    <p:extLst>
      <p:ext uri="{BB962C8B-B14F-4D97-AF65-F5344CB8AC3E}">
        <p14:creationId xmlns:p14="http://schemas.microsoft.com/office/powerpoint/2010/main" val="168686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480C-33C4-BF42-F7DA-FD4A42499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BFB141-229A-C275-9BC3-9F8DDCD42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71A83B0-06BA-6E77-16A7-4D753A087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448" y="3429000"/>
            <a:ext cx="10515600" cy="22323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DD41804-D5F0-A491-D7C9-9E347D2B4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65125"/>
            <a:ext cx="9987455" cy="29180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7BE8B79-15AC-EF39-BAED-68A34C436255}"/>
              </a:ext>
            </a:extLst>
          </p:cNvPr>
          <p:cNvSpPr/>
          <p:nvPr/>
        </p:nvSpPr>
        <p:spPr>
          <a:xfrm>
            <a:off x="1502981" y="2680704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D0D4E1-9354-55B0-983F-8F9A270FE341}"/>
              </a:ext>
            </a:extLst>
          </p:cNvPr>
          <p:cNvSpPr txBox="1"/>
          <p:nvPr/>
        </p:nvSpPr>
        <p:spPr>
          <a:xfrm>
            <a:off x="7178566" y="2496038"/>
            <a:ext cx="148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SIGTERM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793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565D-6788-4443-71FF-E436852B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91D57-5D29-C068-B541-DFD5C82C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EBAABC-B4E9-E441-6B10-585AD9BE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5"/>
            <a:ext cx="9987455" cy="29180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2EA6968-DA31-7C4D-1B4E-8B2591687D13}"/>
              </a:ext>
            </a:extLst>
          </p:cNvPr>
          <p:cNvSpPr/>
          <p:nvPr/>
        </p:nvSpPr>
        <p:spPr>
          <a:xfrm>
            <a:off x="1502981" y="2680704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C6C9E58-532C-7612-DFA1-5B66511CE84D}"/>
              </a:ext>
            </a:extLst>
          </p:cNvPr>
          <p:cNvSpPr txBox="1"/>
          <p:nvPr/>
        </p:nvSpPr>
        <p:spPr>
          <a:xfrm>
            <a:off x="7178566" y="2496038"/>
            <a:ext cx="148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SIGTERM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873D99DE-E957-B668-24C8-FF9A3ACB0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4E58E495-B01F-5AB3-8412-AC7F56C6F756}"/>
              </a:ext>
            </a:extLst>
          </p:cNvPr>
          <p:cNvCxnSpPr>
            <a:cxnSpLocks/>
          </p:cNvCxnSpPr>
          <p:nvPr/>
        </p:nvCxnSpPr>
        <p:spPr>
          <a:xfrm>
            <a:off x="4256689" y="2165131"/>
            <a:ext cx="2333297" cy="66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E6BE7D7-8CF9-D7A7-1B01-0F118D8058A8}"/>
              </a:ext>
            </a:extLst>
          </p:cNvPr>
          <p:cNvSpPr txBox="1"/>
          <p:nvPr/>
        </p:nvSpPr>
        <p:spPr>
          <a:xfrm>
            <a:off x="1177159" y="3573517"/>
            <a:ext cx="9648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前台任务收到</a:t>
            </a:r>
            <a:r>
              <a:rPr kumimoji="1" lang="en-US" altLang="zh-CN" dirty="0"/>
              <a:t>SIGINT (Ctrl-Z) -&gt; </a:t>
            </a:r>
            <a:r>
              <a:rPr kumimoji="1" lang="zh-CN" altLang="en-US" dirty="0"/>
              <a:t>任务状态从</a:t>
            </a:r>
            <a:r>
              <a:rPr kumimoji="1" lang="en-US" altLang="zh-CN" dirty="0"/>
              <a:t>FG</a:t>
            </a:r>
            <a:r>
              <a:rPr kumimoji="1" lang="zh-CN" altLang="en-US" dirty="0"/>
              <a:t>变为</a:t>
            </a:r>
            <a:r>
              <a:rPr kumimoji="1" lang="en-US" altLang="zh-CN" dirty="0"/>
              <a:t>ST(stopped) </a:t>
            </a:r>
          </a:p>
          <a:p>
            <a:r>
              <a:rPr kumimoji="1" lang="en-US" altLang="zh-CN" dirty="0" err="1"/>
              <a:t>bg</a:t>
            </a:r>
            <a:r>
              <a:rPr kumimoji="1" lang="zh-CN" altLang="en-US" dirty="0"/>
              <a:t>命令向它发送</a:t>
            </a:r>
            <a:r>
              <a:rPr kumimoji="1" lang="en-US" altLang="zh-CN" dirty="0"/>
              <a:t>SIGCONT -&gt;</a:t>
            </a:r>
            <a:r>
              <a:rPr kumimoji="1" lang="zh-CN" altLang="en-US" dirty="0"/>
              <a:t> 任务状态从</a:t>
            </a:r>
            <a:r>
              <a:rPr kumimoji="1" lang="en-US" altLang="zh-CN" dirty="0"/>
              <a:t>ST</a:t>
            </a:r>
            <a:r>
              <a:rPr kumimoji="1" lang="zh-CN" altLang="en-US" dirty="0"/>
              <a:t>变为</a:t>
            </a:r>
            <a:r>
              <a:rPr kumimoji="1" lang="en-US" altLang="zh-CN" dirty="0"/>
              <a:t>BG</a:t>
            </a:r>
            <a:r>
              <a:rPr kumimoji="1" lang="zh-CN" altLang="en-US" dirty="0"/>
              <a:t>，在后台运行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5168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5135-C704-FF9B-836A-91753D49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715D-0E6A-CB8E-23C4-AC232434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0A8776-7680-1A71-8C4C-631B22A90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5"/>
            <a:ext cx="9987455" cy="29180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FB96F2-7E24-128C-ED8B-6CD5C52FBDD4}"/>
              </a:ext>
            </a:extLst>
          </p:cNvPr>
          <p:cNvSpPr/>
          <p:nvPr/>
        </p:nvSpPr>
        <p:spPr>
          <a:xfrm>
            <a:off x="1502981" y="2680704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0C5EE8-7339-4B73-63F5-347955AA29F3}"/>
              </a:ext>
            </a:extLst>
          </p:cNvPr>
          <p:cNvSpPr txBox="1"/>
          <p:nvPr/>
        </p:nvSpPr>
        <p:spPr>
          <a:xfrm>
            <a:off x="7178566" y="2496038"/>
            <a:ext cx="1481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SIGTERM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1A1CDA78-2CDE-A81D-36B6-089260AE7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B12BB85-778B-9891-9234-A722ABAD5F52}"/>
              </a:ext>
            </a:extLst>
          </p:cNvPr>
          <p:cNvCxnSpPr>
            <a:cxnSpLocks/>
          </p:cNvCxnSpPr>
          <p:nvPr/>
        </p:nvCxnSpPr>
        <p:spPr>
          <a:xfrm>
            <a:off x="4256689" y="2165131"/>
            <a:ext cx="2333297" cy="66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F128CA7-4815-932A-E5E9-813D6984294B}"/>
              </a:ext>
            </a:extLst>
          </p:cNvPr>
          <p:cNvSpPr txBox="1"/>
          <p:nvPr/>
        </p:nvSpPr>
        <p:spPr>
          <a:xfrm>
            <a:off x="1502981" y="3768946"/>
            <a:ext cx="9648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jobs</a:t>
            </a:r>
            <a:r>
              <a:rPr kumimoji="1" lang="zh-CN" altLang="en-US" dirty="0"/>
              <a:t>命令不需要屏蔽信号</a:t>
            </a:r>
            <a:endParaRPr kumimoji="1" lang="en-US" altLang="zh-CN" dirty="0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269FA11-4BBD-1067-3CF9-836CD0EC69FA}"/>
              </a:ext>
            </a:extLst>
          </p:cNvPr>
          <p:cNvCxnSpPr>
            <a:cxnSpLocks/>
          </p:cNvCxnSpPr>
          <p:nvPr/>
        </p:nvCxnSpPr>
        <p:spPr>
          <a:xfrm flipV="1">
            <a:off x="5949538" y="1753997"/>
            <a:ext cx="2918327" cy="8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04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767E2-36A6-5AC0-61C3-1AED8A69A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365AD-010A-6552-B3A4-81AED2A91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E4C93A-D2CE-ABF3-C865-3EC9B0B73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75" y="0"/>
            <a:ext cx="7035668" cy="6858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F75D4A-4450-FAF9-66D2-A5A3AFEBE009}"/>
              </a:ext>
            </a:extLst>
          </p:cNvPr>
          <p:cNvSpPr txBox="1"/>
          <p:nvPr/>
        </p:nvSpPr>
        <p:spPr>
          <a:xfrm>
            <a:off x="3408218" y="2731325"/>
            <a:ext cx="694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如果是收到</a:t>
            </a:r>
            <a:r>
              <a:rPr kumimoji="1" lang="en-US" altLang="zh-CN" dirty="0"/>
              <a:t>SIGINT</a:t>
            </a:r>
            <a:r>
              <a:rPr kumimoji="1" lang="zh-CN" altLang="en-US" dirty="0"/>
              <a:t>信号，则设置</a:t>
            </a:r>
            <a:r>
              <a:rPr kumimoji="1" lang="en-US" altLang="zh-CN" dirty="0"/>
              <a:t>job</a:t>
            </a:r>
            <a:r>
              <a:rPr kumimoji="1" lang="zh-CN" altLang="en-US" dirty="0"/>
              <a:t>状态为</a:t>
            </a:r>
            <a:r>
              <a:rPr kumimoji="1" lang="en-US" altLang="zh-CN" dirty="0"/>
              <a:t>ST</a:t>
            </a:r>
            <a:r>
              <a:rPr kumimoji="1" lang="zh-CN" altLang="en-US" dirty="0"/>
              <a:t>。选</a:t>
            </a:r>
            <a:r>
              <a:rPr kumimoji="1" lang="en-US" altLang="zh-CN" dirty="0"/>
              <a:t>WIFSTOPPED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644D14-83FE-5620-CDF3-8D93C6102627}"/>
              </a:ext>
            </a:extLst>
          </p:cNvPr>
          <p:cNvSpPr txBox="1"/>
          <p:nvPr/>
        </p:nvSpPr>
        <p:spPr>
          <a:xfrm>
            <a:off x="3798125" y="3757344"/>
            <a:ext cx="729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ST</a:t>
            </a:r>
            <a:r>
              <a:rPr kumimoji="1" lang="zh-CN" altLang="en-US" dirty="0"/>
              <a:t>状态收到</a:t>
            </a:r>
            <a:r>
              <a:rPr kumimoji="1" lang="en-US" altLang="zh-CN" dirty="0"/>
              <a:t>SIGCONT</a:t>
            </a:r>
            <a:r>
              <a:rPr kumimoji="1" lang="zh-CN" altLang="en-US" dirty="0"/>
              <a:t>信号，则设置</a:t>
            </a:r>
            <a:r>
              <a:rPr kumimoji="1" lang="en-US" altLang="zh-CN" dirty="0"/>
              <a:t>job</a:t>
            </a:r>
            <a:r>
              <a:rPr kumimoji="1" lang="zh-CN" altLang="en-US" dirty="0"/>
              <a:t>状态为</a:t>
            </a:r>
            <a:r>
              <a:rPr kumimoji="1" lang="en-US" altLang="zh-CN" dirty="0"/>
              <a:t>BG</a:t>
            </a:r>
            <a:r>
              <a:rPr kumimoji="1" lang="zh-CN" altLang="en-US" dirty="0"/>
              <a:t>。如果是</a:t>
            </a:r>
            <a:r>
              <a:rPr kumimoji="1" lang="en-US" altLang="zh-CN" dirty="0"/>
              <a:t>FG</a:t>
            </a:r>
            <a:r>
              <a:rPr kumimoji="1" lang="zh-CN" altLang="en-US" dirty="0"/>
              <a:t>状态，则忽略。选</a:t>
            </a:r>
            <a:r>
              <a:rPr kumimoji="1" lang="en-US" altLang="zh-CN" dirty="0"/>
              <a:t>WIFCONTINUED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8E0CFB-1168-D038-DB50-C559DD139F8E}"/>
              </a:ext>
            </a:extLst>
          </p:cNvPr>
          <p:cNvSpPr/>
          <p:nvPr/>
        </p:nvSpPr>
        <p:spPr>
          <a:xfrm>
            <a:off x="627993" y="681037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207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5C0EA3-A202-85FC-B394-A5249EE4E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FA3D-DB7A-F57C-6EF5-091AB44DE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613F11-56F8-AB40-16B9-B3ADEEBF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96" y="144565"/>
            <a:ext cx="10878209" cy="577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00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B678-4826-63CA-B282-CEC95E10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B9485-5803-6B10-45D1-4EFC8A27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CB41A-3268-56E4-BF46-0BF9CE5F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9DB53C-0060-73E3-C3AF-A1980CF1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96" y="144565"/>
            <a:ext cx="10878209" cy="57739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123CC3-7AC4-F878-B9CD-DE17399F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0" y="5282250"/>
            <a:ext cx="9360199" cy="12106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ABD423F-330A-2671-508C-57782971BC1E}"/>
              </a:ext>
            </a:extLst>
          </p:cNvPr>
          <p:cNvSpPr txBox="1"/>
          <p:nvPr/>
        </p:nvSpPr>
        <p:spPr>
          <a:xfrm>
            <a:off x="5343896" y="4001294"/>
            <a:ext cx="450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忙等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2593EB7-4074-2E29-86E5-3C9A59C59B46}"/>
              </a:ext>
            </a:extLst>
          </p:cNvPr>
          <p:cNvCxnSpPr/>
          <p:nvPr/>
        </p:nvCxnSpPr>
        <p:spPr>
          <a:xfrm>
            <a:off x="4120738" y="3883231"/>
            <a:ext cx="1306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285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FAA6-A387-A7B8-213F-7118F4BF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AF829AD-7AF1-D211-D451-FD8F7BE6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50" y="700180"/>
            <a:ext cx="12185320" cy="33011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C5DC33-3547-7EFD-25E4-55A668AC4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0" y="4272848"/>
            <a:ext cx="9360199" cy="12106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3DA0098-9E6B-F9FA-A12D-8681D3DA7D23}"/>
              </a:ext>
            </a:extLst>
          </p:cNvPr>
          <p:cNvSpPr txBox="1"/>
          <p:nvPr/>
        </p:nvSpPr>
        <p:spPr>
          <a:xfrm>
            <a:off x="5405255" y="2503806"/>
            <a:ext cx="4500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忙等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93BBC36-C950-4B51-0A2E-F97FF52A663A}"/>
              </a:ext>
            </a:extLst>
          </p:cNvPr>
          <p:cNvCxnSpPr/>
          <p:nvPr/>
        </p:nvCxnSpPr>
        <p:spPr>
          <a:xfrm>
            <a:off x="3230088" y="2861953"/>
            <a:ext cx="13062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37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F8AB-2E44-F287-57E6-BCAAFDF5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D856A1A-3439-730B-3E09-233A8543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30" y="691603"/>
            <a:ext cx="9567243" cy="32510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BC4B7C5-9D54-323B-6584-83140985EF43}"/>
              </a:ext>
            </a:extLst>
          </p:cNvPr>
          <p:cNvSpPr/>
          <p:nvPr/>
        </p:nvSpPr>
        <p:spPr>
          <a:xfrm>
            <a:off x="1215720" y="706312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2771FC-3EE6-B468-08DB-F51707E13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574" y="3628674"/>
            <a:ext cx="7772400" cy="275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43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522A-A727-D099-6591-6A36DCC6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8B38F1B-67F4-4C24-E6FD-FBFFB353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81" y="595828"/>
            <a:ext cx="9632696" cy="3168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8A7BCC-FC73-D20F-27E3-40A42247A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06122"/>
            <a:ext cx="7772400" cy="5398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C12234-1034-1029-250F-6C88BE374939}"/>
              </a:ext>
            </a:extLst>
          </p:cNvPr>
          <p:cNvSpPr txBox="1"/>
          <p:nvPr/>
        </p:nvSpPr>
        <p:spPr>
          <a:xfrm>
            <a:off x="1306286" y="4987636"/>
            <a:ext cx="1004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waitpid</a:t>
            </a:r>
            <a:r>
              <a:rPr kumimoji="1" lang="zh-CN" altLang="en-US" dirty="0"/>
              <a:t>应该由</a:t>
            </a:r>
            <a:r>
              <a:rPr kumimoji="1" lang="en-US" altLang="zh-CN" dirty="0" err="1"/>
              <a:t>sigchld_handler</a:t>
            </a:r>
            <a:r>
              <a:rPr kumimoji="1" lang="zh-CN" altLang="en-US" dirty="0"/>
              <a:t>调用。子进程只被回收一次，如果多点调用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必然会产生竞态。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83A6BB3D-30B8-D57C-8EF8-2DA36E6F61D0}"/>
              </a:ext>
            </a:extLst>
          </p:cNvPr>
          <p:cNvCxnSpPr/>
          <p:nvPr/>
        </p:nvCxnSpPr>
        <p:spPr>
          <a:xfrm>
            <a:off x="3360717" y="2861953"/>
            <a:ext cx="33132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7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503E-F5DA-D13A-5FF1-1DFD568D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8F3D1E6-BD36-A3EC-CE69-AB3ED0338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27" y="643368"/>
            <a:ext cx="9501606" cy="23135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19214C-4454-6C29-1837-DC56735B2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732" y="3701972"/>
            <a:ext cx="7772400" cy="107293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D71B418-1010-4F2F-F0A4-78A906D1C920}"/>
              </a:ext>
            </a:extLst>
          </p:cNvPr>
          <p:cNvSpPr/>
          <p:nvPr/>
        </p:nvSpPr>
        <p:spPr>
          <a:xfrm>
            <a:off x="1651060" y="1611997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2469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21BAD-8393-3670-1E23-C8D683CD9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03489C9-83DB-1D62-CE7A-275D523D2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42" y="424542"/>
            <a:ext cx="9782798" cy="25362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FAFD5BE-2E2D-A078-6C24-2EA65471A557}"/>
              </a:ext>
            </a:extLst>
          </p:cNvPr>
          <p:cNvSpPr/>
          <p:nvPr/>
        </p:nvSpPr>
        <p:spPr>
          <a:xfrm>
            <a:off x="1434525" y="1897005"/>
            <a:ext cx="420414" cy="376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DEED34-4814-3F25-652A-6C9220B92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7" y="3897178"/>
            <a:ext cx="10937174" cy="124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91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0701-DCC4-33EB-B39A-0893EE39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24AFA1-B465-DF91-35C0-16DB6A10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01" y="489779"/>
            <a:ext cx="10447730" cy="39941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BBC7E16-66B2-CD7E-AB17-34E36626846F}"/>
              </a:ext>
            </a:extLst>
          </p:cNvPr>
          <p:cNvSpPr/>
          <p:nvPr/>
        </p:nvSpPr>
        <p:spPr>
          <a:xfrm flipV="1">
            <a:off x="1280146" y="1513313"/>
            <a:ext cx="420414" cy="410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7045868F-C7C4-35F5-686E-1FF0903C608E}"/>
              </a:ext>
            </a:extLst>
          </p:cNvPr>
          <p:cNvCxnSpPr>
            <a:cxnSpLocks/>
          </p:cNvCxnSpPr>
          <p:nvPr/>
        </p:nvCxnSpPr>
        <p:spPr>
          <a:xfrm>
            <a:off x="3526971" y="1365662"/>
            <a:ext cx="7718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54E6BE8-07F3-E8BE-E3B0-87DBB7026990}"/>
              </a:ext>
            </a:extLst>
          </p:cNvPr>
          <p:cNvSpPr txBox="1"/>
          <p:nvPr/>
        </p:nvSpPr>
        <p:spPr>
          <a:xfrm>
            <a:off x="2232561" y="2850078"/>
            <a:ext cx="5581403" cy="368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</a:rPr>
              <a:t>calloc</a:t>
            </a:r>
            <a:r>
              <a:rPr kumimoji="1" lang="zh-CN" altLang="en-US" dirty="0">
                <a:solidFill>
                  <a:srgbClr val="FF0000"/>
                </a:solidFill>
              </a:rPr>
              <a:t>会把内存初始化为</a:t>
            </a:r>
            <a:r>
              <a:rPr kumimoji="1" lang="en-US" altLang="zh-CN" dirty="0">
                <a:solidFill>
                  <a:srgbClr val="FF0000"/>
                </a:solidFill>
              </a:rPr>
              <a:t>0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8686C892-1976-58AF-2CB0-DF96A2A9F805}"/>
              </a:ext>
            </a:extLst>
          </p:cNvPr>
          <p:cNvCxnSpPr>
            <a:cxnSpLocks/>
          </p:cNvCxnSpPr>
          <p:nvPr/>
        </p:nvCxnSpPr>
        <p:spPr>
          <a:xfrm>
            <a:off x="7942612" y="3714997"/>
            <a:ext cx="25195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0D86D86-1D99-4BB7-7273-68FD3D36132A}"/>
              </a:ext>
            </a:extLst>
          </p:cNvPr>
          <p:cNvSpPr txBox="1"/>
          <p:nvPr/>
        </p:nvSpPr>
        <p:spPr>
          <a:xfrm>
            <a:off x="5401293" y="3815937"/>
            <a:ext cx="5581403" cy="368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等价于</a:t>
            </a:r>
            <a:r>
              <a:rPr kumimoji="1" lang="en-US" altLang="zh-CN" dirty="0">
                <a:solidFill>
                  <a:srgbClr val="FF0000"/>
                </a:solidFill>
              </a:rPr>
              <a:t>free(</a:t>
            </a:r>
            <a:r>
              <a:rPr kumimoji="1" lang="en-US" altLang="zh-CN" dirty="0" err="1">
                <a:solidFill>
                  <a:srgbClr val="FF0000"/>
                </a:solidFill>
              </a:rPr>
              <a:t>ptr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  <a:r>
              <a:rPr kumimoji="1" lang="zh-CN" altLang="en-US" dirty="0">
                <a:solidFill>
                  <a:srgbClr val="FF0000"/>
                </a:solidFill>
              </a:rPr>
              <a:t>并返回</a:t>
            </a:r>
            <a:r>
              <a:rPr kumimoji="1" lang="en-US" altLang="zh-CN" dirty="0">
                <a:solidFill>
                  <a:srgbClr val="FF0000"/>
                </a:solidFill>
              </a:rPr>
              <a:t>NULL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685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240-0079-0673-432A-56051655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30E6347-0392-AA9D-7E39-8C0047E64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4" y="403760"/>
            <a:ext cx="10925986" cy="448678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355F43E-8CF9-8F48-5806-26E25B1E36F4}"/>
              </a:ext>
            </a:extLst>
          </p:cNvPr>
          <p:cNvSpPr/>
          <p:nvPr/>
        </p:nvSpPr>
        <p:spPr>
          <a:xfrm flipV="1">
            <a:off x="1041070" y="1537063"/>
            <a:ext cx="420414" cy="410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D3E1D94-4B9C-999D-DB79-850E4DF8ED5A}"/>
              </a:ext>
            </a:extLst>
          </p:cNvPr>
          <p:cNvSpPr txBox="1"/>
          <p:nvPr/>
        </p:nvSpPr>
        <p:spPr>
          <a:xfrm>
            <a:off x="4215741" y="2933205"/>
            <a:ext cx="5581403" cy="368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追求吞吐量，</a:t>
            </a:r>
            <a:r>
              <a:rPr kumimoji="1" lang="en-US" altLang="zh-CN" dirty="0">
                <a:solidFill>
                  <a:srgbClr val="FF0000"/>
                </a:solidFill>
              </a:rPr>
              <a:t>best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fit</a:t>
            </a:r>
            <a:r>
              <a:rPr kumimoji="1" lang="zh-CN" altLang="en-US" dirty="0">
                <a:solidFill>
                  <a:srgbClr val="FF0000"/>
                </a:solidFill>
              </a:rPr>
              <a:t>会慢，吞吐量不如</a:t>
            </a:r>
            <a:r>
              <a:rPr kumimoji="1" lang="en-US" altLang="zh-CN" dirty="0">
                <a:solidFill>
                  <a:srgbClr val="FF0000"/>
                </a:solidFill>
              </a:rPr>
              <a:t>first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fit</a:t>
            </a:r>
            <a:r>
              <a:rPr kumimoji="1" lang="zh-CN" altLang="en-US" dirty="0">
                <a:solidFill>
                  <a:srgbClr val="FF0000"/>
                </a:solidFill>
              </a:rPr>
              <a:t>等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0FA6C6C-0E03-A2F5-62F3-39B6450709A6}"/>
              </a:ext>
            </a:extLst>
          </p:cNvPr>
          <p:cNvCxnSpPr>
            <a:cxnSpLocks/>
          </p:cNvCxnSpPr>
          <p:nvPr/>
        </p:nvCxnSpPr>
        <p:spPr>
          <a:xfrm>
            <a:off x="7705105" y="3833750"/>
            <a:ext cx="30658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7D48D744-4690-9C7B-9E2B-73998C949BAB}"/>
              </a:ext>
            </a:extLst>
          </p:cNvPr>
          <p:cNvCxnSpPr>
            <a:cxnSpLocks/>
          </p:cNvCxnSpPr>
          <p:nvPr/>
        </p:nvCxnSpPr>
        <p:spPr>
          <a:xfrm>
            <a:off x="5743697" y="4330535"/>
            <a:ext cx="30658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75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A4237-1908-2DFD-45AC-EE613AE8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A24EDF9-533E-3E2A-FD37-D9E91530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16" y="622663"/>
            <a:ext cx="9433893" cy="307303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CA1100C-4928-4C34-794F-99BB8CD9805A}"/>
              </a:ext>
            </a:extLst>
          </p:cNvPr>
          <p:cNvSpPr/>
          <p:nvPr/>
        </p:nvSpPr>
        <p:spPr>
          <a:xfrm flipV="1">
            <a:off x="1100447" y="1608315"/>
            <a:ext cx="420414" cy="4104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77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201</Words>
  <Application>Microsoft Macintosh PowerPoint</Application>
  <PresentationFormat>宽屏</PresentationFormat>
  <Paragraphs>18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Lab测试Lab5-Lab7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Wong</dc:creator>
  <cp:lastModifiedBy>Kris Wong</cp:lastModifiedBy>
  <cp:revision>1</cp:revision>
  <dcterms:created xsi:type="dcterms:W3CDTF">2025-12-17T05:35:52Z</dcterms:created>
  <dcterms:modified xsi:type="dcterms:W3CDTF">2025-12-17T06:54:55Z</dcterms:modified>
</cp:coreProperties>
</file>