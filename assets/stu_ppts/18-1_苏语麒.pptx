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6" r:id="rId4"/>
    <p:sldId id="277" r:id="rId5"/>
    <p:sldId id="278" r:id="rId6"/>
    <p:sldId id="270" r:id="rId7"/>
    <p:sldId id="280" r:id="rId8"/>
    <p:sldId id="279" r:id="rId9"/>
    <p:sldId id="262" r:id="rId10"/>
    <p:sldId id="281" r:id="rId11"/>
    <p:sldId id="289" r:id="rId12"/>
    <p:sldId id="290" r:id="rId13"/>
    <p:sldId id="282" r:id="rId14"/>
    <p:sldId id="283" r:id="rId15"/>
    <p:sldId id="284" r:id="rId16"/>
    <p:sldId id="291" r:id="rId17"/>
    <p:sldId id="285" r:id="rId18"/>
    <p:sldId id="292" r:id="rId19"/>
    <p:sldId id="28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8" autoAdjust="0"/>
    <p:restoredTop sz="94660"/>
  </p:normalViewPr>
  <p:slideViewPr>
    <p:cSldViewPr snapToGrid="0">
      <p:cViewPr varScale="1">
        <p:scale>
          <a:sx n="91" d="100"/>
          <a:sy n="91" d="100"/>
        </p:scale>
        <p:origin x="60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3A4BC-B57B-4463-AC77-9A510FC368A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087FD-852C-4B43-B8D7-AAF56185F7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83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348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1F386-0790-D6D8-7031-F5EAB6CF5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999239-0480-434E-AF7A-FFB28E343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E0F51D-F1A7-D8EB-B907-6C818A757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C060D7-674E-B06D-3751-58C064B80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69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CE9B8-6432-8DC3-B66B-580214015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0732D3-BD5C-0C1B-C0EF-130F6974FB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B3B2FC-3B5B-F211-CE08-9E9C8D82C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25432-EE42-ECE7-EE7A-EE24DCF5D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0809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D4A82-4BDE-A1F4-8D82-68595BED6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8E3AFEE-E996-9C03-A05C-A6B9D8BF3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5B64EFB-1DFA-E978-8E53-02F4A7A5B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E2DBCE-3270-E8E1-F7D7-D8FD348D16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8625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DADDE-BD7B-434D-7796-BFE219BBA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157984-E913-9B2E-C2E7-21F9C89C7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BB49D19-80F0-05A8-B515-6CE244B7F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E902B-00E3-0F6F-9E3F-6A4B992B4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887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B499B-F2F9-C1F9-11CB-E61E697A9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C07A80-F642-CE58-F12B-57D3C34AC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B3DDC5-A59F-A5CE-B061-70F76B640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DB0F7E-54AF-4534-3126-68DF121EF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007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E76B5-D5B8-128F-14A5-6A54D3F9F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507892-5D48-DE7E-3A5A-805D841BC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50F5D2-F97B-E94C-05FE-40C5269BC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F06807-CD44-859B-5A17-4BA8698EC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792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0141-E3F6-5D70-2799-8A6595CA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1A3870-CAFA-F744-5B6F-B2E3A2068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C9956F-48F2-BCD9-AADA-0CA0DF270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AEB272-5D56-97EC-A49C-37F6A6869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94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ED1F5-CAB7-9D42-1E0C-20F8C992E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81AC80-D1F1-58A7-434B-9DC6D4C6BB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6EE354-9EFF-AB08-DA65-9234AD360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00479F-19FD-B726-350C-C91ACDAFC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854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42332-C3BD-160D-5344-140EA791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E5D441-4FE3-0D96-F097-019F4C62B3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44CBC9-4E2F-2B7E-D9DB-6D8C982C8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C49C772-3D10-0168-8B0A-2C9C93597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314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02D58-C365-1483-2FF0-923230200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2C61E9-C6CB-7194-FB79-186D76EE7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40A3AA-EB8C-5AED-D73F-E2AD21CEB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620C31-F770-A30D-D92B-76B4D8CD5D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B087FD-852C-4B43-B8D7-AAF56185F79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556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3E586B-97D3-8CAE-9B55-89B57913D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8AC5CD1-FDE7-3414-28BF-3D9B3F79C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2826FE-9348-C71E-B16C-8395589F8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615FD1-3090-69FE-9BA2-00814AD8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DAEE56-D170-4D91-248F-BE41BF4DC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932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7E8C81-FBE8-7477-7B81-2DFB39AB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FAE3D5-8304-2507-7F2C-BA36B6E6C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2DBBF2-B59B-8DD6-1D6C-410DAFD76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C8F103-0745-5564-5271-7C546D1D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85B657-D9DC-C1BB-7FCE-FDA244147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90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B4E0FF-152C-03BE-C05E-535565C5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1AB5FB-01B3-41C8-4B83-7763AB49E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F7326F-811C-AE31-C633-218788BA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552491-03EC-2E13-CDB9-32883B957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665376-DB20-64BF-03B6-962DB111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472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CC137-006E-5B3D-1012-6D84A5942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6231E-D97B-9F53-7B4A-1D775E03F3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F8BD40D-88C0-A390-657D-3D385215D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5DDCA2-9383-F392-793D-89BBEA2FF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14D265-639E-1337-66BF-CC7988CD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B08A70-027A-E5F8-E399-423B3A91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017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ED8964-FE62-68F9-8322-3AA8AB76D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37DC08-9261-4336-A4A2-CC7467B7B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1CBFF7-894A-7FB1-0983-220C5E821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6A75C7D-35B3-34AD-2D09-34A4DF4B7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868EBA-91F4-A3F4-406C-3D6D925F0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814F1A-7BA3-066A-2342-D6BA497E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058BCE-14E8-2E40-858A-14FF30ED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7A887BD-4BA5-6C72-83F6-7A9AAB5AA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861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3F4AC-8BF3-2B7B-88B8-9874842A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4866DE-A882-073D-03D9-716D77186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6B53586-F321-2758-7332-8BE180C28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1750DB4-4C66-2AFC-29CC-F7876700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636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F4F9AC-FF04-700F-D75C-93AF967CE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2832758-FAFF-82BA-DD22-4B85AA47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23514A-5A43-735D-FCD0-7709F7424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4096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122FE-1A4C-EF36-694C-1DE996BCF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5FC93-686F-07AD-A5DB-7B5D993CC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C03509-58FE-D83A-B9C5-8528EA6B1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E1A5F3-BF44-7188-3ABE-B818B79B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414F04-447A-C364-7605-FD7626E9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E32E8B-2D27-1CC2-431A-CA1CC1D3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56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AD220-B1C4-9F61-E60D-95AF69181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EC50BA7-EEE4-1A0B-9271-07EF8267C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AC2604-EAD7-2A33-4FB9-893D55A4B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1EABF3-2E6A-E202-0276-02372C0D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C329FF-DE04-A9B8-A242-AE6F276F4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C61E73-CD3B-A35F-0669-9507B7B8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5216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DB413-6D3D-BB95-CFC5-D626FBA2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F1EB5C-EFBB-D00D-4706-5FD1846F7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C6DA29-D978-F848-8D66-8B714DA8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B82A6-9254-477E-9C94-E379F6C9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9D6D81-7773-ECE0-9076-3BD12E616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060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15F809D-ED18-C0D6-F005-51CED7B340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B4FFB4-FA24-D0E7-66D4-49D404591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F6350F-AB26-807A-EAFD-C176B817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23FE46-3474-6DA4-F857-B5E523E0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6481DB-A4BC-B32F-3008-4B23261E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991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76DA78-F6E3-11D4-CA56-FE126A4EC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487793-E938-4674-3512-978181E10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62F02B-BE25-5DFD-1933-2FF3C5CFFB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1C57F-981C-422E-AA27-CDB678F8CB8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253089-CF2E-BC17-D2BF-852C29DA74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19BC3F-8EA0-21FF-2CE1-690BF048E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1A654-4C55-4BF1-8AFD-E535640E49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256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0441E-63E2-1A2F-267D-4D71794D2A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研讨题</a:t>
            </a:r>
            <a:r>
              <a:rPr lang="en-US" altLang="zh-CN" dirty="0"/>
              <a:t>18-1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D072E2B-D716-85DD-7C3C-FDE4B93A37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苏语麒</a:t>
            </a:r>
          </a:p>
        </p:txBody>
      </p:sp>
    </p:spTree>
    <p:extLst>
      <p:ext uri="{BB962C8B-B14F-4D97-AF65-F5344CB8AC3E}">
        <p14:creationId xmlns:p14="http://schemas.microsoft.com/office/powerpoint/2010/main" val="1026498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6DB6B9-BE07-BA46-492E-F005F5F8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424" y="29427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>
                <a:latin typeface="+mn-ea"/>
                <a:ea typeface="+mn-ea"/>
              </a:rPr>
              <a:t>（</a:t>
            </a:r>
            <a:r>
              <a:rPr lang="en-US" altLang="zh-CN" sz="1600" dirty="0">
                <a:latin typeface="+mn-ea"/>
                <a:ea typeface="+mn-ea"/>
              </a:rPr>
              <a:t>1</a:t>
            </a:r>
            <a:r>
              <a:rPr lang="zh-CN" altLang="en-US" sz="1600" dirty="0">
                <a:latin typeface="+mn-ea"/>
                <a:ea typeface="+mn-ea"/>
              </a:rPr>
              <a:t>）说明 </a:t>
            </a:r>
            <a:r>
              <a:rPr lang="en-IE" altLang="zh-CN" sz="1600" dirty="0">
                <a:latin typeface="+mn-ea"/>
                <a:ea typeface="+mn-ea"/>
              </a:rPr>
              <a:t>Unix I/O </a:t>
            </a:r>
            <a:r>
              <a:rPr lang="zh-CN" altLang="en-US" sz="1600" dirty="0">
                <a:latin typeface="+mn-ea"/>
                <a:ea typeface="+mn-ea"/>
              </a:rPr>
              <a:t>和文件的关系，找到第 </a:t>
            </a:r>
            <a:r>
              <a:rPr lang="en-US" altLang="zh-CN" sz="1600" dirty="0">
                <a:latin typeface="+mn-ea"/>
                <a:ea typeface="+mn-ea"/>
              </a:rPr>
              <a:t>4 </a:t>
            </a:r>
            <a:r>
              <a:rPr lang="zh-CN" altLang="en-US" sz="1600" dirty="0">
                <a:latin typeface="+mn-ea"/>
                <a:ea typeface="+mn-ea"/>
              </a:rPr>
              <a:t>页提到的那几个表现成文件形式的 </a:t>
            </a:r>
            <a:r>
              <a:rPr lang="en-IE" altLang="zh-CN" sz="1600" dirty="0">
                <a:latin typeface="+mn-ea"/>
                <a:ea typeface="+mn-ea"/>
              </a:rPr>
              <a:t>I/O </a:t>
            </a:r>
            <a:r>
              <a:rPr lang="zh-CN" altLang="en-US" sz="1600" dirty="0">
                <a:latin typeface="+mn-ea"/>
                <a:ea typeface="+mn-ea"/>
              </a:rPr>
              <a:t>设备。</a:t>
            </a:r>
            <a:br>
              <a:rPr lang="en-US" altLang="zh-CN" sz="1600" dirty="0">
                <a:latin typeface="+mn-ea"/>
                <a:ea typeface="+mn-ea"/>
              </a:rPr>
            </a:br>
            <a:br>
              <a:rPr lang="en-US" altLang="zh-CN" sz="1600" dirty="0">
                <a:latin typeface="+mn-ea"/>
                <a:ea typeface="+mn-ea"/>
              </a:rPr>
            </a:br>
            <a:r>
              <a:rPr lang="en-US" altLang="zh-CN" sz="2000" dirty="0">
                <a:latin typeface="+mn-ea"/>
                <a:ea typeface="+mn-ea"/>
              </a:rPr>
              <a:t>I/O</a:t>
            </a:r>
            <a:r>
              <a:rPr lang="zh-CN" altLang="en-US" sz="2000" dirty="0">
                <a:latin typeface="+mn-ea"/>
                <a:ea typeface="+mn-ea"/>
              </a:rPr>
              <a:t>设备：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70C09E-3F8D-215C-AA9A-A88BAD3D3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49" y="1100061"/>
            <a:ext cx="11698353" cy="25750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A53180B-BAB0-A8D6-8209-C9A2A6F0A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13" y="3953853"/>
            <a:ext cx="4061347" cy="2154809"/>
          </a:xfrm>
          <a:prstGeom prst="rect">
            <a:avLst/>
          </a:prstGeom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6065E686-2814-E23C-631A-0589E93FE4B9}"/>
              </a:ext>
            </a:extLst>
          </p:cNvPr>
          <p:cNvSpPr txBox="1">
            <a:spLocks/>
          </p:cNvSpPr>
          <p:nvPr/>
        </p:nvSpPr>
        <p:spPr>
          <a:xfrm>
            <a:off x="4740198" y="384316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sda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磁盘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tty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终端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（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pts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：伪终端，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ssh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585419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BE2F-5951-09EB-9937-D200A2684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583E1-C00E-44DE-DF7E-13BB12339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22" y="71297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I/O</a:t>
            </a:r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设备：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C0FCE5-EFB8-A142-2C34-45B0D60C82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402" y="596172"/>
            <a:ext cx="6161219" cy="619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2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17F77-ED1D-CC13-C8C6-21C6A5108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5A2193-6F4B-C34F-8FB1-3D4DE6DF8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736" y="0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内核：镜像，数据结构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0617B5-2123-93B9-F83F-C89429FC1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621" y="989579"/>
            <a:ext cx="8809698" cy="519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9AC7-8FF6-D08E-ACAA-4A208A8DF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8BA275-0E5D-B4EE-247C-ED5EDA70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656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内核：进程</a:t>
            </a:r>
            <a:r>
              <a:rPr lang="en-US" altLang="zh-CN" sz="2000" dirty="0">
                <a:latin typeface="新宋体" panose="02010609030101010101" pitchFamily="49" charset="-122"/>
                <a:ea typeface="新宋体" panose="02010609030101010101" pitchFamily="49" charset="-122"/>
              </a:rPr>
              <a:t>1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BE66F23-A372-134F-22FC-C2F789DAB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17" y="1185688"/>
            <a:ext cx="8986822" cy="29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4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85B7E-843D-932B-4AC4-E067E7C59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0C1BB-D428-1E27-16BE-E59D4980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67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zh-CN" altLang="en-US" sz="1800" dirty="0"/>
              <a:t>（</a:t>
            </a:r>
            <a:r>
              <a:rPr lang="en-US" altLang="zh-CN" sz="1800" dirty="0"/>
              <a:t>2</a:t>
            </a:r>
            <a:r>
              <a:rPr lang="zh-CN" altLang="en-US" sz="1800" dirty="0"/>
              <a:t>）用文本编辑器打开一个二进制文件（如图片文件），会显示出什么，为什么？用 </a:t>
            </a:r>
            <a:r>
              <a:rPr lang="en-US" altLang="zh-CN" sz="1800" dirty="0"/>
              <a:t>Windows </a:t>
            </a:r>
            <a:r>
              <a:rPr lang="zh-CN" altLang="en-US" sz="1800" dirty="0"/>
              <a:t>保存一个文本文件（</a:t>
            </a:r>
            <a:r>
              <a:rPr lang="en-US" altLang="zh-CN" sz="1800" dirty="0"/>
              <a:t>.txt</a:t>
            </a:r>
            <a:r>
              <a:rPr lang="zh-CN" altLang="en-US" sz="1800" dirty="0"/>
              <a:t>），然后在</a:t>
            </a:r>
            <a:r>
              <a:rPr lang="en-US" altLang="zh-CN" sz="1800" dirty="0"/>
              <a:t>Linux </a:t>
            </a:r>
            <a:r>
              <a:rPr lang="zh-CN" altLang="en-US" sz="1800" dirty="0"/>
              <a:t>中打开（用系统自带的文本编辑器，或者用 </a:t>
            </a:r>
            <a:r>
              <a:rPr lang="en-US" altLang="zh-CN" sz="1800" dirty="0"/>
              <a:t>cat -v</a:t>
            </a:r>
            <a:r>
              <a:rPr lang="zh-CN" altLang="en-US" sz="1800" dirty="0"/>
              <a:t>），分析结尾出现的奇怪的符号是什么。</a:t>
            </a:r>
            <a:br>
              <a:rPr lang="en-US" altLang="zh-CN" sz="1400" dirty="0">
                <a:latin typeface="+mn-ea"/>
                <a:ea typeface="+mn-ea"/>
              </a:rPr>
            </a:br>
            <a:br>
              <a:rPr lang="en-US" altLang="zh-CN" sz="1600" dirty="0">
                <a:latin typeface="+mn-ea"/>
                <a:ea typeface="+mn-ea"/>
              </a:rPr>
            </a:br>
            <a:r>
              <a:rPr lang="zh-CN" altLang="en-US" sz="2200" dirty="0"/>
              <a:t>用文本编辑器打开二进制文件：乱码</a:t>
            </a:r>
            <a:endParaRPr lang="zh-CN" altLang="en-US" sz="2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7530088-6AAC-97A8-6D12-EC0A13468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91" y="1612762"/>
            <a:ext cx="6980166" cy="457631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5BA2A34-917B-625A-900E-1E0C43400D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r="7483" b="-8794"/>
          <a:stretch>
            <a:fillRect/>
          </a:stretch>
        </p:blipFill>
        <p:spPr>
          <a:xfrm>
            <a:off x="942991" y="1242903"/>
            <a:ext cx="4229496" cy="369859"/>
          </a:xfrm>
          <a:prstGeom prst="rect">
            <a:avLst/>
          </a:prstGeom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7BF8F4D7-388A-70F4-1090-5FEE9DBBAD82}"/>
              </a:ext>
            </a:extLst>
          </p:cNvPr>
          <p:cNvSpPr txBox="1">
            <a:spLocks/>
          </p:cNvSpPr>
          <p:nvPr/>
        </p:nvSpPr>
        <p:spPr>
          <a:xfrm>
            <a:off x="8079876" y="2060547"/>
            <a:ext cx="43767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zh-CN" altLang="en-US" sz="1600" dirty="0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2CB11CC6-CC33-3F59-475C-4CCFFF563778}"/>
              </a:ext>
            </a:extLst>
          </p:cNvPr>
          <p:cNvSpPr txBox="1">
            <a:spLocks/>
          </p:cNvSpPr>
          <p:nvPr/>
        </p:nvSpPr>
        <p:spPr>
          <a:xfrm>
            <a:off x="8243723" y="1978819"/>
            <a:ext cx="37265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1800" dirty="0">
                <a:latin typeface="+mn-ea"/>
                <a:ea typeface="+mn-ea"/>
              </a:rPr>
              <a:t>原因：</a:t>
            </a:r>
            <a:endParaRPr lang="en-US" altLang="zh-CN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+mn-ea"/>
                <a:ea typeface="+mn-ea"/>
              </a:rPr>
              <a:t>文本编辑器的设计假设是：文件中的每个字节都代表一个可打印的字符（遵循</a:t>
            </a:r>
            <a:r>
              <a:rPr lang="en-US" altLang="zh-CN" sz="1800" dirty="0">
                <a:latin typeface="+mn-ea"/>
                <a:ea typeface="+mn-ea"/>
              </a:rPr>
              <a:t>ASCII</a:t>
            </a:r>
            <a:r>
              <a:rPr lang="zh-CN" altLang="en-US" sz="1800" dirty="0">
                <a:latin typeface="+mn-ea"/>
                <a:ea typeface="+mn-ea"/>
              </a:rPr>
              <a:t>、</a:t>
            </a:r>
            <a:r>
              <a:rPr lang="en-US" altLang="zh-CN" sz="1800" dirty="0">
                <a:latin typeface="+mn-ea"/>
                <a:ea typeface="+mn-ea"/>
              </a:rPr>
              <a:t>UTF-8</a:t>
            </a:r>
            <a:r>
              <a:rPr lang="zh-CN" altLang="en-US" sz="1800" dirty="0">
                <a:latin typeface="+mn-ea"/>
                <a:ea typeface="+mn-ea"/>
              </a:rPr>
              <a:t>等编码标准）</a:t>
            </a:r>
            <a:endParaRPr lang="en-US" altLang="zh-CN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endParaRPr lang="en-US" altLang="zh-CN" sz="18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1800" dirty="0">
                <a:latin typeface="+mn-ea"/>
                <a:ea typeface="+mn-ea"/>
              </a:rPr>
              <a:t>二进制文件的字节不一定对应任何可打印字符</a:t>
            </a:r>
          </a:p>
        </p:txBody>
      </p:sp>
    </p:spTree>
    <p:extLst>
      <p:ext uri="{BB962C8B-B14F-4D97-AF65-F5344CB8AC3E}">
        <p14:creationId xmlns:p14="http://schemas.microsoft.com/office/powerpoint/2010/main" val="2208341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08F81-2B56-0872-F827-22493D58B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78C25F-95CA-6020-2363-F1563F56F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3717" y="147145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2000" dirty="0"/>
              <a:t>十六进制编辑器</a:t>
            </a:r>
            <a:endParaRPr lang="zh-CN" altLang="en-US" sz="20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5DC7091-312A-3C41-03EA-813835E12202}"/>
              </a:ext>
            </a:extLst>
          </p:cNvPr>
          <p:cNvSpPr txBox="1">
            <a:spLocks/>
          </p:cNvSpPr>
          <p:nvPr/>
        </p:nvSpPr>
        <p:spPr>
          <a:xfrm>
            <a:off x="8079876" y="2060547"/>
            <a:ext cx="43767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zh-CN" altLang="en-US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6EB3E6-91D3-4406-E249-37C7F55FF0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251" y="1056570"/>
            <a:ext cx="6381445" cy="550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002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CD18-8FC9-E337-1DD7-913A3547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39FC6-2AF5-9E0F-32A9-B58CB035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 dirty="0"/>
              <a:t>结尾出现的奇怪的符号：</a:t>
            </a:r>
            <a:r>
              <a:rPr lang="en-US" altLang="zh-CN" sz="2000" dirty="0"/>
              <a:t>^M</a:t>
            </a:r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2FEF1B-DB7C-3B34-5CC2-012CA9ECE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60" y="1597570"/>
            <a:ext cx="5086940" cy="3328279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C9EEDF99-6104-398C-F0EA-747968880B61}"/>
              </a:ext>
            </a:extLst>
          </p:cNvPr>
          <p:cNvSpPr txBox="1">
            <a:spLocks/>
          </p:cNvSpPr>
          <p:nvPr/>
        </p:nvSpPr>
        <p:spPr>
          <a:xfrm>
            <a:off x="6536531" y="2499080"/>
            <a:ext cx="43767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IE" altLang="zh-CN" sz="1600" b="1" dirty="0">
                <a:latin typeface="+mn-ea"/>
                <a:ea typeface="+mn-ea"/>
              </a:rPr>
              <a:t>Windows </a:t>
            </a:r>
            <a:r>
              <a:rPr lang="zh-CN" altLang="en-US" sz="1600" b="1" dirty="0">
                <a:latin typeface="+mn-ea"/>
                <a:ea typeface="+mn-ea"/>
              </a:rPr>
              <a:t>系统</a:t>
            </a:r>
            <a:r>
              <a:rPr lang="zh-CN" altLang="en-US" sz="1600" dirty="0">
                <a:latin typeface="+mn-ea"/>
                <a:ea typeface="+mn-ea"/>
              </a:rPr>
              <a:t>：使用 </a:t>
            </a:r>
            <a:r>
              <a:rPr lang="en-US" altLang="zh-CN" sz="1600" dirty="0">
                <a:latin typeface="+mn-ea"/>
                <a:ea typeface="+mn-ea"/>
              </a:rPr>
              <a:t>\</a:t>
            </a:r>
            <a:r>
              <a:rPr lang="en-IE" altLang="zh-CN" sz="1600" dirty="0">
                <a:latin typeface="+mn-ea"/>
                <a:ea typeface="+mn-ea"/>
              </a:rPr>
              <a:t>r\n </a:t>
            </a:r>
            <a:r>
              <a:rPr lang="zh-CN" altLang="en-US" sz="1600" dirty="0">
                <a:latin typeface="+mn-ea"/>
                <a:ea typeface="+mn-ea"/>
              </a:rPr>
              <a:t>两个字符作为一个换行符。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+mn-ea"/>
                <a:ea typeface="+mn-ea"/>
              </a:rPr>
              <a:t>    \</a:t>
            </a:r>
            <a:r>
              <a:rPr lang="en-IE" altLang="zh-CN" sz="1600" dirty="0">
                <a:latin typeface="+mn-ea"/>
                <a:ea typeface="+mn-ea"/>
              </a:rPr>
              <a:t>r </a:t>
            </a:r>
            <a:r>
              <a:rPr lang="zh-CN" altLang="en-US" sz="1600" dirty="0">
                <a:latin typeface="+mn-ea"/>
                <a:ea typeface="+mn-ea"/>
              </a:rPr>
              <a:t>代表回车，将光标移动到行首。</a:t>
            </a: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+mn-ea"/>
                <a:ea typeface="+mn-ea"/>
              </a:rPr>
              <a:t>    \</a:t>
            </a:r>
            <a:r>
              <a:rPr lang="en-IE" altLang="zh-CN" sz="1600" dirty="0">
                <a:latin typeface="+mn-ea"/>
                <a:ea typeface="+mn-ea"/>
              </a:rPr>
              <a:t>n </a:t>
            </a:r>
            <a:r>
              <a:rPr lang="zh-CN" altLang="en-US" sz="1600" dirty="0">
                <a:latin typeface="+mn-ea"/>
                <a:ea typeface="+mn-ea"/>
              </a:rPr>
              <a:t>代表换行，将光标移动到下一行。</a:t>
            </a:r>
          </a:p>
          <a:p>
            <a:pPr>
              <a:lnSpc>
                <a:spcPct val="100000"/>
              </a:lnSpc>
            </a:pPr>
            <a:endParaRPr lang="zh-CN" altLang="en-US" sz="16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IE" altLang="zh-CN" sz="1600" b="1" dirty="0">
                <a:latin typeface="+mn-ea"/>
                <a:ea typeface="+mn-ea"/>
              </a:rPr>
              <a:t>Unix </a:t>
            </a:r>
            <a:r>
              <a:rPr lang="zh-CN" altLang="en-US" sz="1600" b="1" dirty="0">
                <a:latin typeface="+mn-ea"/>
                <a:ea typeface="+mn-ea"/>
              </a:rPr>
              <a:t>系统</a:t>
            </a:r>
            <a:r>
              <a:rPr lang="zh-CN" altLang="en-US" sz="1600" dirty="0">
                <a:latin typeface="+mn-ea"/>
                <a:ea typeface="+mn-ea"/>
              </a:rPr>
              <a:t>：使用 </a:t>
            </a:r>
            <a:r>
              <a:rPr lang="en-US" altLang="zh-CN" sz="1600" dirty="0">
                <a:latin typeface="+mn-ea"/>
                <a:ea typeface="+mn-ea"/>
              </a:rPr>
              <a:t>\</a:t>
            </a:r>
            <a:r>
              <a:rPr lang="en-IE" altLang="zh-CN" sz="1600" dirty="0">
                <a:latin typeface="+mn-ea"/>
                <a:ea typeface="+mn-ea"/>
              </a:rPr>
              <a:t>n </a:t>
            </a:r>
            <a:r>
              <a:rPr lang="zh-CN" altLang="en-US" sz="1600" dirty="0">
                <a:latin typeface="+mn-ea"/>
                <a:ea typeface="+mn-ea"/>
              </a:rPr>
              <a:t>一个字符作为换行符。</a:t>
            </a: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endParaRPr lang="en-US" altLang="zh-CN" sz="1600" dirty="0">
              <a:latin typeface="+mn-ea"/>
              <a:ea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600" dirty="0">
                <a:latin typeface="+mn-ea"/>
                <a:ea typeface="+mn-ea"/>
              </a:rPr>
              <a:t>Linux </a:t>
            </a:r>
            <a:r>
              <a:rPr lang="zh-CN" altLang="en-US" sz="1600" dirty="0">
                <a:latin typeface="+mn-ea"/>
                <a:ea typeface="+mn-ea"/>
              </a:rPr>
              <a:t>系统不认识那个孤立的 </a:t>
            </a:r>
            <a:r>
              <a:rPr lang="en-US" altLang="zh-CN" sz="1600" dirty="0">
                <a:latin typeface="+mn-ea"/>
                <a:ea typeface="+mn-ea"/>
              </a:rPr>
              <a:t>\r</a:t>
            </a:r>
            <a:r>
              <a:rPr lang="zh-CN" altLang="en-US" sz="1600" dirty="0">
                <a:latin typeface="+mn-ea"/>
                <a:ea typeface="+mn-ea"/>
              </a:rPr>
              <a:t> 字符，于是就将其显示为 </a:t>
            </a:r>
            <a:r>
              <a:rPr lang="en-US" altLang="zh-CN" sz="1600" dirty="0">
                <a:latin typeface="+mn-ea"/>
                <a:ea typeface="+mn-ea"/>
              </a:rPr>
              <a:t>^M</a:t>
            </a:r>
            <a:r>
              <a:rPr lang="zh-CN" altLang="en-US" sz="1600" dirty="0">
                <a:latin typeface="+mn-ea"/>
                <a:ea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69625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EA8A1-5C30-C49F-A48B-8111547B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B50897-7BA5-1A67-9A97-7C0A49369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3</a:t>
            </a:r>
            <a:r>
              <a:rPr lang="zh-CN" altLang="en-US" sz="1600" dirty="0"/>
              <a:t>）写一个简单的打开文件和关闭文件的程序。如果不做错误检查，当打开不存在的文件时，会发生什么？如果用了课件上展示的带错误检查的代码，又会发生什么？</a:t>
            </a:r>
            <a:endParaRPr lang="zh-CN" altLang="en-US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92504FB-2A8C-39E7-31B2-5BF86AB9C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144" y="1173629"/>
            <a:ext cx="10168759" cy="313816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078B9B2-6486-C363-DFAE-BBB283A79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02462"/>
            <a:ext cx="5094327" cy="4953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94710C0-26C0-843E-3A5E-B0FA465424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000" r="17989" b="-8144"/>
          <a:stretch>
            <a:fillRect/>
          </a:stretch>
        </p:blipFill>
        <p:spPr>
          <a:xfrm>
            <a:off x="838201" y="5223589"/>
            <a:ext cx="5257800" cy="4607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C1BB783-AC2F-BBAD-FCA1-0E6867AEA4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5798973"/>
            <a:ext cx="7236374" cy="48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760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47B2D-DE9B-7056-2197-B63940BA4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12AD3-C5E0-2C33-96E2-D9874781C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4</a:t>
            </a:r>
            <a:r>
              <a:rPr lang="zh-CN" altLang="en-US" sz="1600" dirty="0"/>
              <a:t>）解读第 </a:t>
            </a:r>
            <a:r>
              <a:rPr lang="en-US" altLang="zh-CN" sz="1600" dirty="0"/>
              <a:t>15 </a:t>
            </a:r>
            <a:r>
              <a:rPr lang="zh-CN" altLang="en-US" sz="1600" dirty="0"/>
              <a:t>和 </a:t>
            </a:r>
            <a:r>
              <a:rPr lang="en-US" altLang="zh-CN" sz="1600" dirty="0"/>
              <a:t>17 </a:t>
            </a:r>
            <a:r>
              <a:rPr lang="zh-CN" altLang="en-US" sz="1600" dirty="0"/>
              <a:t>页的两个程序示例</a:t>
            </a:r>
            <a:endParaRPr lang="zh-CN" altLang="en-US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BA3EB19-4A03-66D3-F456-DA17BDBFE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187" y="1149997"/>
            <a:ext cx="8697310" cy="435161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700D507-9521-DC51-DD1B-3F47998C4EF8}"/>
              </a:ext>
            </a:extLst>
          </p:cNvPr>
          <p:cNvSpPr txBox="1"/>
          <p:nvPr/>
        </p:nvSpPr>
        <p:spPr>
          <a:xfrm>
            <a:off x="1255986" y="5980386"/>
            <a:ext cx="5626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*</a:t>
            </a:r>
            <a:r>
              <a:rPr lang="zh-CN" altLang="en-US" dirty="0"/>
              <a:t>链接：</a:t>
            </a:r>
            <a:r>
              <a:rPr lang="en-US" altLang="zh-CN" dirty="0"/>
              <a:t>$ </a:t>
            </a:r>
            <a:r>
              <a:rPr lang="en-US" altLang="zh-CN" dirty="0" err="1"/>
              <a:t>gcc</a:t>
            </a:r>
            <a:r>
              <a:rPr lang="en-US" altLang="zh-CN" dirty="0"/>
              <a:t> -o </a:t>
            </a:r>
            <a:r>
              <a:rPr lang="en-US" altLang="zh-CN" dirty="0" err="1"/>
              <a:t>showfile</a:t>
            </a:r>
            <a:r>
              <a:rPr lang="en-US" altLang="zh-CN" dirty="0"/>
              <a:t> showfile1.c </a:t>
            </a:r>
            <a:r>
              <a:rPr lang="en-US" altLang="zh-CN" dirty="0" err="1"/>
              <a:t>csapp.c</a:t>
            </a:r>
            <a:r>
              <a:rPr lang="en-US" altLang="zh-CN" dirty="0"/>
              <a:t> -</a:t>
            </a:r>
            <a:r>
              <a:rPr lang="en-US" altLang="zh-CN" dirty="0" err="1"/>
              <a:t>lpthread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420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F7F0C-40FA-80D7-AA2E-313A28B61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5D23A-4021-30E6-F0A0-572BF1A9F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4</a:t>
            </a:r>
            <a:r>
              <a:rPr lang="zh-CN" altLang="en-US" sz="1600" dirty="0"/>
              <a:t>）解读第 </a:t>
            </a:r>
            <a:r>
              <a:rPr lang="en-US" altLang="zh-CN" sz="1600" dirty="0"/>
              <a:t>15 </a:t>
            </a:r>
            <a:r>
              <a:rPr lang="zh-CN" altLang="en-US" sz="1600" dirty="0"/>
              <a:t>和 </a:t>
            </a:r>
            <a:r>
              <a:rPr lang="en-US" altLang="zh-CN" sz="1600" dirty="0"/>
              <a:t>17 </a:t>
            </a:r>
            <a:r>
              <a:rPr lang="zh-CN" altLang="en-US" sz="1600" dirty="0"/>
              <a:t>页的两个程序示例</a:t>
            </a:r>
            <a:endParaRPr lang="zh-CN" altLang="en-US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E697BF0-D401-D40C-53B7-5241EDCFB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099" y="73924"/>
            <a:ext cx="3916607" cy="67101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DB9A91F-F342-B7AE-881B-B55E0A14F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226" y="1066683"/>
            <a:ext cx="4696561" cy="40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65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F0277-BD45-8EF2-CA95-BA50C6D08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7CDD7C-1F85-2737-BDA6-3103D7832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4</a:t>
            </a:r>
            <a:r>
              <a:rPr lang="zh-CN" altLang="en-US" sz="1600" dirty="0"/>
              <a:t>）解读第 </a:t>
            </a:r>
            <a:r>
              <a:rPr lang="en-US" altLang="zh-CN" sz="1600" dirty="0"/>
              <a:t>15 </a:t>
            </a:r>
            <a:r>
              <a:rPr lang="zh-CN" altLang="en-US" sz="1600" dirty="0"/>
              <a:t>和 </a:t>
            </a:r>
            <a:r>
              <a:rPr lang="en-US" altLang="zh-CN" sz="1600" dirty="0"/>
              <a:t>17 </a:t>
            </a:r>
            <a:r>
              <a:rPr lang="zh-CN" altLang="en-US" sz="1600" dirty="0"/>
              <a:t>页的两个程序示例</a:t>
            </a:r>
            <a:endParaRPr lang="zh-CN" altLang="en-US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F2E994-E6B9-3A7F-A7C0-5B3ACEECC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860" y="1282262"/>
            <a:ext cx="5488503" cy="31541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935669A-9B05-3A92-25DE-3B1E7FD79D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5655" y="1612559"/>
            <a:ext cx="4929898" cy="21467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4B87253-0016-09CC-CAD0-AD0151C43606}"/>
              </a:ext>
            </a:extLst>
          </p:cNvPr>
          <p:cNvSpPr txBox="1"/>
          <p:nvPr/>
        </p:nvSpPr>
        <p:spPr>
          <a:xfrm>
            <a:off x="7015655" y="1171026"/>
            <a:ext cx="100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strace</a:t>
            </a:r>
            <a:r>
              <a:rPr lang="zh-CN" altLang="en-US" dirty="0"/>
              <a:t>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982C23-F531-4073-D075-D1C3A52BD436}"/>
              </a:ext>
            </a:extLst>
          </p:cNvPr>
          <p:cNvSpPr txBox="1"/>
          <p:nvPr/>
        </p:nvSpPr>
        <p:spPr>
          <a:xfrm>
            <a:off x="1192924" y="4818993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从</a:t>
            </a:r>
            <a:r>
              <a:rPr lang="en-US" altLang="zh-CN" dirty="0"/>
              <a:t>user</a:t>
            </a:r>
            <a:r>
              <a:rPr lang="zh-CN" altLang="en-US" dirty="0"/>
              <a:t>到</a:t>
            </a:r>
            <a:r>
              <a:rPr lang="en-US" altLang="zh-CN" dirty="0"/>
              <a:t>kernel</a:t>
            </a:r>
            <a:r>
              <a:rPr lang="zh-CN" altLang="en-US" dirty="0"/>
              <a:t>需要</a:t>
            </a:r>
            <a:r>
              <a:rPr lang="en-US" altLang="zh-CN" dirty="0"/>
              <a:t>exception</a:t>
            </a:r>
            <a:r>
              <a:rPr lang="zh-CN" altLang="en-US" dirty="0"/>
              <a:t>。用</a:t>
            </a:r>
            <a:r>
              <a:rPr lang="en-US" altLang="zh-CN" dirty="0" err="1"/>
              <a:t>buf</a:t>
            </a:r>
            <a:r>
              <a:rPr lang="zh-CN" altLang="en-US" dirty="0"/>
              <a:t>减少系统调用</a:t>
            </a:r>
          </a:p>
        </p:txBody>
      </p:sp>
    </p:spTree>
    <p:extLst>
      <p:ext uri="{BB962C8B-B14F-4D97-AF65-F5344CB8AC3E}">
        <p14:creationId xmlns:p14="http://schemas.microsoft.com/office/powerpoint/2010/main" val="2503936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A1714-AC1F-D9FA-1E72-261F6B4DF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E17AB-424D-0F3C-130E-6D932F12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5</a:t>
            </a:r>
            <a:r>
              <a:rPr lang="zh-CN" altLang="en-US" sz="1600" dirty="0"/>
              <a:t>）解释 </a:t>
            </a:r>
            <a:r>
              <a:rPr lang="en-US" altLang="zh-CN" sz="1600" dirty="0" err="1"/>
              <a:t>chmod</a:t>
            </a:r>
            <a:r>
              <a:rPr lang="en-US" altLang="zh-CN" sz="1600" dirty="0"/>
              <a:t> 000 </a:t>
            </a:r>
            <a:r>
              <a:rPr lang="en-US" altLang="zh-CN" sz="1600" dirty="0" err="1"/>
              <a:t>statcheck.c</a:t>
            </a:r>
            <a:r>
              <a:rPr lang="en-US" altLang="zh-CN" sz="1600" dirty="0"/>
              <a:t> </a:t>
            </a:r>
            <a:r>
              <a:rPr lang="zh-CN" altLang="en-US" sz="1600" dirty="0"/>
              <a:t>操作的含义，选项 </a:t>
            </a:r>
            <a:r>
              <a:rPr lang="en-US" altLang="zh-CN" sz="1600" dirty="0"/>
              <a:t>000 </a:t>
            </a:r>
            <a:r>
              <a:rPr lang="zh-CN" altLang="en-US" sz="1600" dirty="0"/>
              <a:t>还可以换成哪些值？</a:t>
            </a:r>
            <a:endParaRPr lang="zh-CN" altLang="en-US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AA26D15-DF2C-B009-2F91-9FE67043F3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534" y="4457942"/>
            <a:ext cx="6590938" cy="1024382"/>
          </a:xfrm>
          <a:prstGeom prst="rect">
            <a:avLst/>
          </a:prstGeom>
        </p:spPr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6EAC8D41-5B7C-7DEB-3899-10807FEC7F0C}"/>
              </a:ext>
            </a:extLst>
          </p:cNvPr>
          <p:cNvSpPr txBox="1">
            <a:spLocks/>
          </p:cNvSpPr>
          <p:nvPr/>
        </p:nvSpPr>
        <p:spPr>
          <a:xfrm>
            <a:off x="1403131" y="83158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800" dirty="0" err="1">
                <a:latin typeface="+mn-ea"/>
                <a:ea typeface="+mn-ea"/>
              </a:rPr>
              <a:t>chmod</a:t>
            </a:r>
            <a:r>
              <a:rPr lang="en-US" altLang="zh-CN" sz="1800" dirty="0">
                <a:latin typeface="+mn-ea"/>
                <a:ea typeface="+mn-ea"/>
              </a:rPr>
              <a:t>:</a:t>
            </a:r>
            <a:r>
              <a:rPr lang="zh-CN" altLang="en-US" sz="1800" dirty="0">
                <a:latin typeface="+mn-ea"/>
                <a:ea typeface="+mn-ea"/>
              </a:rPr>
              <a:t>改变文件模式</a:t>
            </a:r>
            <a:endParaRPr lang="en-US" altLang="zh-CN" sz="1800" dirty="0">
              <a:latin typeface="+mn-ea"/>
              <a:ea typeface="+mn-ea"/>
            </a:endParaRPr>
          </a:p>
          <a:p>
            <a:r>
              <a:rPr lang="zh-CN" altLang="en-US" sz="1800" dirty="0">
                <a:latin typeface="+mn-ea"/>
                <a:ea typeface="+mn-ea"/>
              </a:rPr>
              <a:t>三个权限位：</a:t>
            </a:r>
            <a:r>
              <a:rPr lang="en-US" altLang="zh-CN" sz="1800" dirty="0">
                <a:latin typeface="+mn-ea"/>
                <a:ea typeface="+mn-ea"/>
              </a:rPr>
              <a:t>user/group/other</a:t>
            </a:r>
          </a:p>
          <a:p>
            <a:r>
              <a:rPr lang="zh-CN" altLang="en-US" sz="1800" dirty="0">
                <a:latin typeface="+mn-ea"/>
                <a:ea typeface="+mn-ea"/>
              </a:rPr>
              <a:t>（常见：源代码</a:t>
            </a:r>
            <a:r>
              <a:rPr lang="en-US" altLang="zh-CN" sz="1800" dirty="0">
                <a:latin typeface="+mn-ea"/>
                <a:ea typeface="+mn-ea"/>
              </a:rPr>
              <a:t>644</a:t>
            </a:r>
            <a:r>
              <a:rPr lang="zh-CN" altLang="en-US" sz="1800" dirty="0">
                <a:latin typeface="+mn-ea"/>
                <a:ea typeface="+mn-ea"/>
              </a:rPr>
              <a:t>，可执行</a:t>
            </a:r>
            <a:r>
              <a:rPr lang="en-US" altLang="zh-CN" sz="1800" dirty="0">
                <a:latin typeface="+mn-ea"/>
                <a:ea typeface="+mn-ea"/>
              </a:rPr>
              <a:t>755</a:t>
            </a:r>
            <a:r>
              <a:rPr lang="zh-CN" altLang="en-US" sz="1800" dirty="0">
                <a:latin typeface="+mn-ea"/>
                <a:ea typeface="+mn-ea"/>
              </a:rPr>
              <a:t>，私有</a:t>
            </a:r>
            <a:r>
              <a:rPr lang="en-US" altLang="zh-CN" sz="1800" dirty="0">
                <a:latin typeface="+mn-ea"/>
                <a:ea typeface="+mn-ea"/>
              </a:rPr>
              <a:t>600</a:t>
            </a:r>
            <a:r>
              <a:rPr lang="zh-CN" altLang="en-US" sz="1800" dirty="0">
                <a:latin typeface="+mn-ea"/>
                <a:ea typeface="+mn-ea"/>
              </a:rPr>
              <a:t>，配置</a:t>
            </a:r>
            <a:r>
              <a:rPr lang="en-US" altLang="zh-CN" sz="1800" dirty="0">
                <a:latin typeface="+mn-ea"/>
                <a:ea typeface="+mn-ea"/>
              </a:rPr>
              <a:t>640</a:t>
            </a:r>
            <a:r>
              <a:rPr lang="zh-CN" altLang="en-US" sz="1800" dirty="0">
                <a:latin typeface="+mn-ea"/>
                <a:ea typeface="+mn-ea"/>
              </a:rPr>
              <a:t>）</a:t>
            </a:r>
            <a:endParaRPr lang="en-US" altLang="zh-CN" sz="1800" dirty="0">
              <a:latin typeface="+mn-ea"/>
              <a:ea typeface="+mn-ea"/>
            </a:endParaRPr>
          </a:p>
          <a:p>
            <a:endParaRPr lang="zh-CN" altLang="en-US" sz="1600" dirty="0">
              <a:latin typeface="+mn-ea"/>
              <a:ea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3230C9-9947-9003-2734-D6C5A88E6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372" y="774559"/>
            <a:ext cx="3651359" cy="28268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72B2DE4-67B7-A813-A6B9-4697F2A94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534" y="1938036"/>
            <a:ext cx="6168234" cy="180571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58956AF-778B-A431-1764-19DE1049DCF9}"/>
              </a:ext>
            </a:extLst>
          </p:cNvPr>
          <p:cNvSpPr txBox="1"/>
          <p:nvPr/>
        </p:nvSpPr>
        <p:spPr>
          <a:xfrm>
            <a:off x="1240220" y="3739046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所有者可读写，组只读，其他用户不可见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1168A3-75FF-3CBB-248A-365BF243D677}"/>
              </a:ext>
            </a:extLst>
          </p:cNvPr>
          <p:cNvSpPr txBox="1"/>
          <p:nvPr/>
        </p:nvSpPr>
        <p:spPr>
          <a:xfrm>
            <a:off x="1240220" y="556603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所有人没有任何权限</a:t>
            </a:r>
          </a:p>
        </p:txBody>
      </p:sp>
    </p:spTree>
    <p:extLst>
      <p:ext uri="{BB962C8B-B14F-4D97-AF65-F5344CB8AC3E}">
        <p14:creationId xmlns:p14="http://schemas.microsoft.com/office/powerpoint/2010/main" val="2073854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063F-9DC4-C444-BA20-8EB2F87F0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FD164-524B-8754-1141-1C713CA87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6</a:t>
            </a:r>
            <a:r>
              <a:rPr lang="zh-CN" altLang="en-US" sz="1600" dirty="0"/>
              <a:t>）三类表的作用，每个表项的含义，每类表在系统中有几张，文件打开、关闭、读、写时候，哪些表项会发生变动。</a:t>
            </a:r>
            <a:endParaRPr lang="zh-CN" altLang="en-US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2ED7BB-AC20-721D-23B1-62D917A2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66173"/>
            <a:ext cx="7956331" cy="342176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EF00AD5-E6CE-F129-8F49-DD7618048003}"/>
              </a:ext>
            </a:extLst>
          </p:cNvPr>
          <p:cNvSpPr txBox="1"/>
          <p:nvPr/>
        </p:nvSpPr>
        <p:spPr>
          <a:xfrm>
            <a:off x="966952" y="1397876"/>
            <a:ext cx="3435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Descriptor: </a:t>
            </a:r>
            <a:r>
              <a:rPr lang="zh-CN" altLang="en-US" dirty="0"/>
              <a:t>每个进程一张</a:t>
            </a:r>
            <a:endParaRPr lang="en-US" altLang="zh-CN" dirty="0"/>
          </a:p>
          <a:p>
            <a:r>
              <a:rPr lang="en-US" altLang="zh-CN" dirty="0"/>
              <a:t>Open file, v-node: </a:t>
            </a:r>
            <a:r>
              <a:rPr lang="zh-CN" altLang="en-US" dirty="0"/>
              <a:t>整个内核一张</a:t>
            </a:r>
          </a:p>
        </p:txBody>
      </p:sp>
    </p:spTree>
    <p:extLst>
      <p:ext uri="{BB962C8B-B14F-4D97-AF65-F5344CB8AC3E}">
        <p14:creationId xmlns:p14="http://schemas.microsoft.com/office/powerpoint/2010/main" val="2570290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AA036-5816-ED54-D211-16C226807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7BFB65-F9B2-B182-3E8C-9A0A683D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7</a:t>
            </a:r>
            <a:r>
              <a:rPr lang="zh-CN" altLang="en-US" sz="1600" dirty="0"/>
              <a:t>）基于课件第 </a:t>
            </a:r>
            <a:r>
              <a:rPr lang="en-US" altLang="zh-CN" sz="1600" dirty="0"/>
              <a:t>22~24 </a:t>
            </a:r>
            <a:r>
              <a:rPr lang="zh-CN" altLang="en-US" sz="1600" dirty="0"/>
              <a:t>页，讲解共享文件和创建进程时，文件相关几个表的变化。</a:t>
            </a:r>
            <a:endParaRPr lang="zh-CN" altLang="en-US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02064D-2C7A-9479-4D3D-A435C190D0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698" t="-8686" r="2698" b="41432"/>
          <a:stretch>
            <a:fillRect/>
          </a:stretch>
        </p:blipFill>
        <p:spPr>
          <a:xfrm>
            <a:off x="730468" y="2970431"/>
            <a:ext cx="8045472" cy="10721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12704DB-6476-4581-D35A-604760993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90" y="1644868"/>
            <a:ext cx="7946162" cy="123007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49BCD53-F15A-D54D-D8A4-CE83E0EA2131}"/>
              </a:ext>
            </a:extLst>
          </p:cNvPr>
          <p:cNvSpPr txBox="1"/>
          <p:nvPr/>
        </p:nvSpPr>
        <p:spPr>
          <a:xfrm>
            <a:off x="945590" y="1189808"/>
            <a:ext cx="6534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共享文件：</a:t>
            </a:r>
            <a:r>
              <a:rPr lang="en-US" altLang="zh-CN" dirty="0"/>
              <a:t>Calling open twice with the same filename argument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2A96ABA-D171-CE10-EBE8-950774E1A1EA}"/>
              </a:ext>
            </a:extLst>
          </p:cNvPr>
          <p:cNvSpPr txBox="1"/>
          <p:nvPr/>
        </p:nvSpPr>
        <p:spPr>
          <a:xfrm>
            <a:off x="945590" y="4493172"/>
            <a:ext cx="593624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altLang="zh-CN" b="1" dirty="0" err="1"/>
              <a:t>vnode</a:t>
            </a:r>
            <a:r>
              <a:rPr lang="zh-CN" altLang="en-IE" dirty="0"/>
              <a:t>：</a:t>
            </a:r>
            <a:r>
              <a:rPr lang="en-IE" altLang="zh-CN" dirty="0"/>
              <a:t>1 </a:t>
            </a:r>
            <a:r>
              <a:rPr lang="zh-CN" altLang="en-US" dirty="0"/>
              <a:t>条</a:t>
            </a:r>
          </a:p>
          <a:p>
            <a:r>
              <a:rPr lang="en-IE" altLang="zh-CN" b="1" dirty="0"/>
              <a:t>open file table entries</a:t>
            </a:r>
            <a:r>
              <a:rPr lang="zh-CN" altLang="en-IE" dirty="0"/>
              <a:t>：</a:t>
            </a:r>
            <a:r>
              <a:rPr lang="en-IE" altLang="zh-CN" dirty="0"/>
              <a:t>2 </a:t>
            </a:r>
            <a:r>
              <a:rPr lang="zh-CN" altLang="en-US" dirty="0"/>
              <a:t>条</a:t>
            </a:r>
          </a:p>
          <a:p>
            <a:r>
              <a:rPr lang="en-IE" altLang="zh-CN" b="1" dirty="0" err="1"/>
              <a:t>fd</a:t>
            </a:r>
            <a:r>
              <a:rPr lang="zh-CN" altLang="en-IE" dirty="0"/>
              <a:t>：</a:t>
            </a:r>
            <a:r>
              <a:rPr lang="en-IE" altLang="zh-CN" dirty="0"/>
              <a:t>2 </a:t>
            </a:r>
            <a:r>
              <a:rPr lang="zh-CN" altLang="en-US" dirty="0"/>
              <a:t>条</a:t>
            </a:r>
            <a:endParaRPr lang="en-US" altLang="zh-CN" dirty="0"/>
          </a:p>
          <a:p>
            <a:r>
              <a:rPr lang="en-US" altLang="zh-CN" dirty="0"/>
              <a:t>(</a:t>
            </a:r>
            <a:r>
              <a:rPr lang="zh-CN" altLang="en-US" dirty="0"/>
              <a:t>每次</a:t>
            </a:r>
            <a:r>
              <a:rPr lang="en-US" altLang="zh-CN" dirty="0"/>
              <a:t>open() </a:t>
            </a:r>
            <a:r>
              <a:rPr lang="zh-CN" altLang="en-US" dirty="0"/>
              <a:t>创建一个新的</a:t>
            </a:r>
            <a:r>
              <a:rPr lang="en-US" altLang="zh-CN" dirty="0"/>
              <a:t>open file entry, </a:t>
            </a:r>
            <a:r>
              <a:rPr lang="zh-CN" altLang="en-US" dirty="0"/>
              <a:t>返回一个新</a:t>
            </a:r>
            <a:r>
              <a:rPr lang="en-US" altLang="zh-CN" dirty="0" err="1"/>
              <a:t>fd</a:t>
            </a:r>
            <a:r>
              <a:rPr lang="zh-CN" altLang="en-US" dirty="0"/>
              <a:t>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6248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1F752-8E85-F9D7-B78C-7FC1BC0FD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D04CBE-0B6A-FC3A-1E5E-819F13E78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7</a:t>
            </a:r>
            <a:r>
              <a:rPr lang="zh-CN" altLang="en-US" sz="1600" dirty="0"/>
              <a:t>）基于课件第 </a:t>
            </a:r>
            <a:r>
              <a:rPr lang="en-US" altLang="zh-CN" sz="1600" dirty="0"/>
              <a:t>22~24 </a:t>
            </a:r>
            <a:r>
              <a:rPr lang="zh-CN" altLang="en-US" sz="1600" dirty="0"/>
              <a:t>页，讲解共享文件和创建进程时，文件相关几个表的变化。</a:t>
            </a:r>
            <a:endParaRPr lang="zh-CN" altLang="en-US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F632DF9-0C75-0EC0-AFD1-53B66AC2A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090" y="1507525"/>
            <a:ext cx="5959366" cy="332323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CA0F297-7171-9AFC-7D7F-942CF04504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04" y="1279596"/>
            <a:ext cx="5744743" cy="364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556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7A824-5339-73A5-C61C-A201AEA6E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A738C-390D-0751-2220-BFCAFCE73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7848"/>
            <a:ext cx="10515600" cy="1325563"/>
          </a:xfrm>
        </p:spPr>
        <p:txBody>
          <a:bodyPr>
            <a:normAutofit/>
          </a:bodyPr>
          <a:lstStyle/>
          <a:p>
            <a:r>
              <a:rPr lang="zh-CN" altLang="en-US" sz="1600" dirty="0"/>
              <a:t>（</a:t>
            </a:r>
            <a:r>
              <a:rPr lang="en-US" altLang="zh-CN" sz="1600" dirty="0"/>
              <a:t>8</a:t>
            </a:r>
            <a:r>
              <a:rPr lang="zh-CN" altLang="en-US" sz="1600" dirty="0"/>
              <a:t>）基于课件第 </a:t>
            </a:r>
            <a:r>
              <a:rPr lang="en-US" altLang="zh-CN" sz="1600" dirty="0"/>
              <a:t>25~27 </a:t>
            </a:r>
            <a:r>
              <a:rPr lang="zh-CN" altLang="en-US" sz="1600" dirty="0"/>
              <a:t>页，讲解 </a:t>
            </a:r>
            <a:r>
              <a:rPr lang="en-US" altLang="zh-CN" sz="1600" dirty="0"/>
              <a:t>I/O </a:t>
            </a:r>
            <a:r>
              <a:rPr lang="zh-CN" altLang="en-US" sz="1600" dirty="0"/>
              <a:t>重定向时，文件相关几个表的变化。</a:t>
            </a:r>
            <a:endParaRPr lang="zh-CN" altLang="en-US" sz="160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1144BF-4ED9-DA0C-19FF-F4093DD70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90681"/>
            <a:ext cx="6159062" cy="314707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BE866D4-B5B0-5748-E483-967CA2D8D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618593"/>
            <a:ext cx="6010774" cy="311916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0283E14-755B-11E1-6C73-929C14FF7B95}"/>
              </a:ext>
            </a:extLst>
          </p:cNvPr>
          <p:cNvSpPr txBox="1"/>
          <p:nvPr/>
        </p:nvSpPr>
        <p:spPr>
          <a:xfrm>
            <a:off x="5531582" y="1221879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dup2(4,1)</a:t>
            </a:r>
          </a:p>
        </p:txBody>
      </p:sp>
    </p:spTree>
    <p:extLst>
      <p:ext uri="{BB962C8B-B14F-4D97-AF65-F5344CB8AC3E}">
        <p14:creationId xmlns:p14="http://schemas.microsoft.com/office/powerpoint/2010/main" val="977663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64CC-982F-B42F-FDAB-0EF25469D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8840FBE-45B0-4204-AE99-71A2CC823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67" y="604345"/>
            <a:ext cx="7291453" cy="432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707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CBE03-8CD3-CCF7-4CCC-679D1037C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E1F61E2-C9B5-9D0A-79BD-F3A04757C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07" y="124682"/>
            <a:ext cx="8379326" cy="49413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49C3E26-166F-335D-D833-456D9FD6B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456" y="2417441"/>
            <a:ext cx="7543874" cy="490693"/>
          </a:xfrm>
        </p:spPr>
        <p:txBody>
          <a:bodyPr>
            <a:normAutofit fontScale="90000"/>
          </a:bodyPr>
          <a:lstStyle/>
          <a:p>
            <a:b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</a:br>
            <a:r>
              <a:rPr lang="zh-CN" altLang="en-US" sz="1800" b="1" dirty="0">
                <a:solidFill>
                  <a:srgbClr val="C00000"/>
                </a:solidFill>
                <a:latin typeface="+mn-ea"/>
                <a:ea typeface="+mn-ea"/>
              </a:rPr>
              <a:t>取决于父进程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  <a:t>PID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  <a:ea typeface="+mn-ea"/>
              </a:rPr>
              <a:t>的最低位是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  <a:ea typeface="+mn-ea"/>
              </a:rPr>
              <a:t>还是</a:t>
            </a:r>
            <a: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  <a:t>1</a:t>
            </a:r>
            <a:b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</a:br>
            <a: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  <a:t>s=0: case 2</a:t>
            </a:r>
            <a:b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</a:br>
            <a:r>
              <a:rPr lang="en-US" altLang="zh-CN" sz="1800" b="1" dirty="0">
                <a:solidFill>
                  <a:srgbClr val="C00000"/>
                </a:solidFill>
                <a:latin typeface="+mn-ea"/>
                <a:ea typeface="+mn-ea"/>
              </a:rPr>
              <a:t>s=1: case 1</a:t>
            </a:r>
            <a:endParaRPr lang="zh-CN" altLang="en-US" sz="18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1353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700</TotalTime>
  <Words>672</Words>
  <Application>Microsoft Office PowerPoint</Application>
  <PresentationFormat>宽屏</PresentationFormat>
  <Paragraphs>61</Paragraphs>
  <Slides>19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新宋体</vt:lpstr>
      <vt:lpstr>Arial</vt:lpstr>
      <vt:lpstr>Office 主题​​</vt:lpstr>
      <vt:lpstr>研讨题18-1</vt:lpstr>
      <vt:lpstr>（1）说明 Unix I/O 和文件的关系，找到第 4 页提到的那几个表现成文件形式的 I/O 设备。  I/O设备：</vt:lpstr>
      <vt:lpstr>I/O设备：</vt:lpstr>
      <vt:lpstr>内核：镜像，数据结构</vt:lpstr>
      <vt:lpstr>内核：进程1</vt:lpstr>
      <vt:lpstr>（2）用文本编辑器打开一个二进制文件（如图片文件），会显示出什么，为什么？用 Windows 保存一个文本文件（.txt），然后在Linux 中打开（用系统自带的文本编辑器，或者用 cat -v），分析结尾出现的奇怪的符号是什么。  用文本编辑器打开二进制文件：乱码</vt:lpstr>
      <vt:lpstr>十六进制编辑器</vt:lpstr>
      <vt:lpstr>结尾出现的奇怪的符号：^M</vt:lpstr>
      <vt:lpstr>（3）写一个简单的打开文件和关闭文件的程序。如果不做错误检查，当打开不存在的文件时，会发生什么？如果用了课件上展示的带错误检查的代码，又会发生什么？</vt:lpstr>
      <vt:lpstr>（4）解读第 15 和 17 页的两个程序示例</vt:lpstr>
      <vt:lpstr>（4）解读第 15 和 17 页的两个程序示例</vt:lpstr>
      <vt:lpstr>（4）解读第 15 和 17 页的两个程序示例</vt:lpstr>
      <vt:lpstr>（5）解释 chmod 000 statcheck.c 操作的含义，选项 000 还可以换成哪些值？</vt:lpstr>
      <vt:lpstr>（6）三类表的作用，每个表项的含义，每类表在系统中有几张，文件打开、关闭、读、写时候，哪些表项会发生变动。</vt:lpstr>
      <vt:lpstr>（7）基于课件第 22~24 页，讲解共享文件和创建进程时，文件相关几个表的变化。</vt:lpstr>
      <vt:lpstr>（7）基于课件第 22~24 页，讲解共享文件和创建进程时，文件相关几个表的变化。</vt:lpstr>
      <vt:lpstr>（8）基于课件第 25~27 页，讲解 I/O 重定向时，文件相关几个表的变化。</vt:lpstr>
      <vt:lpstr>PowerPoint 演示文稿</vt:lpstr>
      <vt:lpstr> 取决于父进程PID的最低位是0还是1 s=0: case 2 s=1: case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iyukisu@163.com</dc:creator>
  <cp:lastModifiedBy>iyukisu@163.com</cp:lastModifiedBy>
  <cp:revision>7</cp:revision>
  <dcterms:created xsi:type="dcterms:W3CDTF">2025-10-28T05:30:24Z</dcterms:created>
  <dcterms:modified xsi:type="dcterms:W3CDTF">2025-11-26T10:11:27Z</dcterms:modified>
</cp:coreProperties>
</file>