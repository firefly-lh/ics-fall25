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9D88A-E3AC-452E-B76C-55045BAE306E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E67AD-44A1-49B2-9499-9396577246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006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E67AD-44A1-49B2-9499-9396577246D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630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E6AD-BE61-CF02-36B9-385D9A116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6B7C78-CC55-F154-B990-D93938EA5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DB00FF-5AC4-2B8C-C789-73E0CFD10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C567C7-D79B-DE21-67EC-D3350FF16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E67AD-44A1-49B2-9499-9396577246D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065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8A831B-1246-8662-296E-D37783983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0AEB6C-5E81-AA28-6B8F-DD285E028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520894-AD6A-0E88-91AE-73BD65F18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EF318-56FF-4977-8AEF-62139A5F30E8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4F6298-2D1F-516C-D448-C64A0699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1027F4-5E3F-35DB-C8B4-8DC48FBC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3524-1631-4AAF-9167-8C1F70AAD2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88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3265E-A95D-FD24-4256-EFF7E33AA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F98725-EF3C-2DFA-ECE6-9EFA558D5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B9DAB2-CB44-7E36-68B1-9C63B0CB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EF318-56FF-4977-8AEF-62139A5F30E8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BE4D48-6D89-4CC5-49AF-2878CCFD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68FED5-D24E-62A6-8A54-21492CE7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3524-1631-4AAF-9167-8C1F70AAD2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87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25312-3101-EBAA-4D94-E9936224D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2DC883-C995-815E-2F47-0C56C1752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17A6A2-9A8A-E06A-E121-6E64C9DBE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EF318-56FF-4977-8AEF-62139A5F30E8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CADC31-8338-A711-E544-A54CF9243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9DED37-7AB5-9B68-38C6-565FDCC5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3524-1631-4AAF-9167-8C1F70AAD2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58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A20046-44B7-3842-D629-28382F044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8667EF-67F7-75F7-E3A3-9E1F9B3B8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1BDFB6-B0E6-D072-2861-6BC407257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D2C545-593D-32D8-F368-583C99CB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EF318-56FF-4977-8AEF-62139A5F30E8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47EF49-C98B-40CF-B3E6-B23642D9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2BF09A-708F-05ED-E29B-6CD8CC58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3524-1631-4AAF-9167-8C1F70AAD2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77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2DCC3D-A6F8-9712-6069-59F287CC8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BC59CC-DBF6-FFC5-8E42-B225C1E21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5CDEE8-D423-F97B-659A-055637BC2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339A65-EAC6-7AAE-5DB5-DE0A975A6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827C0B-F2D0-53CE-8924-8DC4698A7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17C29B-E091-7A5C-A043-06A793BC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EF318-56FF-4977-8AEF-62139A5F30E8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BC38BF-E351-98EC-039C-8F192D92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A37870-149A-3303-4490-53175EB0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3524-1631-4AAF-9167-8C1F70AAD2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888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B253A-E15A-60B7-46D4-FBC192E9B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BB8A26-CF71-14AE-4E19-A9A91C611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EF318-56FF-4977-8AEF-62139A5F30E8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210480-B97E-6735-DEBD-54215758D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BB0908-C94D-476D-84E1-6764AEDC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3524-1631-4AAF-9167-8C1F70AAD2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773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C08F5B-4A8C-0963-475D-D15330FA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EF318-56FF-4977-8AEF-62139A5F30E8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AE42F3-DE65-6C09-0B94-D44EEB7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1823A6-932E-C070-C4D0-5AB05A15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3524-1631-4AAF-9167-8C1F70AAD2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38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B60AE-05D5-D3A3-307E-86DD526BA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1B7DD3-753A-12F8-BFDE-4F2BA0EBF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FFA2E2-E7E4-59E5-E6AB-66CA5989E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9670A4-697B-5D9B-9DC5-AA041B86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EF318-56FF-4977-8AEF-62139A5F30E8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405927-3070-9191-3DF6-99127FAAE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D15182-17C0-2BD8-7408-683D87359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3524-1631-4AAF-9167-8C1F70AAD2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747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5079E-FDBC-155B-84D8-ECF4DAD79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BA8939-0586-C012-5715-215E012734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2733A0-7106-CC0D-752E-9BF5DC8B0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659786-3B3A-96E6-F211-CE54DAFA3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EF318-56FF-4977-8AEF-62139A5F30E8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24A763-11DB-3831-1CA8-DFDACE91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96E3F4-29C5-5BC2-A20A-ADE17838C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3524-1631-4AAF-9167-8C1F70AAD2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493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1CBA7-3605-CA60-4380-5D30692E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5C682C-E147-1BEC-E51B-29D4D849C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F9D0C4-A9FB-CF93-9C69-41924CFE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EF318-56FF-4977-8AEF-62139A5F30E8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DAD4CE-3A53-D2FE-1CA7-6C9E0E959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1BD207-1246-8429-0058-218EA8773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3524-1631-4AAF-9167-8C1F70AAD2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18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621D9C-098A-EEBE-A0C1-BC33407059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312B59-7CF3-DCE4-D192-6595E0A1F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1A051E-DA77-549F-1FD1-434BE913A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EF318-56FF-4977-8AEF-62139A5F30E8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B64D65-0098-CE51-C8E6-286CC5985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19D176-D65A-D22C-D2AD-9E70EAD5D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3524-1631-4AAF-9167-8C1F70AAD2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67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FD3033-50FE-AF2A-44DC-2C715A9E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D216EB-B8B9-BA42-AAA7-E8A86CE49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DF343B-D4AB-50A0-BAFF-09AD90577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EF318-56FF-4977-8AEF-62139A5F30E8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CEC98B-B29A-B315-1055-182702287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B3696A-61F5-16E1-DD8E-A6124515D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53524-1631-4AAF-9167-8C1F70AAD2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30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E25BD-2851-21DB-C1F6-DAE76D455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动态内存分配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AE9572-BA55-FC8F-EFCF-A179A3F9BB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2025/12/10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373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B9440-A9F0-ADA3-EED8-1A4FAE35B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B89BFA-AFA3-81AC-5304-A26559F48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表, 表格, 条形图&#10;&#10;AI 生成的内容可能不正确。">
            <a:extLst>
              <a:ext uri="{FF2B5EF4-FFF2-40B4-BE49-F238E27FC236}">
                <a16:creationId xmlns:a16="http://schemas.microsoft.com/office/drawing/2014/main" id="{0FA3EABF-708C-3A89-ADF4-1096FAFD4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5" y="0"/>
            <a:ext cx="113269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970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5FCC6-2E0A-B548-0892-6DA99C0FD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显式分配器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7C873E-468F-4EF9-41F6-CA5581F58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76644"/>
            <a:ext cx="10515600" cy="616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已分配的块可能被应用程序多次使用，分配器应保证其位置不变</a:t>
            </a:r>
          </a:p>
        </p:txBody>
      </p:sp>
      <p:pic>
        <p:nvPicPr>
          <p:cNvPr id="5" name="图片 4" descr="文本">
            <a:extLst>
              <a:ext uri="{FF2B5EF4-FFF2-40B4-BE49-F238E27FC236}">
                <a16:creationId xmlns:a16="http://schemas.microsoft.com/office/drawing/2014/main" id="{83E2717F-82AE-3ACE-16BD-77E86C68D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41510"/>
            <a:ext cx="4432524" cy="3741819"/>
          </a:xfrm>
          <a:prstGeom prst="rect">
            <a:avLst/>
          </a:prstGeom>
        </p:spPr>
      </p:pic>
      <p:pic>
        <p:nvPicPr>
          <p:cNvPr id="7" name="图片 6" descr="文本, 信件&#10;&#10;AI 生成的内容可能不正确。">
            <a:extLst>
              <a:ext uri="{FF2B5EF4-FFF2-40B4-BE49-F238E27FC236}">
                <a16:creationId xmlns:a16="http://schemas.microsoft.com/office/drawing/2014/main" id="{9C31EF8A-6D7A-87B1-CE6D-832AA475D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268" y="2052806"/>
            <a:ext cx="5675483" cy="292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8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05473-5EA2-5862-E04D-4D9061D2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A62E3-A077-34AF-2129-4727C8ABA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性能目标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C8542B-A1EF-5BA0-AA2E-F737832E91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1734"/>
                <a:ext cx="6974090" cy="44615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2000" dirty="0">
                    <a:latin typeface="Consolas" panose="020B0609020204030204" pitchFamily="49" charset="0"/>
                  </a:rPr>
                  <a:t>最大化吞吐率：单位时间内完成的分配和释放操作数</a:t>
                </a:r>
                <a:endParaRPr lang="en-US" altLang="zh-CN" sz="20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zh-CN" altLang="en-US" sz="2000" dirty="0">
                    <a:latin typeface="Consolas" panose="020B0609020204030204" pitchFamily="49" charset="0"/>
                  </a:rPr>
                  <a:t>最大化内存利用率：分配给应用程序的内存空间占堆总空间的效率</a:t>
                </a:r>
                <a:endParaRPr lang="en-US" altLang="zh-CN" sz="20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zh-CN" altLang="en-US" sz="2000" dirty="0">
                    <a:latin typeface="Consolas" panose="020B0609020204030204" pitchFamily="49" charset="0"/>
                  </a:rPr>
                  <a:t>有效载荷：单次分配的内存块大小</a:t>
                </a:r>
                <a:endParaRPr lang="en-US" altLang="zh-CN" sz="20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zh-CN" altLang="en-US" sz="2000" dirty="0">
                    <a:latin typeface="Consolas" panose="020B0609020204030204" pitchFamily="49" charset="0"/>
                  </a:rPr>
                  <a:t>聚集有效载荷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2000" dirty="0">
                    <a:latin typeface="Consolas" panose="020B0609020204030204" pitchFamily="49" charset="0"/>
                  </a:rPr>
                  <a:t>第</a:t>
                </a:r>
                <a:r>
                  <a:rPr lang="en-US" altLang="zh-CN" sz="2000" dirty="0">
                    <a:latin typeface="Consolas" panose="020B0609020204030204" pitchFamily="49" charset="0"/>
                  </a:rPr>
                  <a:t>k</a:t>
                </a:r>
                <a:r>
                  <a:rPr lang="zh-CN" altLang="en-US" sz="2000" dirty="0">
                    <a:latin typeface="Consolas" panose="020B0609020204030204" pitchFamily="49" charset="0"/>
                  </a:rPr>
                  <a:t>次分配后，已分配的有效载荷之和</a:t>
                </a:r>
                <a:endParaRPr lang="en-US" altLang="zh-CN" sz="20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zh-CN" altLang="en-US" sz="2000" dirty="0">
                    <a:latin typeface="Consolas" panose="020B0609020204030204" pitchFamily="49" charset="0"/>
                  </a:rPr>
                  <a:t>当前堆大小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堆</m:t>
                    </m:r>
                  </m:oMath>
                </a14:m>
                <a:r>
                  <a:rPr lang="zh-CN" altLang="en-US" sz="2000" dirty="0">
                    <a:latin typeface="Consolas" panose="020B0609020204030204" pitchFamily="49" charset="0"/>
                  </a:rPr>
                  <a:t>的总大小，该值是单调不减的</a:t>
                </a:r>
                <a:endParaRPr lang="en-US" altLang="zh-CN" sz="20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zh-CN" altLang="en-US" sz="2000" dirty="0">
                    <a:latin typeface="Consolas" panose="020B0609020204030204" pitchFamily="49" charset="0"/>
                  </a:rPr>
                  <a:t>峰值利用率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000" dirty="0">
                    <a:latin typeface="Consolas" panose="020B0609020204030204" pitchFamily="49" charset="0"/>
                  </a:rPr>
                  <a:t>，开销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-1</m:t>
                    </m:r>
                  </m:oMath>
                </a14:m>
                <a:endParaRPr lang="zh-CN" altLang="en-US" sz="2000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C8542B-A1EF-5BA0-AA2E-F737832E91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1734"/>
                <a:ext cx="6974090" cy="4461536"/>
              </a:xfrm>
              <a:blipFill>
                <a:blip r:embed="rId2"/>
                <a:stretch>
                  <a:fillRect l="-962" t="-15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 descr="表格&#10;&#10;AI 生成的内容可能不正确。">
            <a:extLst>
              <a:ext uri="{FF2B5EF4-FFF2-40B4-BE49-F238E27FC236}">
                <a16:creationId xmlns:a16="http://schemas.microsoft.com/office/drawing/2014/main" id="{4A7D6CBF-1A8B-871B-9E32-7DB586B54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053" y="61369"/>
            <a:ext cx="3033110" cy="3249494"/>
          </a:xfrm>
          <a:prstGeom prst="rect">
            <a:avLst/>
          </a:prstGeom>
        </p:spPr>
      </p:pic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D18B29DC-6AC7-2004-8C4F-61173FB19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053" y="3310862"/>
            <a:ext cx="3094424" cy="329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6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9F9BD-F65D-7788-617A-C6402C8A5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8E931-F53C-B709-FAF0-039E1173C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碎片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A25766-7F80-95B5-0007-B06323087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734"/>
            <a:ext cx="6974090" cy="4461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内部碎片：使用的块大于有效载荷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地址对齐、分配器数据结构和最小块大小导致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仅依赖分配器策略和过去的请求，易于量化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外部碎片：空闲内存不连续导致的无法分配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取决于分配器策略、过去的请求以及未来可能的请求模式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5843C987-5B7A-CCF2-870A-090B65994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169" y="1396504"/>
            <a:ext cx="4954158" cy="1069174"/>
          </a:xfrm>
          <a:prstGeom prst="rect">
            <a:avLst/>
          </a:prstGeom>
        </p:spPr>
      </p:pic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337873AE-5318-86F7-A8C3-086A05802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976" y="4106954"/>
            <a:ext cx="5496628" cy="205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85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06D2-DF4A-3C44-0BFC-9C2533DA3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2E4D15-652E-4226-3861-93C8C35E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分配问题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FB584C-8DAE-F416-1F28-DB234E8A1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734"/>
            <a:ext cx="10515600" cy="4461536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How do we know how much memory to free given just a pointer?</a:t>
            </a:r>
          </a:p>
          <a:p>
            <a:pPr lvl="1"/>
            <a:r>
              <a:rPr lang="zh-CN" altLang="en-US" sz="1600" dirty="0">
                <a:latin typeface="Consolas" panose="020B0609020204030204" pitchFamily="49" charset="0"/>
              </a:rPr>
              <a:t>在分配器的数据结构中记录块大小？或起止指针位置？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How do we keep track of the free blocks?</a:t>
            </a:r>
          </a:p>
          <a:p>
            <a:pPr lvl="1"/>
            <a:r>
              <a:rPr lang="zh-CN" altLang="en-US" sz="1600" dirty="0">
                <a:latin typeface="Consolas" panose="020B0609020204030204" pitchFamily="49" charset="0"/>
              </a:rPr>
              <a:t>通过数组，链表，树等？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What do we do with the extra space when allocating </a:t>
            </a:r>
            <a:r>
              <a:rPr lang="en-US" altLang="zh-CN" sz="2000" dirty="0" err="1">
                <a:latin typeface="Consolas" panose="020B0609020204030204" pitchFamily="49" charset="0"/>
              </a:rPr>
              <a:t>astructure</a:t>
            </a:r>
            <a:r>
              <a:rPr lang="en-US" altLang="zh-CN" sz="2000" dirty="0">
                <a:latin typeface="Consolas" panose="020B0609020204030204" pitchFamily="49" charset="0"/>
              </a:rPr>
              <a:t> that is smaller than the free block it is placed in?</a:t>
            </a:r>
          </a:p>
          <a:p>
            <a:pPr lvl="1"/>
            <a:r>
              <a:rPr lang="zh-CN" altLang="en-US" sz="1600" dirty="0">
                <a:latin typeface="Consolas" panose="020B0609020204030204" pitchFamily="49" charset="0"/>
              </a:rPr>
              <a:t>分割剩余块为新的小空闲块？或直接分配使用整个块？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How do we pick a block to use for allocation – many might fit?</a:t>
            </a:r>
          </a:p>
          <a:p>
            <a:pPr lvl="1"/>
            <a:r>
              <a:rPr lang="zh-CN" altLang="en-US" sz="1600" dirty="0">
                <a:latin typeface="Consolas" panose="020B0609020204030204" pitchFamily="49" charset="0"/>
              </a:rPr>
              <a:t>取找到的第一块？遍历直至找到最优的块？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How do we reuse a block that has been freed?</a:t>
            </a:r>
          </a:p>
          <a:p>
            <a:pPr lvl="1"/>
            <a:r>
              <a:rPr lang="zh-CN" altLang="en-US" sz="1600" dirty="0">
                <a:latin typeface="Consolas" panose="020B0609020204030204" pitchFamily="49" charset="0"/>
              </a:rPr>
              <a:t>直接释放为空闲块？和前后的空闲块合并？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694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C25F6-FCA0-3A5D-400C-81B53B94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ACD52-945D-F070-E5D6-0EC50769D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隐式空闲链表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23F8CD-A04D-0278-43EE-5ADB94B8C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734"/>
            <a:ext cx="5860172" cy="4461536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块头部额外存储块大小和有效位，块是对齐的，因而可以用低位保存有效位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块大小隐含了下一个块的位置。如此可以从头开始遍历所有的内存块。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可能匹配到多个空闲块，放置策略为：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1"/>
            <a:r>
              <a:rPr lang="zh-CN" altLang="en-US" sz="1600" dirty="0">
                <a:latin typeface="Consolas" panose="020B0609020204030204" pitchFamily="49" charset="0"/>
              </a:rPr>
              <a:t>首次适配：从头开始选择第一个合适的空闲块。对较大块的搜索时间增加。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 lvl="1"/>
            <a:r>
              <a:rPr lang="zh-CN" altLang="en-US" sz="1600" dirty="0">
                <a:latin typeface="Consolas" panose="020B0609020204030204" pitchFamily="49" charset="0"/>
              </a:rPr>
              <a:t>下一次适配：从上一次搜索找到的位置选择第一个合适的空闲块。运行速度快，但是内存利用率降低。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 lvl="1"/>
            <a:r>
              <a:rPr lang="zh-CN" altLang="en-US" sz="1600" dirty="0">
                <a:latin typeface="Consolas" panose="020B0609020204030204" pitchFamily="49" charset="0"/>
              </a:rPr>
              <a:t>最佳适配：选择符合的最小的空闲块。需要彻底搜索堆，吞吐率降低。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分割空闲块。直接分配导致内部碎片，分割可能导致外部碎片。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pic>
        <p:nvPicPr>
          <p:cNvPr id="5" name="图片 4" descr="图表, 图示&#10;&#10;AI 生成的内容可能不正确。">
            <a:extLst>
              <a:ext uri="{FF2B5EF4-FFF2-40B4-BE49-F238E27FC236}">
                <a16:creationId xmlns:a16="http://schemas.microsoft.com/office/drawing/2014/main" id="{C3B1EE49-2465-D5F2-64BC-53B105BEC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670" y="3749439"/>
            <a:ext cx="4753550" cy="1079971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77709DEE-8329-D973-C68D-2E305EEBC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670" y="1601734"/>
            <a:ext cx="4373130" cy="199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13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FE65-358E-C7AB-587A-5B701B5BA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536E62-B6DA-131E-DECD-26BE2F4A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隐式空闲链表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A9361-A4BA-7291-4FD6-9F7594BC2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734"/>
            <a:ext cx="5860172" cy="4461536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合并空闲块：为避免假碎片问题，实际的分配器必须合并相邻的空闲块。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立即合并：在每次一个块被释放时，就合并所有的相邻块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推迟合并：稍晚的时候再进行合并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为每个块增加一个和头部标记相同的脚部标记，对于四种可能的合并情况，均可以在常数时间内，完成对空闲块的合并。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然而更多的标记会导致更多的内部碎片，可以通过去除已分配块的脚标记进行优化。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pic>
        <p:nvPicPr>
          <p:cNvPr id="6" name="图片 5" descr="图片包含 玩具&#10;&#10;AI 生成的内容可能不正确。">
            <a:extLst>
              <a:ext uri="{FF2B5EF4-FFF2-40B4-BE49-F238E27FC236}">
                <a16:creationId xmlns:a16="http://schemas.microsoft.com/office/drawing/2014/main" id="{AC827B34-427C-73A8-43FA-CE14B1B4F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488" y="473865"/>
            <a:ext cx="4578543" cy="889983"/>
          </a:xfrm>
          <a:prstGeom prst="rect">
            <a:avLst/>
          </a:prstGeom>
        </p:spPr>
      </p:pic>
      <p:pic>
        <p:nvPicPr>
          <p:cNvPr id="9" name="图片 8" descr="表格&#10;&#10;AI 生成的内容可能不正确。">
            <a:extLst>
              <a:ext uri="{FF2B5EF4-FFF2-40B4-BE49-F238E27FC236}">
                <a16:creationId xmlns:a16="http://schemas.microsoft.com/office/drawing/2014/main" id="{C514E853-A7A2-59CB-FE94-DDCDDC97C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8302" y="263835"/>
            <a:ext cx="1931894" cy="1561865"/>
          </a:xfrm>
          <a:prstGeom prst="rect">
            <a:avLst/>
          </a:prstGeom>
        </p:spPr>
      </p:pic>
      <p:pic>
        <p:nvPicPr>
          <p:cNvPr id="11" name="图片 10" descr="图示, 表格&#10;&#10;AI 生成的内容可能不正确。">
            <a:extLst>
              <a:ext uri="{FF2B5EF4-FFF2-40B4-BE49-F238E27FC236}">
                <a16:creationId xmlns:a16="http://schemas.microsoft.com/office/drawing/2014/main" id="{6ABCC272-E096-7E0A-FF11-32487555A2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6786" y="1934440"/>
            <a:ext cx="4793410" cy="4305044"/>
          </a:xfrm>
          <a:prstGeom prst="rect">
            <a:avLst/>
          </a:prstGeom>
        </p:spPr>
      </p:pic>
      <p:pic>
        <p:nvPicPr>
          <p:cNvPr id="13" name="图片 12" descr="图形用户界面, 应用程序, Word&#10;&#10;AI 生成的内容可能不正确。">
            <a:extLst>
              <a:ext uri="{FF2B5EF4-FFF2-40B4-BE49-F238E27FC236}">
                <a16:creationId xmlns:a16="http://schemas.microsoft.com/office/drawing/2014/main" id="{4C6E966D-F574-EA0A-CB35-D32F4B359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9003" y="2647345"/>
            <a:ext cx="4688975" cy="25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91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35E21-9275-4AB3-BDF9-8102F1C0F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C959F-657D-6006-A244-46D736A30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隐式空闲链表总结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9C3A6A-A206-5EF3-9773-AAF7E1B26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1734"/>
            <a:ext cx="10515599" cy="4461536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实现方式：简单明白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分配复杂度：最坏情况下线性时间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释放复杂度：即便是考虑合并，最坏情况下常数时间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开销：取决于放置策略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由于分配的线性时间复杂度原因，不在实际的分配器中使用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然而，空闲块分割和合并的思想是普遍的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41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625</Words>
  <Application>Microsoft Office PowerPoint</Application>
  <PresentationFormat>宽屏</PresentationFormat>
  <Paragraphs>55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等线 Light</vt:lpstr>
      <vt:lpstr>黑体</vt:lpstr>
      <vt:lpstr>Arial</vt:lpstr>
      <vt:lpstr>Calibri</vt:lpstr>
      <vt:lpstr>Cambria Math</vt:lpstr>
      <vt:lpstr>Consolas</vt:lpstr>
      <vt:lpstr>Office 主题​​</vt:lpstr>
      <vt:lpstr>动态内存分配</vt:lpstr>
      <vt:lpstr>PowerPoint 演示文稿</vt:lpstr>
      <vt:lpstr>显式分配器</vt:lpstr>
      <vt:lpstr>性能目标</vt:lpstr>
      <vt:lpstr>碎片</vt:lpstr>
      <vt:lpstr>分配问题</vt:lpstr>
      <vt:lpstr>隐式空闲链表</vt:lpstr>
      <vt:lpstr>隐式空闲链表</vt:lpstr>
      <vt:lpstr>隐式空闲链表总结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Zhiyu060309@163.com</dc:creator>
  <cp:lastModifiedBy>zhiyu060309@163.com</cp:lastModifiedBy>
  <cp:revision>222</cp:revision>
  <dcterms:created xsi:type="dcterms:W3CDTF">2025-12-09T09:35:33Z</dcterms:created>
  <dcterms:modified xsi:type="dcterms:W3CDTF">2025-12-09T17:01:16Z</dcterms:modified>
</cp:coreProperties>
</file>