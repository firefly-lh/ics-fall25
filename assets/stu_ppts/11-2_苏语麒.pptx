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2" r:id="rId5"/>
    <p:sldId id="263" r:id="rId6"/>
    <p:sldId id="264" r:id="rId7"/>
    <p:sldId id="271" r:id="rId8"/>
    <p:sldId id="272" r:id="rId9"/>
    <p:sldId id="265" r:id="rId10"/>
    <p:sldId id="273" r:id="rId11"/>
    <p:sldId id="266" r:id="rId12"/>
    <p:sldId id="267" r:id="rId13"/>
    <p:sldId id="268" r:id="rId14"/>
    <p:sldId id="269" r:id="rId15"/>
    <p:sldId id="274" r:id="rId16"/>
    <p:sldId id="258" r:id="rId17"/>
    <p:sldId id="275" r:id="rId18"/>
    <p:sldId id="26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8" autoAdjust="0"/>
    <p:restoredTop sz="94660"/>
  </p:normalViewPr>
  <p:slideViewPr>
    <p:cSldViewPr snapToGrid="0">
      <p:cViewPr varScale="1">
        <p:scale>
          <a:sx n="91" d="100"/>
          <a:sy n="91" d="100"/>
        </p:scale>
        <p:origin x="6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E586B-97D3-8CAE-9B55-89B57913D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AC5CD1-FDE7-3414-28BF-3D9B3F79C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2826FE-9348-C71E-B16C-8395589F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615FD1-3090-69FE-9BA2-00814AD8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AEE56-D170-4D91-248F-BE41BF4D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93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E8C81-FBE8-7477-7B81-2DFB39AB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AE3D5-8304-2507-7F2C-BA36B6E6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DBBF2-B59B-8DD6-1D6C-410DAFD7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8F103-0745-5564-5271-7C546D1D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85B657-D9DC-C1BB-7FCE-FDA24414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90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4E0FF-152C-03BE-C05E-535565C5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AB5FB-01B3-41C8-4B83-7763AB49E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7326F-811C-AE31-C633-218788BA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552491-03EC-2E13-CDB9-32883B95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665376-DB20-64BF-03B6-962DB111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47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CC137-006E-5B3D-1012-6D84A594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6231E-D97B-9F53-7B4A-1D775E03F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8BD40D-88C0-A390-657D-3D385215D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5DDCA2-9383-F392-793D-89BBEA2F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4D265-639E-1337-66BF-CC7988CD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B08A70-027A-E5F8-E399-423B3A91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1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D8964-FE62-68F9-8322-3AA8AB76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37DC08-9261-4336-A4A2-CC7467B7B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CBFF7-894A-7FB1-0983-220C5E821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A75C7D-35B3-34AD-2D09-34A4DF4B7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868EBA-91F4-A3F4-406C-3D6D925F0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814F1A-7BA3-066A-2342-D6BA497E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058BCE-14E8-2E40-858A-14FF30ED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A887BD-4BA5-6C72-83F6-7A9AAB5A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86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3F4AC-8BF3-2B7B-88B8-9874842A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4866DE-A882-073D-03D9-716D7718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B53586-F321-2758-7332-8BE180C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750DB4-4C66-2AFC-29CC-F7876700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3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F4F9AC-FF04-700F-D75C-93AF967C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832758-FAFF-82BA-DD22-4B85AA47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23514A-5A43-735D-FCD0-7709F742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09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122FE-1A4C-EF36-694C-1DE996BC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5FC93-686F-07AD-A5DB-7B5D993CC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C03509-58FE-D83A-B9C5-8528EA6B1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E1A5F3-BF44-7188-3ABE-B818B79B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414F04-447A-C364-7605-FD7626E9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32E8B-2D27-1CC2-431A-CA1CC1D3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56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AD220-B1C4-9F61-E60D-95AF6918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C50BA7-EEE4-1A0B-9271-07EF8267C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AC2604-EAD7-2A33-4FB9-893D55A4B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1EABF3-2E6A-E202-0276-02372C0D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C329FF-DE04-A9B8-A242-AE6F276F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C61E73-CD3B-A35F-0669-9507B7B8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1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DB413-6D3D-BB95-CFC5-D626FBA2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F1EB5C-EFBB-D00D-4706-5FD1846F7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6DA29-D978-F848-8D66-8B714DA8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B82A6-9254-477E-9C94-E379F6C9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D6D81-7773-ECE0-9076-3BD12E61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06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5F809D-ED18-C0D6-F005-51CED7B34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B4FFB4-FA24-D0E7-66D4-49D404591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F6350F-AB26-807A-EAFD-C176B817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3FE46-3474-6DA4-F857-B5E523E0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6481DB-A4BC-B32F-3008-4B23261E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9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76DA78-F6E3-11D4-CA56-FE126A4EC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87793-E938-4674-3512-978181E10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2F02B-BE25-5DFD-1933-2FF3C5CFF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1C57F-981C-422E-AA27-CDB678F8CB8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53089-CF2E-BC17-D2BF-852C29DA7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9BC3F-8EA0-21FF-2CE1-690BF048E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0441E-63E2-1A2F-267D-4D71794D2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研讨题</a:t>
            </a:r>
            <a:r>
              <a:rPr lang="en-US" altLang="zh-CN" dirty="0"/>
              <a:t>11-2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072E2B-D716-85DD-7C3C-FDE4B93A3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苏语麒</a:t>
            </a:r>
          </a:p>
        </p:txBody>
      </p:sp>
    </p:spTree>
    <p:extLst>
      <p:ext uri="{BB962C8B-B14F-4D97-AF65-F5344CB8AC3E}">
        <p14:creationId xmlns:p14="http://schemas.microsoft.com/office/powerpoint/2010/main" val="102649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DB6B9-BE07-BA46-492E-F005F5F8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（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1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）基于课件第 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23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页，解读程序代码、时序图、流水线结构示意图三者的对应关系。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549D2D-0CC5-150B-C08B-6AB838A9D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3"/>
          <a:stretch>
            <a:fillRect/>
          </a:stretch>
        </p:blipFill>
        <p:spPr>
          <a:xfrm>
            <a:off x="2012731" y="1370641"/>
            <a:ext cx="7817150" cy="54453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976DDB-BA1A-8533-22C0-CB2DE374FD3B}"/>
              </a:ext>
            </a:extLst>
          </p:cNvPr>
          <p:cNvSpPr txBox="1"/>
          <p:nvPr/>
        </p:nvSpPr>
        <p:spPr>
          <a:xfrm>
            <a:off x="1702676" y="20705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程序代码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08CD94-830F-9359-38F3-CA3A6E63DEDA}"/>
              </a:ext>
            </a:extLst>
          </p:cNvPr>
          <p:cNvSpPr txBox="1"/>
          <p:nvPr/>
        </p:nvSpPr>
        <p:spPr>
          <a:xfrm>
            <a:off x="9144000" y="18858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时序图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B9F512-B645-51B5-6578-73CDE1317174}"/>
              </a:ext>
            </a:extLst>
          </p:cNvPr>
          <p:cNvSpPr txBox="1"/>
          <p:nvPr/>
        </p:nvSpPr>
        <p:spPr>
          <a:xfrm>
            <a:off x="8168935" y="4440620"/>
            <a:ext cx="2383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时钟周期为</a:t>
            </a:r>
            <a:r>
              <a:rPr lang="en-US" altLang="zh-CN" dirty="0"/>
              <a:t>5</a:t>
            </a:r>
            <a:r>
              <a:rPr lang="zh-CN" altLang="en-US" dirty="0"/>
              <a:t>时扩展的</a:t>
            </a:r>
            <a:endParaRPr lang="en-US" altLang="zh-CN" dirty="0"/>
          </a:p>
          <a:p>
            <a:r>
              <a:rPr lang="zh-CN" altLang="en-US" dirty="0"/>
              <a:t>流水线结构图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5FDF0D-6C2A-9589-3220-2AA194D16541}"/>
              </a:ext>
            </a:extLst>
          </p:cNvPr>
          <p:cNvSpPr txBox="1"/>
          <p:nvPr/>
        </p:nvSpPr>
        <p:spPr>
          <a:xfrm>
            <a:off x="8162835" y="5302693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指令从下往上流动</a:t>
            </a:r>
          </a:p>
        </p:txBody>
      </p:sp>
    </p:spTree>
    <p:extLst>
      <p:ext uri="{BB962C8B-B14F-4D97-AF65-F5344CB8AC3E}">
        <p14:creationId xmlns:p14="http://schemas.microsoft.com/office/powerpoint/2010/main" val="158541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5B7E-843D-932B-4AC4-E067E7C5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0C1BB-D428-1E27-16BE-E59D4980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24~27 </a:t>
            </a:r>
            <a:r>
              <a:rPr lang="zh-CN" altLang="en-US" sz="2000" dirty="0"/>
              <a:t>页，解读如何用 </a:t>
            </a:r>
            <a:r>
              <a:rPr lang="en-US" altLang="zh-CN" sz="2000" dirty="0" err="1"/>
              <a:t>nop</a:t>
            </a:r>
            <a:r>
              <a:rPr lang="en-US" altLang="zh-CN" sz="2000" dirty="0"/>
              <a:t> </a:t>
            </a:r>
            <a:r>
              <a:rPr lang="zh-CN" altLang="en-US" sz="2000" dirty="0"/>
              <a:t>指令解决数据冒险，然后分析该方法的缺点。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3B48379-A870-1A91-DE2F-7F5392C25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7"/>
          <a:stretch>
            <a:fillRect/>
          </a:stretch>
        </p:blipFill>
        <p:spPr>
          <a:xfrm>
            <a:off x="579171" y="1408686"/>
            <a:ext cx="3145270" cy="31014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ADBBE5-AEC0-C8BD-D9B5-9CBFF21FB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5" t="2345" r="1005" b="1918"/>
          <a:stretch>
            <a:fillRect/>
          </a:stretch>
        </p:blipFill>
        <p:spPr>
          <a:xfrm>
            <a:off x="4114800" y="1319213"/>
            <a:ext cx="6958013" cy="5072062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551F9F1-64CD-79A9-913D-119BA6CB5C52}"/>
              </a:ext>
            </a:extLst>
          </p:cNvPr>
          <p:cNvCxnSpPr>
            <a:cxnSpLocks/>
          </p:cNvCxnSpPr>
          <p:nvPr/>
        </p:nvCxnSpPr>
        <p:spPr>
          <a:xfrm flipH="1" flipV="1">
            <a:off x="3733800" y="1809750"/>
            <a:ext cx="1933575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838FF3A1-FEFF-2D00-6E33-302CC197780A}"/>
              </a:ext>
            </a:extLst>
          </p:cNvPr>
          <p:cNvSpPr/>
          <p:nvPr/>
        </p:nvSpPr>
        <p:spPr>
          <a:xfrm>
            <a:off x="8486775" y="1990725"/>
            <a:ext cx="385763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49C4CA8-3645-516C-AFB7-A6B362329C6B}"/>
              </a:ext>
            </a:extLst>
          </p:cNvPr>
          <p:cNvSpPr/>
          <p:nvPr/>
        </p:nvSpPr>
        <p:spPr>
          <a:xfrm>
            <a:off x="8839211" y="2238377"/>
            <a:ext cx="385763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D1331C3-9AAB-40FA-7D08-0BD8C490D2C6}"/>
              </a:ext>
            </a:extLst>
          </p:cNvPr>
          <p:cNvSpPr/>
          <p:nvPr/>
        </p:nvSpPr>
        <p:spPr>
          <a:xfrm>
            <a:off x="9201162" y="3192465"/>
            <a:ext cx="385763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34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A8A1-5C30-C49F-A48B-8111547B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50897-7BA5-1A67-9A97-7C0A4936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24~27 </a:t>
            </a:r>
            <a:r>
              <a:rPr lang="zh-CN" altLang="en-US" sz="2000" dirty="0"/>
              <a:t>页，解读如何用 </a:t>
            </a:r>
            <a:r>
              <a:rPr lang="en-US" altLang="zh-CN" sz="2000" dirty="0" err="1"/>
              <a:t>nop</a:t>
            </a:r>
            <a:r>
              <a:rPr lang="en-US" altLang="zh-CN" sz="2000" dirty="0"/>
              <a:t> </a:t>
            </a:r>
            <a:r>
              <a:rPr lang="zh-CN" altLang="en-US" sz="2000" dirty="0"/>
              <a:t>指令解决数据冒险，然后分析该方法的缺点。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7CE6009-93CD-5A5F-963A-6BCD6C80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6" y="1514476"/>
            <a:ext cx="4462464" cy="17097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BB6CADD-D1FB-E9F3-C191-656DA9C68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28" y="3971926"/>
            <a:ext cx="4321052" cy="183356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DF5F73-4C08-0369-EE23-0F9F53362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1311027"/>
            <a:ext cx="4434629" cy="211797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F5C1E14-7A6D-2686-E04E-08A7EAB30E2D}"/>
              </a:ext>
            </a:extLst>
          </p:cNvPr>
          <p:cNvSpPr txBox="1"/>
          <p:nvPr/>
        </p:nvSpPr>
        <p:spPr>
          <a:xfrm>
            <a:off x="5295810" y="4293044"/>
            <a:ext cx="5615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操作数不能被前面</a:t>
            </a:r>
            <a:r>
              <a:rPr lang="en-US" altLang="zh-CN" b="1" dirty="0"/>
              <a:t>3</a:t>
            </a:r>
            <a:r>
              <a:rPr lang="zh-CN" altLang="en-US" dirty="0"/>
              <a:t>条指令改变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缺点：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经常有一条指令更新寄存器，下一条指令马上使用该寄存器的情况。流水线暂停</a:t>
            </a:r>
            <a:r>
              <a:rPr lang="en-US" altLang="zh-CN" dirty="0"/>
              <a:t>3</a:t>
            </a:r>
            <a:r>
              <a:rPr lang="zh-CN" altLang="en-US" dirty="0"/>
              <a:t>周期。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严重降低吞吐量</a:t>
            </a:r>
          </a:p>
        </p:txBody>
      </p:sp>
    </p:spTree>
    <p:extLst>
      <p:ext uri="{BB962C8B-B14F-4D97-AF65-F5344CB8AC3E}">
        <p14:creationId xmlns:p14="http://schemas.microsoft.com/office/powerpoint/2010/main" val="1867760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305F-B60D-F612-3361-DEED1D09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8F33C-6214-D353-331B-D62CFB49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28 </a:t>
            </a:r>
            <a:r>
              <a:rPr lang="zh-CN" altLang="en-US" sz="2000" dirty="0"/>
              <a:t>页，解释 </a:t>
            </a:r>
            <a:r>
              <a:rPr lang="en-US" altLang="zh-CN" sz="2000" dirty="0"/>
              <a:t>bubble </a:t>
            </a:r>
            <a:r>
              <a:rPr lang="zh-CN" altLang="en-US" sz="2000" dirty="0"/>
              <a:t>和 </a:t>
            </a:r>
            <a:r>
              <a:rPr lang="en-US" altLang="zh-CN" sz="2000" dirty="0" err="1"/>
              <a:t>nop</a:t>
            </a:r>
            <a:r>
              <a:rPr lang="en-US" altLang="zh-CN" sz="2000" dirty="0"/>
              <a:t> </a:t>
            </a:r>
            <a:r>
              <a:rPr lang="zh-CN" altLang="en-US" sz="2000" dirty="0"/>
              <a:t>指令的区别和联系。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C95631-C312-5842-BBB7-D1613540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81"/>
          <a:stretch>
            <a:fillRect/>
          </a:stretch>
        </p:blipFill>
        <p:spPr>
          <a:xfrm>
            <a:off x="1634423" y="1514751"/>
            <a:ext cx="8586887" cy="497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E5533-6463-8D56-E3C9-B5C4DC74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94396-7A5C-3051-E875-E458830B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29 </a:t>
            </a:r>
            <a:r>
              <a:rPr lang="zh-CN" altLang="en-US" sz="2000" dirty="0"/>
              <a:t>页及后续几页，解读</a:t>
            </a:r>
            <a:r>
              <a:rPr lang="zh-CN" altLang="en-US" sz="2000" b="1" dirty="0">
                <a:solidFill>
                  <a:srgbClr val="0070C0"/>
                </a:solidFill>
              </a:rPr>
              <a:t>如何实现</a:t>
            </a:r>
            <a:r>
              <a:rPr lang="zh-CN" altLang="en-US" sz="2000" dirty="0"/>
              <a:t>流水线暂停（</a:t>
            </a:r>
            <a:r>
              <a:rPr lang="en-US" altLang="zh-CN" sz="2000" dirty="0"/>
              <a:t>Stall</a:t>
            </a:r>
            <a:r>
              <a:rPr lang="zh-CN" altLang="en-US" sz="2000" dirty="0"/>
              <a:t>），从而消除数据冒险，然后分析该方法的缺点。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2C48B-F4B5-8BF9-B390-EE0F6F70D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069" y="3429000"/>
            <a:ext cx="10515600" cy="4351338"/>
          </a:xfrm>
        </p:spPr>
        <p:txBody>
          <a:bodyPr>
            <a:normAutofit/>
          </a:bodyPr>
          <a:lstStyle/>
          <a:p>
            <a:r>
              <a:rPr lang="en-IE" altLang="zh-CN" sz="2000" b="1" dirty="0" err="1"/>
              <a:t>E.g.“load</a:t>
            </a:r>
            <a:r>
              <a:rPr lang="en-IE" altLang="zh-CN" sz="2000" b="1" dirty="0"/>
              <a:t>/use hazard”</a:t>
            </a:r>
            <a:r>
              <a:rPr lang="zh-CN" altLang="en-IE" sz="2000" b="1" dirty="0"/>
              <a:t>：</a:t>
            </a:r>
            <a:endParaRPr lang="zh-CN" altLang="en-US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FE0A75-A12D-C7EB-7240-C992FE79B769}"/>
              </a:ext>
            </a:extLst>
          </p:cNvPr>
          <p:cNvSpPr txBox="1"/>
          <p:nvPr/>
        </p:nvSpPr>
        <p:spPr>
          <a:xfrm>
            <a:off x="1387365" y="3922439"/>
            <a:ext cx="8313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E_icode ∈ { IMRMOVQ, IPOPQ } &amp;&amp; E_dstM ∈ { d_srcA, d_srcB }</a:t>
            </a:r>
            <a:endParaRPr lang="en-US" altLang="zh-CN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r>
              <a:rPr lang="zh-CN" altLang="en-US" dirty="0"/>
              <a:t>执行阶段是“从内存取数据”的指令，而它要写入的寄存器正好被 </a:t>
            </a:r>
            <a:r>
              <a:rPr lang="en-US" altLang="zh-CN" dirty="0"/>
              <a:t>Decode </a:t>
            </a:r>
            <a:r>
              <a:rPr lang="zh-CN" altLang="en-US" dirty="0"/>
              <a:t>阶段的下一条指令读取。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8A5892-21E6-EDB7-E5FF-A801E1DA2620}"/>
              </a:ext>
            </a:extLst>
          </p:cNvPr>
          <p:cNvSpPr txBox="1"/>
          <p:nvPr/>
        </p:nvSpPr>
        <p:spPr>
          <a:xfrm>
            <a:off x="959068" y="1867779"/>
            <a:ext cx="68869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cs typeface="Cascadia Mono SemiLight" panose="020B0609020000020004" pitchFamily="49" charset="0"/>
              </a:rPr>
              <a:t>Stall Condition</a:t>
            </a:r>
            <a:r>
              <a:rPr lang="zh-CN" altLang="en-US" sz="2400" b="1" dirty="0">
                <a:cs typeface="Cascadia Mono SemiLight" panose="020B0609020000020004" pitchFamily="49" charset="0"/>
              </a:rPr>
              <a:t>暂停控制逻辑发现数据冒险</a:t>
            </a:r>
            <a:endParaRPr lang="en-US" altLang="zh-CN" sz="2400" b="1" dirty="0">
              <a:cs typeface="Cascadia Mono SemiLight" panose="020B06090200000200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cs typeface="Cascadia Mono SemiLight" panose="020B0609020000020004" pitchFamily="49" charset="0"/>
              </a:rPr>
              <a:t>srcA</a:t>
            </a:r>
            <a:r>
              <a:rPr lang="en-US" altLang="zh-CN" sz="2000" dirty="0">
                <a:cs typeface="Cascadia Mono SemiLight" panose="020B0609020000020004" pitchFamily="49" charset="0"/>
              </a:rPr>
              <a:t>, </a:t>
            </a:r>
            <a:r>
              <a:rPr lang="en-US" altLang="zh-CN" sz="2000" dirty="0" err="1">
                <a:cs typeface="Cascadia Mono SemiLight" panose="020B0609020000020004" pitchFamily="49" charset="0"/>
              </a:rPr>
              <a:t>srcB</a:t>
            </a:r>
            <a:r>
              <a:rPr lang="en-US" altLang="zh-CN" sz="2000" dirty="0">
                <a:cs typeface="Cascadia Mono SemiLight" panose="020B0609020000020004" pitchFamily="49" charset="0"/>
              </a:rPr>
              <a:t> vs </a:t>
            </a:r>
            <a:r>
              <a:rPr lang="en-US" altLang="zh-CN" sz="2000" dirty="0" err="1">
                <a:cs typeface="Cascadia Mono SemiLight" panose="020B0609020000020004" pitchFamily="49" charset="0"/>
              </a:rPr>
              <a:t>dstE</a:t>
            </a:r>
            <a:r>
              <a:rPr lang="en-US" altLang="zh-CN" sz="2000" dirty="0">
                <a:cs typeface="Cascadia Mono SemiLight" panose="020B0609020000020004" pitchFamily="49" charset="0"/>
              </a:rPr>
              <a:t>, </a:t>
            </a:r>
            <a:r>
              <a:rPr lang="en-US" altLang="zh-CN" sz="2000" dirty="0" err="1">
                <a:cs typeface="Cascadia Mono SemiLight" panose="020B0609020000020004" pitchFamily="49" charset="0"/>
              </a:rPr>
              <a:t>dstM</a:t>
            </a:r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Cascadia Mono SemiLight" panose="020B0609020000020004" pitchFamily="49" charset="0"/>
              </a:rPr>
              <a:t>No stalling: reg 0xF</a:t>
            </a:r>
            <a:endParaRPr lang="en-IE" altLang="zh-CN" sz="2000" dirty="0"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9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404CF-52EE-C6F4-3E4C-0D2C166B9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1174B-FE05-2229-131E-E36B1044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29 </a:t>
            </a:r>
            <a:r>
              <a:rPr lang="zh-CN" altLang="en-US" sz="2000" dirty="0"/>
              <a:t>页及后续几页，解读</a:t>
            </a:r>
            <a:r>
              <a:rPr lang="zh-CN" altLang="en-US" sz="2000" b="1" dirty="0">
                <a:solidFill>
                  <a:srgbClr val="0070C0"/>
                </a:solidFill>
              </a:rPr>
              <a:t>如何实现</a:t>
            </a:r>
            <a:r>
              <a:rPr lang="zh-CN" altLang="en-US" sz="2000" dirty="0"/>
              <a:t>流水线暂停（</a:t>
            </a:r>
            <a:r>
              <a:rPr lang="en-US" altLang="zh-CN" sz="2000" dirty="0"/>
              <a:t>Stall</a:t>
            </a:r>
            <a:r>
              <a:rPr lang="zh-CN" altLang="en-US" sz="2000" dirty="0"/>
              <a:t>），从而消除数据冒险，然后分析该方法的缺点。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00BFD-CA2C-5974-696B-76DA3955B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734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Data hazard / Control hazard</a:t>
            </a:r>
          </a:p>
          <a:p>
            <a:r>
              <a:rPr lang="en-US" altLang="zh-CN" sz="2000" dirty="0"/>
              <a:t>Stall, bubble</a:t>
            </a:r>
            <a:r>
              <a:rPr lang="zh-CN" altLang="en-US" sz="2000" dirty="0"/>
              <a:t>常常结合使用</a:t>
            </a:r>
            <a:r>
              <a:rPr lang="en-US" altLang="zh-CN" sz="2000" dirty="0"/>
              <a:t>: </a:t>
            </a:r>
            <a:r>
              <a:rPr lang="zh-CN" altLang="en-US" sz="2000" dirty="0"/>
              <a:t>一个</a:t>
            </a:r>
            <a:r>
              <a:rPr lang="en-US" altLang="zh-CN" sz="2000" dirty="0"/>
              <a:t>Stall</a:t>
            </a:r>
            <a:r>
              <a:rPr lang="zh-CN" altLang="en-US" sz="2000" dirty="0"/>
              <a:t>操作伴随着在下一个流水级插入一个</a:t>
            </a:r>
            <a:r>
              <a:rPr lang="en-US" altLang="zh-CN" sz="2000" dirty="0"/>
              <a:t>Bubble</a:t>
            </a:r>
          </a:p>
          <a:p>
            <a:r>
              <a:rPr lang="en-US" altLang="zh-CN" sz="2000" dirty="0"/>
              <a:t>Stall, bubble</a:t>
            </a:r>
            <a:r>
              <a:rPr lang="zh-CN" altLang="en-US" sz="2000" dirty="0"/>
              <a:t>不能同时为</a:t>
            </a:r>
            <a:r>
              <a:rPr lang="en-US" altLang="zh-CN" sz="2000" dirty="0"/>
              <a:t>1</a:t>
            </a:r>
          </a:p>
          <a:p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F637EB-DB5C-BEDA-728A-FCBA660D7CE4}"/>
              </a:ext>
            </a:extLst>
          </p:cNvPr>
          <p:cNvSpPr txBox="1"/>
          <p:nvPr/>
        </p:nvSpPr>
        <p:spPr>
          <a:xfrm>
            <a:off x="838200" y="1690688"/>
            <a:ext cx="328711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Cascadia Mono SemiLight" panose="020B0609020000020004" pitchFamily="49" charset="0"/>
              </a:rPr>
              <a:t>硬件实现：流水线寄存器</a:t>
            </a:r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Cascadia Mono SemiLight" panose="020B0609020000020004" pitchFamily="49" charset="0"/>
              </a:rPr>
              <a:t>Stall vs Bubble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600" dirty="0"/>
              <a:t>Stall</a:t>
            </a:r>
            <a:r>
              <a:rPr lang="zh-CN" altLang="en-US" sz="1600" dirty="0"/>
              <a:t>的实现</a:t>
            </a:r>
            <a:r>
              <a:rPr lang="en-US" altLang="zh-CN" sz="1600" dirty="0"/>
              <a:t>: </a:t>
            </a:r>
            <a:r>
              <a:rPr lang="zh-CN" altLang="en-US" sz="1600" dirty="0"/>
              <a:t>通过将寄存器输出反馈到输入来实现</a:t>
            </a:r>
            <a:r>
              <a:rPr lang="zh-CN" altLang="en-US" sz="1600" b="1" dirty="0"/>
              <a:t>保持原值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600" dirty="0"/>
              <a:t>Bubble</a:t>
            </a:r>
            <a:r>
              <a:rPr lang="zh-CN" altLang="en-US" sz="1600" dirty="0"/>
              <a:t>的实现</a:t>
            </a:r>
            <a:r>
              <a:rPr lang="en-US" altLang="zh-CN" sz="1600" dirty="0"/>
              <a:t>: </a:t>
            </a:r>
            <a:r>
              <a:rPr lang="zh-CN" altLang="en-US" sz="1600" dirty="0"/>
              <a:t>通过用硬连线的</a:t>
            </a:r>
            <a:r>
              <a:rPr lang="en-US" altLang="zh-CN" sz="1600" b="1" dirty="0"/>
              <a:t>NOP</a:t>
            </a:r>
            <a:r>
              <a:rPr lang="zh-CN" altLang="en-US" sz="1600" b="1" dirty="0"/>
              <a:t>值</a:t>
            </a:r>
            <a:r>
              <a:rPr lang="zh-CN" altLang="en-US" sz="1600" dirty="0"/>
              <a:t>替换输入或输出来实现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E" altLang="zh-CN" sz="2000" dirty="0">
              <a:cs typeface="Cascadia Mono SemiLight" panose="020B0609020000020004" pitchFamily="49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675DB43-D0B2-2216-6AD5-F830C9FA8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958" y="1268095"/>
            <a:ext cx="7546428" cy="347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8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B5EBA-41D2-368F-916F-856C9E2F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AD24F-144D-3DB8-C4F0-8D5602B4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29 </a:t>
            </a:r>
            <a:r>
              <a:rPr lang="zh-CN" altLang="en-US" sz="2000" dirty="0"/>
              <a:t>页及后续几页，解读如何实现流水线暂停（</a:t>
            </a:r>
            <a:r>
              <a:rPr lang="en-US" altLang="zh-CN" sz="2000" dirty="0"/>
              <a:t>Stall</a:t>
            </a:r>
            <a:r>
              <a:rPr lang="zh-CN" altLang="en-US" sz="2000" dirty="0"/>
              <a:t>），从而消除数据冒险，然后分析该方法的缺点。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A10FC6-2D93-D7BF-C1C7-BD25FD7306B8}"/>
              </a:ext>
            </a:extLst>
          </p:cNvPr>
          <p:cNvSpPr txBox="1"/>
          <p:nvPr/>
        </p:nvSpPr>
        <p:spPr>
          <a:xfrm>
            <a:off x="959069" y="1867779"/>
            <a:ext cx="73388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Cascadia Mono SemiLight" panose="020B0609020000020004" pitchFamily="49" charset="0"/>
              </a:rPr>
              <a:t>暂停同时插入</a:t>
            </a:r>
            <a:r>
              <a:rPr lang="en-US" altLang="zh-CN" sz="2000" dirty="0">
                <a:cs typeface="Cascadia Mono SemiLight" panose="020B0609020000020004" pitchFamily="49" charset="0"/>
              </a:rPr>
              <a:t>bubble</a:t>
            </a:r>
            <a:r>
              <a:rPr lang="zh-CN" altLang="en-US" sz="2000" dirty="0">
                <a:cs typeface="Cascadia Mono SemiLight" panose="020B0609020000020004" pitchFamily="49" charset="0"/>
              </a:rPr>
              <a:t>原因：</a:t>
            </a:r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Cascadia Mono SemiLight" panose="020B0609020000020004" pitchFamily="49" charset="0"/>
              </a:rPr>
              <a:t>清除指令的垃圾值</a:t>
            </a:r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Cascadia Mono SemiLight" panose="020B0609020000020004" pitchFamily="49" charset="0"/>
              </a:rPr>
              <a:t>防止控制信号污染（</a:t>
            </a:r>
            <a:r>
              <a:rPr lang="en-US" altLang="zh-CN" dirty="0"/>
              <a:t>ALU</a:t>
            </a:r>
            <a:r>
              <a:rPr lang="zh-CN" altLang="en-US" dirty="0"/>
              <a:t>操作类型、内存读写使能等</a:t>
            </a:r>
            <a:r>
              <a:rPr lang="zh-CN" altLang="en-US" sz="2000" dirty="0">
                <a:cs typeface="Cascadia Mono SemiLight" panose="020B0609020000020004" pitchFamily="49" charset="0"/>
              </a:rPr>
              <a:t>）</a:t>
            </a:r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cs typeface="Cascadia Mono SemiLight" panose="020B0609020000020004" pitchFamily="49" charset="0"/>
            </a:endParaRPr>
          </a:p>
          <a:p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cs typeface="Cascadia Mono SemiLight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Cascadia Mono SemiLight" panose="020B0609020000020004" pitchFamily="49" charset="0"/>
              </a:rPr>
              <a:t>缺点：同</a:t>
            </a:r>
            <a:r>
              <a:rPr lang="en-US" altLang="zh-CN" sz="2000" dirty="0" err="1">
                <a:cs typeface="Cascadia Mono SemiLight" panose="020B0609020000020004" pitchFamily="49" charset="0"/>
              </a:rPr>
              <a:t>nop</a:t>
            </a:r>
            <a:r>
              <a:rPr lang="zh-CN" altLang="en-US" sz="2000" dirty="0">
                <a:cs typeface="Cascadia Mono SemiLight" panose="020B0609020000020004" pitchFamily="49" charset="0"/>
              </a:rPr>
              <a:t>，流水线暂停</a:t>
            </a:r>
            <a:endParaRPr lang="en-IE" altLang="zh-CN" sz="2000" dirty="0"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809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40AC-C35F-370B-EC25-66D5548D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B284F-E8BA-6A6F-E4D3-F830AAE2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35 </a:t>
            </a:r>
            <a:r>
              <a:rPr lang="zh-CN" altLang="en-US" sz="2000" dirty="0"/>
              <a:t>页及后续几页，解读如何通过数据前递（</a:t>
            </a:r>
            <a:r>
              <a:rPr lang="en-US" altLang="zh-CN" sz="2000" dirty="0"/>
              <a:t>Forwarding</a:t>
            </a:r>
            <a:r>
              <a:rPr lang="zh-CN" altLang="en-US" sz="2000" dirty="0"/>
              <a:t>）消除数据冒险，还避免了流水线暂停的负面影响。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FA7BB8-8F2C-9BED-FFD8-40F41C2E9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903" y="2119304"/>
            <a:ext cx="3552652" cy="433266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BB91BF-E6B5-E247-BD39-3A0A385D2F2E}"/>
              </a:ext>
            </a:extLst>
          </p:cNvPr>
          <p:cNvSpPr txBox="1"/>
          <p:nvPr/>
        </p:nvSpPr>
        <p:spPr>
          <a:xfrm>
            <a:off x="956441" y="1749972"/>
            <a:ext cx="22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Example 1: </a:t>
            </a:r>
            <a:r>
              <a:rPr lang="en-US" altLang="zh-CN" dirty="0" err="1"/>
              <a:t>W_valE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24DB9C-D0F0-3267-8152-48BDF2F89D7A}"/>
              </a:ext>
            </a:extLst>
          </p:cNvPr>
          <p:cNvSpPr txBox="1"/>
          <p:nvPr/>
        </p:nvSpPr>
        <p:spPr>
          <a:xfrm>
            <a:off x="6919911" y="1709770"/>
            <a:ext cx="4500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Example 2: </a:t>
            </a:r>
            <a:r>
              <a:rPr lang="en-US" altLang="zh-CN" dirty="0" err="1"/>
              <a:t>M_valE</a:t>
            </a:r>
            <a:r>
              <a:rPr lang="en-US" altLang="zh-CN" dirty="0"/>
              <a:t>, ALU</a:t>
            </a:r>
            <a:r>
              <a:rPr lang="zh-CN" altLang="en-US" dirty="0"/>
              <a:t>刚刚产生的</a:t>
            </a:r>
            <a:r>
              <a:rPr lang="en-US" altLang="zh-CN" dirty="0" err="1"/>
              <a:t>e_valE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8D7D75-63E0-762E-3819-D787C3E2F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47" y="2079102"/>
            <a:ext cx="3098889" cy="421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2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4A6F-C62D-E324-51B2-C3C8AC9F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A75B5-8D0E-6C17-8FB9-39E163CB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35 </a:t>
            </a:r>
            <a:r>
              <a:rPr lang="zh-CN" altLang="en-US" sz="2000" dirty="0"/>
              <a:t>页及后续几页，解读如何通过数据前递（</a:t>
            </a:r>
            <a:r>
              <a:rPr lang="en-US" altLang="zh-CN" sz="2000" dirty="0"/>
              <a:t>Forwarding</a:t>
            </a:r>
            <a:r>
              <a:rPr lang="zh-CN" altLang="en-US" sz="2000" dirty="0"/>
              <a:t>）消除数据冒险，还避免了流水线暂停的负面影响。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237E98-5B64-8AC9-FEC3-47CDEB7096B8}"/>
              </a:ext>
            </a:extLst>
          </p:cNvPr>
          <p:cNvSpPr txBox="1"/>
          <p:nvPr/>
        </p:nvSpPr>
        <p:spPr>
          <a:xfrm>
            <a:off x="956441" y="1749972"/>
            <a:ext cx="998482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转发源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写端口</a:t>
            </a:r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 err="1"/>
              <a:t>e_valE</a:t>
            </a:r>
            <a:r>
              <a:rPr lang="en-US" altLang="zh-CN" dirty="0"/>
              <a:t>, </a:t>
            </a:r>
            <a:r>
              <a:rPr lang="en-US" altLang="zh-CN" dirty="0" err="1"/>
              <a:t>M_valE</a:t>
            </a:r>
            <a:r>
              <a:rPr lang="en-US" altLang="zh-CN" dirty="0"/>
              <a:t>, </a:t>
            </a:r>
            <a:r>
              <a:rPr lang="en-US" altLang="zh-CN" dirty="0" err="1"/>
              <a:t>W_valE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写端口</a:t>
            </a:r>
            <a:r>
              <a:rPr lang="en-US" altLang="zh-CN" dirty="0"/>
              <a:t>M</a:t>
            </a:r>
            <a:r>
              <a:rPr lang="zh-CN" altLang="en-US" dirty="0"/>
              <a:t>：</a:t>
            </a:r>
            <a:r>
              <a:rPr lang="en-US" altLang="zh-CN" dirty="0" err="1"/>
              <a:t>m_valM</a:t>
            </a:r>
            <a:r>
              <a:rPr lang="en-US" altLang="zh-CN" dirty="0"/>
              <a:t>, </a:t>
            </a:r>
            <a:r>
              <a:rPr lang="en-US" altLang="zh-CN" dirty="0" err="1"/>
              <a:t>W_valM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转发目的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 err="1"/>
              <a:t>valA</a:t>
            </a:r>
            <a:r>
              <a:rPr lang="en-US" altLang="zh-CN" dirty="0"/>
              <a:t>, </a:t>
            </a:r>
            <a:r>
              <a:rPr lang="en-US" altLang="zh-CN" dirty="0" err="1"/>
              <a:t>valB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添加旁路路径，转发前三条指令的结果</a:t>
            </a:r>
            <a:r>
              <a:rPr lang="en-US" altLang="zh-CN" dirty="0"/>
              <a:t>—</a:t>
            </a:r>
            <a:r>
              <a:rPr lang="zh-CN" altLang="en-US" dirty="0"/>
              <a:t>不需要暂停</a:t>
            </a:r>
            <a:r>
              <a:rPr lang="en-US" altLang="zh-CN" dirty="0"/>
              <a:t>pipeline</a:t>
            </a:r>
          </a:p>
          <a:p>
            <a:r>
              <a:rPr lang="en-US" altLang="zh-CN" b="1" dirty="0"/>
              <a:t>——</a:t>
            </a:r>
            <a:r>
              <a:rPr lang="en-US" altLang="zh-CN" sz="2000" b="1" dirty="0"/>
              <a:t>PIPE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Select</a:t>
            </a:r>
            <a:r>
              <a:rPr lang="zh-CN" altLang="en-US" dirty="0"/>
              <a:t>：</a:t>
            </a:r>
            <a:r>
              <a:rPr lang="en-US" altLang="zh-CN" dirty="0" err="1"/>
              <a:t>Sel+Fwd</a:t>
            </a:r>
            <a:r>
              <a:rPr lang="en-US" altLang="zh-CN" dirty="0"/>
              <a:t> A, </a:t>
            </a:r>
            <a:r>
              <a:rPr lang="en-US" altLang="zh-CN" dirty="0" err="1"/>
              <a:t>Fwd</a:t>
            </a:r>
            <a:r>
              <a:rPr lang="en-US" altLang="zh-CN" dirty="0"/>
              <a:t>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通过检测是否需要转发，逻辑块能够确定使用寄存器文件还是转发值。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59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EF50-E928-0849-5B74-E7574666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69EDB-1A6A-7592-C489-E1BEB32B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6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42 </a:t>
            </a:r>
            <a:r>
              <a:rPr lang="zh-CN" altLang="en-US" sz="2000" dirty="0"/>
              <a:t>页及后续几页，解读 </a:t>
            </a:r>
            <a:r>
              <a:rPr lang="en-US" altLang="zh-CN" sz="2000" dirty="0"/>
              <a:t>Load-use </a:t>
            </a:r>
            <a:r>
              <a:rPr lang="zh-CN" altLang="en-US" sz="2000" dirty="0"/>
              <a:t>相关产生场景和解决方案。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879464-827C-1A95-6644-03D54A219133}"/>
              </a:ext>
            </a:extLst>
          </p:cNvPr>
          <p:cNvSpPr txBox="1"/>
          <p:nvPr/>
        </p:nvSpPr>
        <p:spPr>
          <a:xfrm>
            <a:off x="956440" y="1749972"/>
            <a:ext cx="874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场景：一条指令从</a:t>
            </a:r>
            <a:r>
              <a:rPr lang="zh-CN" altLang="en-US" b="1" dirty="0"/>
              <a:t>内存读</a:t>
            </a:r>
            <a:r>
              <a:rPr lang="zh-CN" altLang="en-US" dirty="0"/>
              <a:t>寄存器值，下一条指令把该值作为源操作数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Memory</a:t>
            </a:r>
            <a:r>
              <a:rPr lang="zh-CN" altLang="en-US" dirty="0"/>
              <a:t>阶段发生太晚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C2ECA3-55BA-7786-69E4-56A65D46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62" y="2073137"/>
            <a:ext cx="4320040" cy="978362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15B893E0-E815-99EA-5129-85B11801B2E1}"/>
              </a:ext>
            </a:extLst>
          </p:cNvPr>
          <p:cNvSpPr/>
          <p:nvPr/>
        </p:nvSpPr>
        <p:spPr>
          <a:xfrm>
            <a:off x="6505586" y="2114552"/>
            <a:ext cx="561964" cy="4905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99DDB6B-D771-13B4-8794-BE1518D54C23}"/>
              </a:ext>
            </a:extLst>
          </p:cNvPr>
          <p:cNvSpPr/>
          <p:nvPr/>
        </p:nvSpPr>
        <p:spPr>
          <a:xfrm>
            <a:off x="5848355" y="2575251"/>
            <a:ext cx="495289" cy="4762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CA966F-92AC-42C9-884B-55071D95610D}"/>
              </a:ext>
            </a:extLst>
          </p:cNvPr>
          <p:cNvSpPr txBox="1"/>
          <p:nvPr/>
        </p:nvSpPr>
        <p:spPr>
          <a:xfrm>
            <a:off x="1004065" y="3340647"/>
            <a:ext cx="874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解决方案：</a:t>
            </a:r>
            <a:r>
              <a:rPr lang="en-US" altLang="zh-CN" dirty="0"/>
              <a:t>stalling + forwarding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加载互锁</a:t>
            </a:r>
            <a:r>
              <a:rPr lang="en-US" altLang="zh-CN" b="1" dirty="0"/>
              <a:t> load interlock</a:t>
            </a:r>
            <a:endParaRPr lang="zh-CN" altLang="en-US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B26C6F-D500-4F97-F3F8-C2CCE105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664" y="3230447"/>
            <a:ext cx="2418865" cy="3429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647D2C6-2636-1B90-1E0B-4BA1CCC2852A}"/>
              </a:ext>
            </a:extLst>
          </p:cNvPr>
          <p:cNvSpPr txBox="1"/>
          <p:nvPr/>
        </p:nvSpPr>
        <p:spPr>
          <a:xfrm>
            <a:off x="1056573" y="4531273"/>
            <a:ext cx="3777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几乎处理所有</a:t>
            </a:r>
            <a:r>
              <a:rPr lang="en-US" altLang="zh-CN" dirty="0"/>
              <a:t>data hazard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只有加载互锁会暂停</a:t>
            </a:r>
            <a:r>
              <a:rPr lang="en-US" altLang="zh-CN" dirty="0"/>
              <a:t>--</a:t>
            </a:r>
            <a:r>
              <a:rPr lang="zh-CN" altLang="en-US" dirty="0"/>
              <a:t>几乎实现每个时钟周期发射一条指令。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773CDC-1847-943E-DF08-510856BB809F}"/>
              </a:ext>
            </a:extLst>
          </p:cNvPr>
          <p:cNvSpPr txBox="1"/>
          <p:nvPr/>
        </p:nvSpPr>
        <p:spPr>
          <a:xfrm>
            <a:off x="6980123" y="3494535"/>
            <a:ext cx="8740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一个</a:t>
            </a:r>
            <a:r>
              <a:rPr lang="en-US" altLang="zh-CN" sz="1600" dirty="0"/>
              <a:t>bubble</a:t>
            </a:r>
            <a:r>
              <a:rPr lang="zh-CN" altLang="en-US" sz="1600" dirty="0"/>
              <a:t>，等待</a:t>
            </a:r>
            <a:r>
              <a:rPr lang="en-US" altLang="zh-CN" sz="1600" dirty="0" err="1"/>
              <a:t>m_valM</a:t>
            </a:r>
            <a:endParaRPr lang="zh-CN" altLang="en-US" sz="1600" b="1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58AF2D7-6CE7-6C40-C9D2-82912750E393}"/>
              </a:ext>
            </a:extLst>
          </p:cNvPr>
          <p:cNvSpPr/>
          <p:nvPr/>
        </p:nvSpPr>
        <p:spPr>
          <a:xfrm>
            <a:off x="6035675" y="3736974"/>
            <a:ext cx="269876" cy="2574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E2BCBE9-5DBD-37EA-EF47-42BADEB19A1C}"/>
              </a:ext>
            </a:extLst>
          </p:cNvPr>
          <p:cNvSpPr/>
          <p:nvPr/>
        </p:nvSpPr>
        <p:spPr>
          <a:xfrm>
            <a:off x="6035675" y="3390001"/>
            <a:ext cx="269876" cy="2574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92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6F50-9571-E114-4D7C-69F8833A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74FC-CDEC-597B-A718-7D5F23A0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7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47 </a:t>
            </a:r>
            <a:r>
              <a:rPr lang="zh-CN" altLang="en-US" sz="2000" dirty="0"/>
              <a:t>页及后续几页，解读转移预测错误的场景和解决方案。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C268F4-FF7C-4F0F-3110-2F5440AB771A}"/>
              </a:ext>
            </a:extLst>
          </p:cNvPr>
          <p:cNvSpPr txBox="1"/>
          <p:nvPr/>
        </p:nvSpPr>
        <p:spPr>
          <a:xfrm>
            <a:off x="940675" y="1749972"/>
            <a:ext cx="9033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在分支逻辑发现不应该选择分支（</a:t>
            </a:r>
            <a:r>
              <a:rPr lang="en-US" altLang="zh-CN" dirty="0"/>
              <a:t>E</a:t>
            </a:r>
            <a:r>
              <a:rPr lang="zh-CN" altLang="en-US" dirty="0"/>
              <a:t>阶段）之前，已经取出了两条错误指令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Bubble: </a:t>
            </a:r>
            <a:r>
              <a:rPr lang="zh-CN" altLang="en-US" dirty="0"/>
              <a:t>取消（排除）错误的指令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一定没有改变</a:t>
            </a:r>
            <a:r>
              <a:rPr lang="zh-CN" altLang="en-US" b="1" dirty="0"/>
              <a:t>程序员可见状态</a:t>
            </a:r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E5DBB4-3E65-6ADA-0651-63315DCF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31" y="2553120"/>
            <a:ext cx="7541172" cy="281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8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3E37-C9EE-7541-3B8C-A60D4B34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CB030-8781-A18C-4963-531CBCD5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8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53 </a:t>
            </a:r>
            <a:r>
              <a:rPr lang="zh-CN" altLang="en-US" sz="2000" dirty="0"/>
              <a:t>页及后续几页，解读 </a:t>
            </a:r>
            <a:r>
              <a:rPr lang="en-US" altLang="zh-CN" sz="2000" dirty="0"/>
              <a:t>ret </a:t>
            </a:r>
            <a:r>
              <a:rPr lang="zh-CN" altLang="en-US" sz="2000" dirty="0"/>
              <a:t>指令带来的影响和解决方案。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1736FA-9AF7-25A2-B6D9-8833E78817E8}"/>
              </a:ext>
            </a:extLst>
          </p:cNvPr>
          <p:cNvSpPr txBox="1"/>
          <p:nvPr/>
        </p:nvSpPr>
        <p:spPr>
          <a:xfrm>
            <a:off x="940675" y="1749972"/>
            <a:ext cx="6858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ret</a:t>
            </a:r>
            <a:r>
              <a:rPr lang="zh-CN" altLang="en-US" dirty="0"/>
              <a:t>指令需要弹栈（访存）才能得到下一条指令的地址。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三个</a:t>
            </a:r>
            <a:r>
              <a:rPr lang="en-US" altLang="zh-CN" dirty="0"/>
              <a:t>bubble</a:t>
            </a:r>
            <a:r>
              <a:rPr lang="zh-CN" altLang="en-US" dirty="0"/>
              <a:t>，等待</a:t>
            </a:r>
            <a:r>
              <a:rPr lang="en-US" altLang="zh-CN" dirty="0"/>
              <a:t>ret</a:t>
            </a:r>
            <a:r>
              <a:rPr lang="zh-CN" altLang="en-US" dirty="0"/>
              <a:t>到达写回阶段</a:t>
            </a:r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B30A67-10CC-8533-A4D2-1EBABA53A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91" y="3000779"/>
            <a:ext cx="10515601" cy="265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08D0E-4F79-D48E-1D63-FD14840A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4B6F1-F03E-0256-CB10-7ADD3569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9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58 </a:t>
            </a:r>
            <a:r>
              <a:rPr lang="zh-CN" altLang="en-US" sz="2000" dirty="0"/>
              <a:t>页及后续几页，综合分析 </a:t>
            </a:r>
            <a:r>
              <a:rPr lang="en-US" altLang="zh-CN" sz="2000" dirty="0"/>
              <a:t>Load-use/</a:t>
            </a:r>
            <a:r>
              <a:rPr lang="zh-CN" altLang="en-US" sz="2000" dirty="0"/>
              <a:t>转移预测错误</a:t>
            </a:r>
            <a:r>
              <a:rPr lang="en-US" altLang="zh-CN" sz="2000" dirty="0"/>
              <a:t>/ret </a:t>
            </a:r>
            <a:r>
              <a:rPr lang="zh-CN" altLang="en-US" sz="2000" dirty="0"/>
              <a:t>指令对流水线处</a:t>
            </a:r>
            <a:br>
              <a:rPr lang="en-US" altLang="zh-CN" sz="2000" dirty="0"/>
            </a:br>
            <a:r>
              <a:rPr lang="zh-CN" altLang="en-US" sz="2000" dirty="0"/>
              <a:t>理器的影响和解决方案，包括 </a:t>
            </a:r>
            <a:r>
              <a:rPr lang="en-US" altLang="zh-CN" sz="2000" dirty="0"/>
              <a:t>HCL </a:t>
            </a:r>
            <a:r>
              <a:rPr lang="zh-CN" altLang="en-US" sz="2000" dirty="0"/>
              <a:t>描述的实现方法。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369802-E3C0-A403-D780-9E9411183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3" y="1354432"/>
            <a:ext cx="7378655" cy="54416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27F61B-6DB2-6491-EBA8-7C2ACB9B37E0}"/>
              </a:ext>
            </a:extLst>
          </p:cNvPr>
          <p:cNvSpPr txBox="1"/>
          <p:nvPr/>
        </p:nvSpPr>
        <p:spPr>
          <a:xfrm>
            <a:off x="6713997" y="282050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当前流水线的 </a:t>
            </a:r>
            <a:r>
              <a:rPr lang="en-IE" altLang="zh-CN" sz="1400" dirty="0"/>
              <a:t>Decode</a:t>
            </a:r>
            <a:r>
              <a:rPr lang="zh-CN" altLang="en-IE" sz="1400" dirty="0"/>
              <a:t>、</a:t>
            </a:r>
            <a:r>
              <a:rPr lang="en-IE" altLang="zh-CN" sz="1400" dirty="0"/>
              <a:t>Execute</a:t>
            </a:r>
            <a:r>
              <a:rPr lang="zh-CN" altLang="en-IE" sz="1400" dirty="0"/>
              <a:t>、</a:t>
            </a:r>
            <a:r>
              <a:rPr lang="en-IE" altLang="zh-CN" sz="1400" dirty="0"/>
              <a:t>Memory </a:t>
            </a:r>
            <a:r>
              <a:rPr lang="zh-CN" altLang="en-US" sz="1400" dirty="0"/>
              <a:t>阶段中有 </a:t>
            </a:r>
            <a:r>
              <a:rPr lang="en-IE" altLang="zh-CN" sz="1400" dirty="0">
                <a:latin typeface="Courier New" panose="02070309020205020404" pitchFamily="49" charset="0"/>
              </a:rPr>
              <a:t>ret</a:t>
            </a:r>
            <a:r>
              <a:rPr lang="en-IE" altLang="zh-CN" sz="1400" dirty="0"/>
              <a:t> </a:t>
            </a:r>
            <a:r>
              <a:rPr lang="zh-CN" altLang="en-US" sz="1400" dirty="0"/>
              <a:t>指令。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540F21-0F31-09C9-C6C8-77E194DD9C26}"/>
              </a:ext>
            </a:extLst>
          </p:cNvPr>
          <p:cNvSpPr txBox="1"/>
          <p:nvPr/>
        </p:nvSpPr>
        <p:spPr>
          <a:xfrm>
            <a:off x="6757989" y="3167390"/>
            <a:ext cx="5135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E</a:t>
            </a:r>
            <a:r>
              <a:rPr lang="zh-CN" altLang="en-US" sz="1400" dirty="0"/>
              <a:t>阶段的指令是内存读 </a:t>
            </a:r>
            <a:r>
              <a:rPr lang="en-US" altLang="zh-CN" sz="1400" dirty="0"/>
              <a:t>&amp;&amp; D </a:t>
            </a:r>
            <a:r>
              <a:rPr lang="zh-CN" altLang="en-US" sz="1400" dirty="0"/>
              <a:t>阶段的下一条指令需要用到刚刚 </a:t>
            </a:r>
            <a:r>
              <a:rPr lang="en-US" altLang="zh-CN" sz="1400" dirty="0"/>
              <a:t>load </a:t>
            </a:r>
            <a:r>
              <a:rPr lang="zh-CN" altLang="en-US" sz="1400" dirty="0"/>
              <a:t>出来的寄存器结果</a:t>
            </a:r>
            <a:r>
              <a:rPr lang="en-US" altLang="zh-CN" sz="1400" dirty="0"/>
              <a:t>.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C839E0-BFA2-26DA-ECF7-128DB972446E}"/>
              </a:ext>
            </a:extLst>
          </p:cNvPr>
          <p:cNvSpPr txBox="1"/>
          <p:nvPr/>
        </p:nvSpPr>
        <p:spPr>
          <a:xfrm>
            <a:off x="6713997" y="37297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实施了跳转 </a:t>
            </a:r>
            <a:r>
              <a:rPr lang="en-US" altLang="zh-CN" sz="1400" dirty="0"/>
              <a:t>&amp;&amp; </a:t>
            </a:r>
            <a:r>
              <a:rPr lang="zh-CN" altLang="en-US" sz="1400" dirty="0"/>
              <a:t>条件码为假</a:t>
            </a:r>
          </a:p>
        </p:txBody>
      </p:sp>
    </p:spTree>
    <p:extLst>
      <p:ext uri="{BB962C8B-B14F-4D97-AF65-F5344CB8AC3E}">
        <p14:creationId xmlns:p14="http://schemas.microsoft.com/office/powerpoint/2010/main" val="527422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6922-E254-F45B-8F24-772CE77F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88A0D-06D6-DD3D-EC98-84D2428D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9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58 </a:t>
            </a:r>
            <a:r>
              <a:rPr lang="zh-CN" altLang="en-US" sz="2000" dirty="0"/>
              <a:t>页及后续几页，综合分析 </a:t>
            </a:r>
            <a:r>
              <a:rPr lang="en-US" altLang="zh-CN" sz="2000" dirty="0"/>
              <a:t>Load-use/</a:t>
            </a:r>
            <a:r>
              <a:rPr lang="zh-CN" altLang="en-US" sz="2000" dirty="0"/>
              <a:t>转移预测错误</a:t>
            </a:r>
            <a:r>
              <a:rPr lang="en-US" altLang="zh-CN" sz="2000" dirty="0"/>
              <a:t>/ret </a:t>
            </a:r>
            <a:r>
              <a:rPr lang="zh-CN" altLang="en-US" sz="2000" dirty="0"/>
              <a:t>指令对流水线处</a:t>
            </a:r>
            <a:br>
              <a:rPr lang="en-US" altLang="zh-CN" sz="2000" dirty="0"/>
            </a:br>
            <a:r>
              <a:rPr lang="zh-CN" altLang="en-US" sz="2000" dirty="0"/>
              <a:t>理器的影响和解决方案，包括 </a:t>
            </a:r>
            <a:r>
              <a:rPr lang="en-US" altLang="zh-CN" sz="2000" dirty="0"/>
              <a:t>HCL </a:t>
            </a:r>
            <a:r>
              <a:rPr lang="zh-CN" altLang="en-US" sz="2000" dirty="0"/>
              <a:t>描述的实现方法。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AC5D07-CC54-10A1-97E2-41FC1BDA4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77"/>
          <a:stretch>
            <a:fillRect/>
          </a:stretch>
        </p:blipFill>
        <p:spPr>
          <a:xfrm>
            <a:off x="163328" y="1590676"/>
            <a:ext cx="7378655" cy="254793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A198614-8174-9ACE-7DD0-5392C599B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83" y="1231107"/>
            <a:ext cx="4537256" cy="30861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520353A-A028-9EF8-E8F1-4B2EBE883D90}"/>
              </a:ext>
            </a:extLst>
          </p:cNvPr>
          <p:cNvSpPr txBox="1"/>
          <p:nvPr/>
        </p:nvSpPr>
        <p:spPr>
          <a:xfrm>
            <a:off x="652462" y="4426564"/>
            <a:ext cx="9748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Stall</a:t>
            </a:r>
            <a:r>
              <a:rPr lang="zh-CN" altLang="en-US" dirty="0">
                <a:highlight>
                  <a:srgbClr val="FFFF00"/>
                </a:highlight>
              </a:rPr>
              <a:t>：保持输入； </a:t>
            </a:r>
            <a:r>
              <a:rPr lang="en-US" altLang="zh-CN" dirty="0">
                <a:highlight>
                  <a:srgbClr val="FFFF00"/>
                </a:highlight>
              </a:rPr>
              <a:t>Bubble</a:t>
            </a:r>
            <a:r>
              <a:rPr lang="zh-CN" altLang="en-US" dirty="0">
                <a:highlight>
                  <a:srgbClr val="FFFF00"/>
                </a:highlight>
              </a:rPr>
              <a:t>：清除输出</a:t>
            </a:r>
            <a:endParaRPr lang="en-US" altLang="zh-CN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Ret: </a:t>
            </a:r>
            <a:r>
              <a:rPr lang="zh-CN" altLang="en-US" dirty="0"/>
              <a:t>保持</a:t>
            </a:r>
            <a:r>
              <a:rPr lang="en-US" altLang="zh-CN" dirty="0"/>
              <a:t>pc</a:t>
            </a:r>
            <a:r>
              <a:rPr lang="zh-CN" altLang="en-US" dirty="0"/>
              <a:t>不变，清除错误取出的指令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Load/use</a:t>
            </a:r>
            <a:r>
              <a:rPr lang="zh-CN" altLang="en-US" dirty="0"/>
              <a:t>：保持</a:t>
            </a:r>
            <a:r>
              <a:rPr lang="en-US" altLang="zh-CN" dirty="0"/>
              <a:t>PC</a:t>
            </a:r>
            <a:r>
              <a:rPr lang="zh-CN" altLang="en-US" dirty="0"/>
              <a:t>和当前指令不变，清除错误的</a:t>
            </a:r>
            <a:r>
              <a:rPr lang="en-US" altLang="zh-CN" dirty="0"/>
              <a:t>decode</a:t>
            </a:r>
            <a:r>
              <a:rPr lang="zh-CN" altLang="en-US" dirty="0"/>
              <a:t>结果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Mispredicted</a:t>
            </a:r>
            <a:r>
              <a:rPr lang="en-US" altLang="zh-CN" dirty="0"/>
              <a:t> Branch: </a:t>
            </a:r>
            <a:r>
              <a:rPr lang="zh-CN" altLang="en-US" dirty="0"/>
              <a:t>清除错误的取指和</a:t>
            </a:r>
            <a:r>
              <a:rPr lang="en-US" altLang="zh-CN" dirty="0"/>
              <a:t>decode</a:t>
            </a:r>
            <a:r>
              <a:rPr lang="zh-CN" altLang="en-US" dirty="0"/>
              <a:t>结果（</a:t>
            </a:r>
            <a:r>
              <a:rPr lang="en-US" altLang="zh-CN" dirty="0"/>
              <a:t>pc</a:t>
            </a:r>
            <a:r>
              <a:rPr lang="zh-CN" altLang="en-US" dirty="0"/>
              <a:t>选择逻辑正常更新</a:t>
            </a:r>
            <a:r>
              <a:rPr lang="en-US" altLang="zh-CN" dirty="0"/>
              <a:t>PC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40324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CB710-8CE0-BF60-A36C-FF822985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10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62 </a:t>
            </a:r>
            <a:r>
              <a:rPr lang="zh-CN" altLang="en-US" sz="2000" dirty="0"/>
              <a:t>页及后续几页，解读两种组合情况的产生场景和解决方案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A37D9D-D13F-C5C2-DDB3-FAFA50DA7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814" y="1400213"/>
            <a:ext cx="10515600" cy="29424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955196C-1D98-6E8A-4605-47DD3E35A450}"/>
              </a:ext>
            </a:extLst>
          </p:cNvPr>
          <p:cNvSpPr txBox="1"/>
          <p:nvPr/>
        </p:nvSpPr>
        <p:spPr>
          <a:xfrm>
            <a:off x="1644868" y="4677103"/>
            <a:ext cx="6689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大多数控制条件是互斥的</a:t>
            </a:r>
            <a:endParaRPr lang="en-US" altLang="zh-CN" dirty="0"/>
          </a:p>
          <a:p>
            <a:r>
              <a:rPr lang="zh-CN" altLang="en-US" dirty="0">
                <a:solidFill>
                  <a:srgbClr val="0070C0"/>
                </a:solidFill>
              </a:rPr>
              <a:t>组合</a:t>
            </a:r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zh-CN" altLang="en-US" dirty="0">
                <a:solidFill>
                  <a:srgbClr val="0070C0"/>
                </a:solidFill>
              </a:rPr>
              <a:t>：</a:t>
            </a:r>
            <a:endParaRPr lang="en-US" altLang="zh-CN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70C0"/>
                </a:solidFill>
              </a:rPr>
              <a:t>ret</a:t>
            </a:r>
            <a:r>
              <a:rPr lang="zh-CN" altLang="en-US" dirty="0">
                <a:solidFill>
                  <a:srgbClr val="0070C0"/>
                </a:solidFill>
              </a:rPr>
              <a:t>是内存</a:t>
            </a:r>
            <a:r>
              <a:rPr lang="en-US" altLang="zh-CN" dirty="0">
                <a:solidFill>
                  <a:srgbClr val="0070C0"/>
                </a:solidFill>
              </a:rPr>
              <a:t>—PC</a:t>
            </a:r>
            <a:r>
              <a:rPr lang="zh-CN" altLang="en-US" dirty="0">
                <a:solidFill>
                  <a:srgbClr val="0070C0"/>
                </a:solidFill>
              </a:rPr>
              <a:t>，不是</a:t>
            </a:r>
            <a:r>
              <a:rPr lang="en-US" altLang="zh-CN" dirty="0">
                <a:solidFill>
                  <a:srgbClr val="0070C0"/>
                </a:solidFill>
              </a:rPr>
              <a:t>load</a:t>
            </a:r>
            <a:r>
              <a:rPr lang="zh-CN" altLang="en-US" dirty="0">
                <a:solidFill>
                  <a:srgbClr val="0070C0"/>
                </a:solidFill>
              </a:rPr>
              <a:t>指令（</a:t>
            </a:r>
            <a:r>
              <a:rPr lang="en-US" altLang="zh-CN" dirty="0" err="1">
                <a:solidFill>
                  <a:srgbClr val="0070C0"/>
                </a:solidFill>
              </a:rPr>
              <a:t>mrmovq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 err="1">
                <a:solidFill>
                  <a:srgbClr val="0070C0"/>
                </a:solidFill>
              </a:rPr>
              <a:t>popq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endParaRPr lang="en-US" altLang="zh-CN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70C0"/>
                </a:solidFill>
              </a:rPr>
              <a:t>ret </a:t>
            </a:r>
            <a:r>
              <a:rPr lang="zh-CN" altLang="en-US" dirty="0">
                <a:solidFill>
                  <a:srgbClr val="0070C0"/>
                </a:solidFill>
              </a:rPr>
              <a:t>指令</a:t>
            </a:r>
            <a:r>
              <a:rPr lang="en-US" altLang="zh-CN" dirty="0">
                <a:solidFill>
                  <a:srgbClr val="0070C0"/>
                </a:solidFill>
              </a:rPr>
              <a:t>use</a:t>
            </a:r>
            <a:r>
              <a:rPr lang="zh-CN" altLang="en-US" dirty="0">
                <a:solidFill>
                  <a:srgbClr val="0070C0"/>
                </a:solidFill>
              </a:rPr>
              <a:t>了</a:t>
            </a:r>
            <a:r>
              <a:rPr lang="en-US" altLang="zh-CN" dirty="0">
                <a:solidFill>
                  <a:srgbClr val="0070C0"/>
                </a:solidFill>
              </a:rPr>
              <a:t>load</a:t>
            </a:r>
            <a:r>
              <a:rPr lang="zh-CN" altLang="en-US" dirty="0">
                <a:solidFill>
                  <a:srgbClr val="0070C0"/>
                </a:solidFill>
              </a:rPr>
              <a:t>出来的值（</a:t>
            </a:r>
            <a:r>
              <a:rPr lang="en-US" altLang="zh-CN" dirty="0">
                <a:solidFill>
                  <a:srgbClr val="0070C0"/>
                </a:solidFill>
              </a:rPr>
              <a:t>PC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11824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DB085-CCC9-4332-996F-55C5A000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14A83-F39F-31F2-F9B7-513E592D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10</a:t>
            </a:r>
            <a:r>
              <a:rPr lang="zh-CN" altLang="en-US" sz="2000" dirty="0"/>
              <a:t>）基于课件第 </a:t>
            </a:r>
            <a:r>
              <a:rPr lang="en-US" altLang="zh-CN" sz="2000" dirty="0"/>
              <a:t>62 </a:t>
            </a:r>
            <a:r>
              <a:rPr lang="zh-CN" altLang="en-US" sz="2000" dirty="0"/>
              <a:t>页及后续几页，解读两种组合情况的产生场景和解决方案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AB153A-90BA-A7D7-E8CE-FA18507173D7}"/>
              </a:ext>
            </a:extLst>
          </p:cNvPr>
          <p:cNvSpPr txBox="1"/>
          <p:nvPr/>
        </p:nvSpPr>
        <p:spPr>
          <a:xfrm>
            <a:off x="557047" y="4787461"/>
            <a:ext cx="5538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组合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“分支预测修正的跳转”会被下一周期的 </a:t>
            </a:r>
            <a:r>
              <a:rPr lang="en-US" altLang="zh-CN" dirty="0"/>
              <a:t>ret</a:t>
            </a:r>
            <a:r>
              <a:rPr lang="zh-CN" altLang="en-US" dirty="0"/>
              <a:t> 覆盖掉。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1497D1-101A-14D5-C326-F6F4EE91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14"/>
          <a:stretch>
            <a:fillRect/>
          </a:stretch>
        </p:blipFill>
        <p:spPr>
          <a:xfrm>
            <a:off x="425670" y="3135880"/>
            <a:ext cx="5927834" cy="1509692"/>
          </a:xfrm>
          <a:prstGeom prst="rect">
            <a:avLst/>
          </a:prstGeom>
        </p:spPr>
      </p:pic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23F637B3-2EE0-E44F-4A33-84D61D536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06" y="185114"/>
            <a:ext cx="9225455" cy="25814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76E3C0B-CEB9-B12A-3748-9BAA6D192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372" y="3076062"/>
            <a:ext cx="5644055" cy="162932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02DA771-A694-2A65-D26A-DDDA20C97AD4}"/>
              </a:ext>
            </a:extLst>
          </p:cNvPr>
          <p:cNvSpPr txBox="1"/>
          <p:nvPr/>
        </p:nvSpPr>
        <p:spPr>
          <a:xfrm>
            <a:off x="6653047" y="4734910"/>
            <a:ext cx="5538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组合</a:t>
            </a:r>
            <a:r>
              <a:rPr lang="en-US" altLang="zh-CN" dirty="0"/>
              <a:t>B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又要暂停</a:t>
            </a:r>
            <a:r>
              <a:rPr lang="en-US" altLang="zh-CN" dirty="0"/>
              <a:t>ret</a:t>
            </a:r>
            <a:r>
              <a:rPr lang="zh-CN" altLang="en-US" dirty="0"/>
              <a:t>又要执行</a:t>
            </a:r>
            <a:r>
              <a:rPr lang="en-US" altLang="zh-CN" dirty="0"/>
              <a:t>ret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bubble+stall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pipeline error</a:t>
            </a:r>
          </a:p>
          <a:p>
            <a:r>
              <a:rPr lang="zh-CN" altLang="en-US" dirty="0"/>
              <a:t>修正：</a:t>
            </a:r>
            <a:r>
              <a:rPr lang="en-US" altLang="zh-CN" dirty="0"/>
              <a:t>load/use</a:t>
            </a:r>
            <a:r>
              <a:rPr lang="zh-CN" altLang="en-US" dirty="0"/>
              <a:t>优先，</a:t>
            </a:r>
            <a:r>
              <a:rPr lang="en-US" altLang="zh-CN" dirty="0"/>
              <a:t>ret</a:t>
            </a:r>
            <a:r>
              <a:rPr lang="zh-CN" altLang="en-US" dirty="0"/>
              <a:t>在</a:t>
            </a:r>
            <a:r>
              <a:rPr lang="en-US" altLang="zh-CN" dirty="0"/>
              <a:t>decode</a:t>
            </a:r>
            <a:r>
              <a:rPr lang="zh-CN" altLang="en-US" dirty="0"/>
              <a:t>暂停一个周期</a:t>
            </a:r>
          </a:p>
        </p:txBody>
      </p:sp>
    </p:spTree>
    <p:extLst>
      <p:ext uri="{BB962C8B-B14F-4D97-AF65-F5344CB8AC3E}">
        <p14:creationId xmlns:p14="http://schemas.microsoft.com/office/powerpoint/2010/main" val="324953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CD2F4-36CE-CBB1-C9F6-1AF0DDEE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D38CAF-B144-F035-39F8-F84546E7E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39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1127</Words>
  <Application>Microsoft Office PowerPoint</Application>
  <PresentationFormat>宽屏</PresentationFormat>
  <Paragraphs>92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新宋体</vt:lpstr>
      <vt:lpstr>Arial</vt:lpstr>
      <vt:lpstr>Cascadia Mono SemiLight</vt:lpstr>
      <vt:lpstr>Courier New</vt:lpstr>
      <vt:lpstr>Office 主题​​</vt:lpstr>
      <vt:lpstr>研讨题11-2</vt:lpstr>
      <vt:lpstr>（1）基于课件第 23 页，解读程序代码、时序图、流水线结构示意图三者的对应关系。</vt:lpstr>
      <vt:lpstr>（2）基于课件第 24~27 页，解读如何用 nop 指令解决数据冒险，然后分析该方法的缺点。</vt:lpstr>
      <vt:lpstr>（2）基于课件第 24~27 页，解读如何用 nop 指令解决数据冒险，然后分析该方法的缺点。</vt:lpstr>
      <vt:lpstr>（3）基于课件第 28 页，解释 bubble 和 nop 指令的区别和联系。</vt:lpstr>
      <vt:lpstr>（4）基于课件第 29 页及后续几页，解读如何实现流水线暂停（Stall），从而消除数据冒险，然后分析该方法的缺点。</vt:lpstr>
      <vt:lpstr>（4）基于课件第 29 页及后续几页，解读如何实现流水线暂停（Stall），从而消除数据冒险，然后分析该方法的缺点。</vt:lpstr>
      <vt:lpstr>（4）基于课件第 29 页及后续几页，解读如何实现流水线暂停（Stall），从而消除数据冒险，然后分析该方法的缺点。</vt:lpstr>
      <vt:lpstr>（5）基于课件第 35 页及后续几页，解读如何通过数据前递（Forwarding）消除数据冒险，还避免了流水线暂停的负面影响。</vt:lpstr>
      <vt:lpstr>（5）基于课件第 35 页及后续几页，解读如何通过数据前递（Forwarding）消除数据冒险，还避免了流水线暂停的负面影响。</vt:lpstr>
      <vt:lpstr>（6）基于课件第 42 页及后续几页，解读 Load-use 相关产生场景和解决方案。</vt:lpstr>
      <vt:lpstr>（7）基于课件第 47 页及后续几页，解读转移预测错误的场景和解决方案。</vt:lpstr>
      <vt:lpstr>（8）基于课件第 53 页及后续几页，解读 ret 指令带来的影响和解决方案。</vt:lpstr>
      <vt:lpstr>（9）基于课件第 58 页及后续几页，综合分析 Load-use/转移预测错误/ret 指令对流水线处 理器的影响和解决方案，包括 HCL 描述的实现方法。</vt:lpstr>
      <vt:lpstr>（9）基于课件第 58 页及后续几页，综合分析 Load-use/转移预测错误/ret 指令对流水线处 理器的影响和解决方案，包括 HCL 描述的实现方法。</vt:lpstr>
      <vt:lpstr>（10）基于课件第 62 页及后续几页，解读两种组合情况的产生场景和解决方案</vt:lpstr>
      <vt:lpstr>（10）基于课件第 62 页及后续几页，解读两种组合情况的产生场景和解决方案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iyukisu@163.com</dc:creator>
  <cp:lastModifiedBy>iyukisu@163.com</cp:lastModifiedBy>
  <cp:revision>4</cp:revision>
  <dcterms:created xsi:type="dcterms:W3CDTF">2025-10-28T05:30:24Z</dcterms:created>
  <dcterms:modified xsi:type="dcterms:W3CDTF">2025-10-29T08:40:12Z</dcterms:modified>
</cp:coreProperties>
</file>