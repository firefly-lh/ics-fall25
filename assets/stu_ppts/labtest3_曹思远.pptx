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076" r:id="rId2"/>
    <p:sldId id="2078" r:id="rId3"/>
    <p:sldId id="2079" r:id="rId4"/>
    <p:sldId id="2080" r:id="rId5"/>
    <p:sldId id="2081" r:id="rId6"/>
    <p:sldId id="2082" r:id="rId7"/>
    <p:sldId id="2090" r:id="rId8"/>
    <p:sldId id="2084" r:id="rId9"/>
    <p:sldId id="2086" r:id="rId10"/>
    <p:sldId id="2085" r:id="rId11"/>
    <p:sldId id="2087" r:id="rId12"/>
    <p:sldId id="2088" r:id="rId13"/>
    <p:sldId id="2089" r:id="rId14"/>
    <p:sldId id="2091" r:id="rId15"/>
    <p:sldId id="2092" r:id="rId16"/>
    <p:sldId id="2093" r:id="rId17"/>
    <p:sldId id="2094" r:id="rId18"/>
    <p:sldId id="2095" r:id="rId19"/>
    <p:sldId id="2096" r:id="rId20"/>
    <p:sldId id="2097" r:id="rId21"/>
    <p:sldId id="2098" r:id="rId22"/>
    <p:sldId id="2099" r:id="rId23"/>
    <p:sldId id="2100" r:id="rId24"/>
    <p:sldId id="2102" r:id="rId25"/>
    <p:sldId id="2101" r:id="rId26"/>
    <p:sldId id="2103" r:id="rId27"/>
    <p:sldId id="2104" r:id="rId28"/>
    <p:sldId id="2106" r:id="rId29"/>
    <p:sldId id="2105" r:id="rId30"/>
    <p:sldId id="2107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2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023FF-8C5E-4504-9CFB-96AFF0F477F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7EAE2-8CFF-46A7-95AD-A5B57CC8BE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27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3963-71F4-2531-A3B0-DEF4FAD2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A8860A-B1FC-3133-CB97-42B1DF2C3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800449-34C2-A0F8-5166-B7290D4BD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D8E0E5-71CC-697F-C636-4126314F4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1A477-2A17-45D6-B112-D4857F5281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91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E3A4A-FD96-1582-DF71-E6A6BB046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FD1F2B-74AE-A1A1-C285-C4F2890C0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6F6210-45C3-C000-4172-7551DF2A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48B01-C334-F4F3-1ADD-B0319D2D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BD6917-D77A-9968-977B-D784DE7D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2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052C9-DC18-8DF6-8BD9-5AFBDA6D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C51F3-F990-B52E-4C08-773B1AAF6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10E73-E221-1425-81F9-4554223A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A5DC4-0933-29A5-AFC6-A24F6C43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396FE-3E83-8678-0FCB-88C55DA5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0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ACF32-0952-9BC4-C908-F93C3D1F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AA66FE-7253-DDC4-6D20-DE3ABAF0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61DF63-81F5-5235-1CBB-01D7B835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D946F-F611-C8F7-6DB8-763AEEEF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E32FB-B73F-EE5D-D7AC-67DD7FFE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23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CF51B-A6EE-BEA3-006B-45AACE47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335DE-B9A7-1FFE-0A64-E77A2F0C1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C21272-1460-289F-E31F-4BD79D3E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D7CEC-5DC7-E0CB-790F-3A9D1AAD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25423-1F0F-20F2-4D6F-0ABE0C22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3E66F0-4340-C260-EC64-F2C3C5C3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59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5CE67-5339-8B2A-BF0B-090028AF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E8E5F4-299B-C8BD-3AC4-CED73927C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9545A-65E4-29C8-4564-63245B011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B2B28D-A4ED-BE1A-4BD6-0DB645B66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6F7B470-D372-67B5-6603-8CF7C38EC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C41343-8C13-3423-AE8D-C4ADDE23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3EE507-F549-4D09-B4DE-47B78C75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7803A4-E7B7-9EBA-5961-B85DB5AE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43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A8617-C1A0-2915-EC47-E842DF64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5FC57F-8CFA-C8A4-CD59-4462F399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ABC98E-7391-F275-31B7-268A080D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90E43F-026C-81CB-574C-C059CE45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21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736298-12C6-1995-7C11-D9A77221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FF587C-A2F7-0E37-670C-5471B0D9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AE7AF-F953-DD3D-F20D-77239673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72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3B06F-A739-EDE8-262A-41953499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6142-8DDF-220E-1606-4AEA81007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CAF7C5-D553-57B6-BD99-37DF8F1B1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84C128-B689-B5C6-8F7D-C574A743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A9F1F4-0150-19FA-1FBD-67C382A0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2CAFCF-0DFB-34DC-C73F-2FD2B2B5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68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0ABF2-1CE7-C123-558A-9E989BA7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E98539-203F-9569-803F-64BE8243E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E8C0A9-5A7B-8593-1CE8-7E3C494AF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61DF1-21CE-DB8A-53CF-0B9AE831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95DC48-68D0-D946-271A-21AB9F33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5E92A9-C385-12EF-B319-824C4E0D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78157-A853-6FD0-3A29-7592E88B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E78F3D-9F6A-A2DD-6C29-1B9A4F335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29C160-C632-4B1A-0C79-F7ECC6C7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A363A-C8CB-BF8A-F58E-F4DD0517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F0397-C977-8B50-CCDF-9D78C6B2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93300C-A7F0-968F-5EA3-5C73CAACD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EC86B1-DE5C-B99D-F54B-9031F6368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9ACA0-B76D-82CD-EA5A-6A1501D6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6146B-83AC-B7C4-9815-9BC6888F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6E860-628A-62D5-D37B-ADA65DAD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0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803828-A631-DB68-5365-69E43DAA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F7A26-B79B-CC0F-362C-2A748A56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420DC-ED1C-D71F-BDB6-8AF1F2929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BC12F-3511-4E65-8278-79239B45644B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81BB8-F13C-36AB-3AD2-EBAABA2FA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71FE69-E16B-9FA9-C81E-050678295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2149A-2FC4-41D4-8521-D14B8D8C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35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9D18-9F37-3910-B62B-EFAAADAC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>
            <a:extLst>
              <a:ext uri="{FF2B5EF4-FFF2-40B4-BE49-F238E27FC236}">
                <a16:creationId xmlns:a16="http://schemas.microsoft.com/office/drawing/2014/main" id="{7A9193C9-2F29-A54F-6B90-1059AB371F06}"/>
              </a:ext>
            </a:extLst>
          </p:cNvPr>
          <p:cNvSpPr txBox="1">
            <a:spLocks/>
          </p:cNvSpPr>
          <p:nvPr/>
        </p:nvSpPr>
        <p:spPr>
          <a:xfrm>
            <a:off x="0" y="1815243"/>
            <a:ext cx="12192000" cy="1921743"/>
          </a:xfrm>
          <a:prstGeom prst="rect">
            <a:avLst/>
          </a:prstGeom>
          <a:solidFill>
            <a:srgbClr val="C0000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108000" numCol="1" rtlCol="0" anchor="ctr" anchorCtr="1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ICS Lab</a:t>
            </a:r>
            <a:r>
              <a:rPr lang="zh-CN" altLang="en-US" sz="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 </a:t>
            </a:r>
            <a:r>
              <a:rPr lang="en-US" altLang="zh-CN" sz="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L3 – Attack Lab</a:t>
            </a:r>
            <a:endParaRPr lang="zh-CN" altLang="en-US" sz="5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CE172163-D1B2-5A1E-6B45-C387CC7BC0D5}"/>
              </a:ext>
            </a:extLst>
          </p:cNvPr>
          <p:cNvSpPr txBox="1">
            <a:spLocks/>
          </p:cNvSpPr>
          <p:nvPr/>
        </p:nvSpPr>
        <p:spPr bwMode="auto">
          <a:xfrm>
            <a:off x="4636527" y="4217124"/>
            <a:ext cx="2918945" cy="11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曹思远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zh-CN" alt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月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01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ECA6-7EE2-AB54-FFB5-AE1E5D62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4457C9CE-6397-67D3-4A5D-993AA296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64" y="1321057"/>
            <a:ext cx="10811933" cy="52703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84FA1E9-0024-6433-105F-1C136EE6D14B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BA5362B-574E-9302-2082-FD1529721447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0DA9B7-3DB1-9879-CD90-2C9F194CE974}"/>
              </a:ext>
            </a:extLst>
          </p:cNvPr>
          <p:cNvSpPr txBox="1"/>
          <p:nvPr/>
        </p:nvSpPr>
        <p:spPr>
          <a:xfrm>
            <a:off x="221217" y="1685124"/>
            <a:ext cx="85456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81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8C84-B108-96C6-FA71-7B47B5EE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D00DA95-ABB5-1D83-12A5-6832266DEC1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63395F1-FFAC-F5D2-2345-7B60D6055074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D2EDC2-3F18-C835-64EF-C89961E73BDC}"/>
              </a:ext>
            </a:extLst>
          </p:cNvPr>
          <p:cNvSpPr txBox="1"/>
          <p:nvPr/>
        </p:nvSpPr>
        <p:spPr>
          <a:xfrm>
            <a:off x="882181" y="1293492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A. 可以使用命令 cat hex.txt | hex2raw &gt; raw.bin 将 hex.txt 中的内容转换为字节序列并保存到 raw.bin 文件中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E23A2A-71C6-54F3-3968-71894F43CC9A}"/>
              </a:ext>
            </a:extLst>
          </p:cNvPr>
          <p:cNvSpPr txBox="1"/>
          <p:nvPr/>
        </p:nvSpPr>
        <p:spPr>
          <a:xfrm>
            <a:off x="1397682" y="3104340"/>
            <a:ext cx="9143488" cy="27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hex2raw 会从标准输入（stdin）读取十六进制字符串，并将其转换为对应的字节序列输出到标准输出（stdout）。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使用管道符 “|” 将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显示文件内容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的结果传给 hex2raw，再通过重定向 “&gt;” 保存到 raw.bin</a:t>
            </a:r>
          </a:p>
        </p:txBody>
      </p:sp>
    </p:spTree>
    <p:extLst>
      <p:ext uri="{BB962C8B-B14F-4D97-AF65-F5344CB8AC3E}">
        <p14:creationId xmlns:p14="http://schemas.microsoft.com/office/powerpoint/2010/main" val="40058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4E62-4716-E80F-371D-07B84E0A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18994B4-5370-4B19-B84E-61F43B4CE698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FE41CE3-50EA-75E7-1CF8-F9DE3581BE17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B71358-106F-1BA3-A3F9-826C902C558B}"/>
              </a:ext>
            </a:extLst>
          </p:cNvPr>
          <p:cNvSpPr txBox="1"/>
          <p:nvPr/>
        </p:nvSpPr>
        <p:spPr>
          <a:xfrm>
            <a:off x="882181" y="1293492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可以使用命令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&lt; hex.txt &gt;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中的内容转换为字节序列并保存到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9B64F2-0C5D-7FAB-6281-4A6744F02847}"/>
              </a:ext>
            </a:extLst>
          </p:cNvPr>
          <p:cNvSpPr txBox="1"/>
          <p:nvPr/>
        </p:nvSpPr>
        <p:spPr>
          <a:xfrm>
            <a:off x="1628839" y="3342746"/>
            <a:ext cx="9143488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正确。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该命令通过输入重定向 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&lt;”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作为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的标准输入，再通过输出重定向 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&gt;”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将结果写入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从功能上看，这种写法与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选项等价，只是没有使用管道。</a:t>
            </a:r>
          </a:p>
        </p:txBody>
      </p:sp>
    </p:spTree>
    <p:extLst>
      <p:ext uri="{BB962C8B-B14F-4D97-AF65-F5344CB8AC3E}">
        <p14:creationId xmlns:p14="http://schemas.microsoft.com/office/powerpoint/2010/main" val="218908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1BB2-4A95-4364-813E-EA330097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C69BA97-8D8A-5503-C0C0-3EF1CB2EC6D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8E144200-885E-10AE-4C06-4DF4CC9499C5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62A535-DBA3-4694-9878-3A7CCCF50813}"/>
              </a:ext>
            </a:extLst>
          </p:cNvPr>
          <p:cNvSpPr txBox="1"/>
          <p:nvPr/>
        </p:nvSpPr>
        <p:spPr>
          <a:xfrm>
            <a:off x="882181" y="1293492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在得到文件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后，可以使用命令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./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&lt;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作为输入传递给目标程序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97790B-ED3F-61E3-FC4C-8A0745EE941B}"/>
              </a:ext>
            </a:extLst>
          </p:cNvPr>
          <p:cNvSpPr txBox="1"/>
          <p:nvPr/>
        </p:nvSpPr>
        <p:spPr>
          <a:xfrm>
            <a:off x="1628839" y="3342746"/>
            <a:ext cx="9143488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使用输入重定向 “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&lt;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可以将构造好的字节序列作为输入送入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512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1D6F-7E2F-198D-2D25-6588FA98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624E460-46E2-C426-EDB8-FDDF83DF4B76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D1639C5F-274B-4A9D-D49A-10DD254C5542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9FF2EF-D6E0-EB29-F783-ADD9DAE11F2F}"/>
              </a:ext>
            </a:extLst>
          </p:cNvPr>
          <p:cNvSpPr txBox="1"/>
          <p:nvPr/>
        </p:nvSpPr>
        <p:spPr>
          <a:xfrm>
            <a:off x="882181" y="1293492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如果修改了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文件的内容，必须重新编译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工具才能正确转换新的内容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528AD9-7A2B-A87C-CF2F-CC0FD7B97421}"/>
              </a:ext>
            </a:extLst>
          </p:cNvPr>
          <p:cNvSpPr txBox="1"/>
          <p:nvPr/>
        </p:nvSpPr>
        <p:spPr>
          <a:xfrm>
            <a:off x="1524256" y="2785864"/>
            <a:ext cx="9143488" cy="332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是一个已经编译好的工具程序，它的功能是“读取输入并进行转换”，与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的具体内容无关。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只要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程序本身没有修改，就不需要重新编译。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修改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后，只需重新运行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hex2raw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即可得到新的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raw.bin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9621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345E-2F0B-74A2-A076-2B5CDA78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E31A97B-02F5-1DEF-593D-B7CE9B5D921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DE7B265-DA9C-E845-B397-B5A9A4162F4B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97D95209-592E-1C1C-81DD-56789F17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006"/>
            <a:ext cx="12192000" cy="438372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58311D0-085C-39CC-56E9-5C4391C90F6A}"/>
              </a:ext>
            </a:extLst>
          </p:cNvPr>
          <p:cNvSpPr txBox="1"/>
          <p:nvPr/>
        </p:nvSpPr>
        <p:spPr>
          <a:xfrm>
            <a:off x="3404683" y="5781726"/>
            <a:ext cx="3461783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选？</a:t>
            </a:r>
          </a:p>
        </p:txBody>
      </p:sp>
    </p:spTree>
    <p:extLst>
      <p:ext uri="{BB962C8B-B14F-4D97-AF65-F5344CB8AC3E}">
        <p14:creationId xmlns:p14="http://schemas.microsoft.com/office/powerpoint/2010/main" val="202271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B4E5-78A7-FB27-3898-2896208B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4D45F66-D586-081B-2011-74FE784EF38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6DF84045-DCDD-B4AC-682F-56CB367B63AF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93D0E5-8C48-7B7C-1EEE-F672470E59DF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A.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的目标程序（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）往往包含缓冲区溢出漏洞，这个漏洞只存在于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函数的栈帧中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4D9C34-9C7C-7256-C1FF-B52424505E03}"/>
              </a:ext>
            </a:extLst>
          </p:cNvPr>
          <p:cNvSpPr txBox="1"/>
          <p:nvPr/>
        </p:nvSpPr>
        <p:spPr>
          <a:xfrm>
            <a:off x="1013801" y="2691098"/>
            <a:ext cx="10164397" cy="3436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中的漏洞确实通常由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函数中的不安全输入引起。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但在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Part 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（引入金丝雀值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canary protection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之后），攻击的关键不再是直接破坏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自身的栈帧。在该阶段中，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自身栈上的某个地址或偏移进行“向高地址平移”的计算。而这个“平移的值”是可控的，来源于攻击者输入。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通过人为构造一个过大的平移值，可以导致调用者函数自身发生缓冲区溢出，从而绕过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栈帧上的金丝雀保护机制，实现控制流劫持。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1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51F0-7865-953E-A79B-A052A829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C8E0A54B-ACE6-6304-B706-A708CB014A46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21.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B1AF5CCE-5567-4A86-6D3C-4E62ED2C8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2872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9A221F-1307-538E-B1C1-72D7EC4ACFB1}"/>
              </a:ext>
            </a:extLst>
          </p:cNvPr>
          <p:cNvSpPr txBox="1"/>
          <p:nvPr/>
        </p:nvSpPr>
        <p:spPr>
          <a:xfrm>
            <a:off x="7934048" y="1191891"/>
            <a:ext cx="5502552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而这个函数叫做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getbuf_withcanary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9331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29F5-87F2-F13E-7EA9-A9732777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C7657E-CCCC-8325-9C4B-E013F47E4059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EC1D2B11-BA02-F278-FDB8-D22DB8359C0E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375925-D5B8-C87B-6A27-A35110F53271}"/>
              </a:ext>
            </a:extLst>
          </p:cNvPr>
          <p:cNvSpPr txBox="1"/>
          <p:nvPr/>
        </p:nvSpPr>
        <p:spPr>
          <a:xfrm>
            <a:off x="777598" y="1420491"/>
            <a:ext cx="10636804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中，我们尝试进行了空操作雪橇（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nop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sled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）攻击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861856-EC11-B603-9AF8-A3F81A1DEEC0}"/>
              </a:ext>
            </a:extLst>
          </p:cNvPr>
          <p:cNvSpPr txBox="1"/>
          <p:nvPr/>
        </p:nvSpPr>
        <p:spPr>
          <a:xfrm>
            <a:off x="1013801" y="2372051"/>
            <a:ext cx="10164397" cy="388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nop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sled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（空操作雪橇）是一种代码注入攻击技术，其做法是在真正的攻击代码（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shellcode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）前放置大量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NOP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指令（如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0x90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），使得即使返回地址不精确，只要跳转到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NOP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区域内，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也会顺序执行并最终滑入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shellcode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，从而提高攻击成功率。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中，所有的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的程序代码地址都是精确的，并未采用随机化技术，而是通过精确控制返回地址或采用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ROP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链完成攻击。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199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5525-29E5-FD60-D050-001ADA0B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D8CFEB3-519E-69AE-1DF1-FC448283153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5F3C84E-8D2F-CBC3-796A-268906AF97EB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3A1D4-7E0D-ACA4-0100-52A5A1C108D1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starget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rtarget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都没有使用地址空间布局随机化（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ASLR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）技术，因此可以直接注入可执行的攻击代码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D642A1-64ED-7AA9-C444-69A6C4FAD41F}"/>
              </a:ext>
            </a:extLst>
          </p:cNvPr>
          <p:cNvSpPr txBox="1"/>
          <p:nvPr/>
        </p:nvSpPr>
        <p:spPr>
          <a:xfrm>
            <a:off x="963001" y="2534257"/>
            <a:ext cx="10164397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Write Up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关于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Part 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有说明：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E1E8A2-B256-FA59-A742-616DB801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9192"/>
            <a:ext cx="12192000" cy="95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1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C86F-D0EB-A178-E655-718642FC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66B4614-D5DC-6204-3EA1-7E3AD78C3F71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A3B5A1E-1768-49A2-7671-A2AE3F3A160A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866DA4-3BFF-9D5C-F50C-C9D0B1ED66B2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starget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rtarget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都没有使用地址空间布局随机化（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ASLR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）技术，因此可以直接注入可执行的攻击代码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81AB16-D609-1519-9E22-2ADF0B311448}"/>
              </a:ext>
            </a:extLst>
          </p:cNvPr>
          <p:cNvSpPr txBox="1"/>
          <p:nvPr/>
        </p:nvSpPr>
        <p:spPr>
          <a:xfrm>
            <a:off x="963001" y="2534257"/>
            <a:ext cx="1016439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关于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ASLR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CS:APP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P198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有说明：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 descr="文本, 信件&#10;&#10;AI 生成的内容可能不正确。">
            <a:extLst>
              <a:ext uri="{FF2B5EF4-FFF2-40B4-BE49-F238E27FC236}">
                <a16:creationId xmlns:a16="http://schemas.microsoft.com/office/drawing/2014/main" id="{EF57A930-7933-0B5C-4969-DD75DB9ED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9234"/>
            <a:ext cx="12192000" cy="25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254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B7E11-ECA9-1645-E574-EAE98429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62C8EE9-004A-116D-A901-DF1A3C1FEC71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2F0BF00-E33B-0084-760E-AEC96CBD0AA4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22.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35329F-EB5D-DE19-31F9-3787D1DD8262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因为存在金丝雀值保护机制，所以我们不能在栈上直接注入可执行的攻击代码，而必须使用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ROP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技术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65303A-2C20-9C2F-7594-001397662860}"/>
              </a:ext>
            </a:extLst>
          </p:cNvPr>
          <p:cNvSpPr txBox="1"/>
          <p:nvPr/>
        </p:nvSpPr>
        <p:spPr>
          <a:xfrm>
            <a:off x="1013801" y="2894736"/>
            <a:ext cx="1016439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中，是否必须使用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ROP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，取决于是否启用了“栈不可执行”机制，而不是是否存在栈金丝雀（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canary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455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E17A-B9C8-6581-DF4D-46F95B1F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695980F-2B86-BD5C-0A58-B7274B5BF87A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1189CCD-942B-4DC3-5F24-3E0CCF6E5C31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r>
              <a:rPr lang="en-US" altLang="zh-CN" sz="3600" b="1" dirty="0">
                <a:solidFill>
                  <a:sysClr val="windowText" lastClr="0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.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4BD1490-8792-2DF0-53C7-2A750528F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309"/>
            <a:ext cx="12192000" cy="37767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68CB6AC-F933-E946-B30D-B17F1EF94071}"/>
              </a:ext>
            </a:extLst>
          </p:cNvPr>
          <p:cNvSpPr txBox="1"/>
          <p:nvPr/>
        </p:nvSpPr>
        <p:spPr>
          <a:xfrm>
            <a:off x="3404683" y="5781726"/>
            <a:ext cx="3461783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061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D0D5-158A-F62C-2D7E-96EF1A43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A8C201A-16E6-4F9F-1AB3-F9F60BF0DFF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21DE49A-F417-7D03-F817-1F558D9A4362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23.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B7B3CE-18F0-96F8-52CA-CA91BCE4780D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使用命令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启动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调试器后，想要调试的程序自动开始运行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C8904D-D23D-627F-39BE-C6E16835EC1E}"/>
              </a:ext>
            </a:extLst>
          </p:cNvPr>
          <p:cNvSpPr txBox="1"/>
          <p:nvPr/>
        </p:nvSpPr>
        <p:spPr>
          <a:xfrm>
            <a:off x="1013801" y="2894736"/>
            <a:ext cx="1016439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执行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ctarget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只是启动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并加载可执行文件，程序本身并不会自动运行。必须显式使用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run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（或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）命令，程序才会开始执行。</a:t>
            </a:r>
          </a:p>
        </p:txBody>
      </p:sp>
    </p:spTree>
    <p:extLst>
      <p:ext uri="{BB962C8B-B14F-4D97-AF65-F5344CB8AC3E}">
        <p14:creationId xmlns:p14="http://schemas.microsoft.com/office/powerpoint/2010/main" val="10415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60EA-B891-EDEB-CCAD-8BA11527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3CB05E9-AEDB-EDF9-3B2C-718C5654B233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E80C7C50-9787-C6A4-4CAF-0EBF3AD165E5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23.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AFD43C-D8AE-8251-43F1-2EFB3D96E71C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如果我们想要以十六进制格式打印出寄存器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的值，可以使用命令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x/x 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FCA2CF-EA54-280E-A5C1-080CC5B59F96}"/>
              </a:ext>
            </a:extLst>
          </p:cNvPr>
          <p:cNvSpPr txBox="1"/>
          <p:nvPr/>
        </p:nvSpPr>
        <p:spPr>
          <a:xfrm>
            <a:off x="1013801" y="2894736"/>
            <a:ext cx="10164397" cy="332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x/x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是“以十六进制格式查看内存内容”的命令，其参数应当是一个内存地址。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而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是寄存器，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x/x 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的含义是：把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的值当作地址，再去读取该地址处的内存。如果想直接查看寄存器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的值，应使用：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p/x $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或 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info registers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959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23A0-1269-9230-BD83-ABEE237C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786089A-399C-E395-1E26-4DD115550E25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81014CED-988B-C80C-569D-E1897C80377B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23.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2CDAEB-0EC3-A6E9-CB2B-FA7161AE153C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可以使用命令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break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函数入口处设置断点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C50212-D534-41AB-588C-C589EB66AF61}"/>
              </a:ext>
            </a:extLst>
          </p:cNvPr>
          <p:cNvSpPr txBox="1"/>
          <p:nvPr/>
        </p:nvSpPr>
        <p:spPr>
          <a:xfrm>
            <a:off x="1013801" y="2894736"/>
            <a:ext cx="10164397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正确。</a:t>
            </a:r>
          </a:p>
          <a:p>
            <a:pPr indent="612000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中，可以直接使用函数名设置断点，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break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（或简写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）会在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函数入口处设置断点。这是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AttackLab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中调试缓冲区溢出、观察栈布局的常用做法。（这题如果做了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lab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应该都还行）</a:t>
            </a:r>
          </a:p>
        </p:txBody>
      </p:sp>
    </p:spTree>
    <p:extLst>
      <p:ext uri="{BB962C8B-B14F-4D97-AF65-F5344CB8AC3E}">
        <p14:creationId xmlns:p14="http://schemas.microsoft.com/office/powerpoint/2010/main" val="73483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1D80-6BA1-4CA6-AC95-126BE5AC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CD16BB6-FB78-EFD9-3F06-1C328BD6C22B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3F2BC283-BAFA-8375-FABD-FD846058F8AC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23.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C492A4-B094-5611-E200-52A65BD5B3ED}"/>
              </a:ext>
            </a:extLst>
          </p:cNvPr>
          <p:cNvSpPr txBox="1"/>
          <p:nvPr/>
        </p:nvSpPr>
        <p:spPr>
          <a:xfrm>
            <a:off x="777598" y="1420491"/>
            <a:ext cx="1063680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gdb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中，可以使用命令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run &gt; input.txt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将文件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input.txt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的内容作为输入传递给目标程序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024827-72D3-CA05-F353-E91359AB4207}"/>
              </a:ext>
            </a:extLst>
          </p:cNvPr>
          <p:cNvSpPr txBox="1"/>
          <p:nvPr/>
        </p:nvSpPr>
        <p:spPr>
          <a:xfrm>
            <a:off x="1013801" y="2894736"/>
            <a:ext cx="10164397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run &gt; input.txt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是将程序的标准输出重定向到文件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input.txt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，而不是将文件作为输入。如果想将文件内容作为程序输入，应使用：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run &lt; input.txt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3944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51ADD-A6AD-8F7C-1D3A-4C1DBA438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ABA36EA-A5BE-C945-0590-7D237B1FB6D4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B302CD9E-4976-92C1-E70E-6631DB58A8E2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24.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45EBF8-F6A8-9E90-29FA-2CE986F48C07}"/>
              </a:ext>
            </a:extLst>
          </p:cNvPr>
          <p:cNvSpPr txBox="1"/>
          <p:nvPr/>
        </p:nvSpPr>
        <p:spPr>
          <a:xfrm>
            <a:off x="966120" y="4724400"/>
            <a:ext cx="3461783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? 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（我不确定）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DDA5EAFF-710E-EA1C-F3DB-39982CC2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748"/>
          <a:stretch>
            <a:fillRect/>
          </a:stretch>
        </p:blipFill>
        <p:spPr>
          <a:xfrm>
            <a:off x="325497" y="1430867"/>
            <a:ext cx="11157560" cy="30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38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C07B-945E-3D84-3099-8DB399FF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66BD12F-8965-C573-359F-B62C83BD9CF2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0B1D6F55-E8DC-8C2D-E1EC-8C3A9E42C9C4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24.</a:t>
            </a:r>
          </a:p>
        </p:txBody>
      </p:sp>
      <p:pic>
        <p:nvPicPr>
          <p:cNvPr id="11" name="图片 10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A35627F-FC5A-2589-E16A-A017D040B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2" y="1362803"/>
            <a:ext cx="11822175" cy="472505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A881786-88AA-C7E9-3528-1F59C3EE1B63}"/>
              </a:ext>
            </a:extLst>
          </p:cNvPr>
          <p:cNvSpPr/>
          <p:nvPr/>
        </p:nvSpPr>
        <p:spPr>
          <a:xfrm>
            <a:off x="5486400" y="2641600"/>
            <a:ext cx="3699933" cy="431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554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1E1B-5FF8-BB29-EEA6-CC35D468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7084247-6408-720C-36ED-168006474FA0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247D0246-B9F4-E30E-1C92-CC2612BB0238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24.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14960B-12A8-5459-9B68-ED30D956D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19" y="1417652"/>
            <a:ext cx="7419881" cy="54403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9F775FB-225C-E7A3-8DB0-7C6CEE2CEB2E}"/>
              </a:ext>
            </a:extLst>
          </p:cNvPr>
          <p:cNvSpPr txBox="1"/>
          <p:nvPr/>
        </p:nvSpPr>
        <p:spPr>
          <a:xfrm>
            <a:off x="291917" y="1417652"/>
            <a:ext cx="4099202" cy="27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的栈帧，不包含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的返回地址，因此，即使缓冲区溢出覆盖了返回地址，那修改的也是使用者的栈帧。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getbuf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的栈帧大小不变。</a:t>
            </a:r>
          </a:p>
        </p:txBody>
      </p:sp>
    </p:spTree>
    <p:extLst>
      <p:ext uri="{BB962C8B-B14F-4D97-AF65-F5344CB8AC3E}">
        <p14:creationId xmlns:p14="http://schemas.microsoft.com/office/powerpoint/2010/main" val="259546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2BBC-A919-E292-CB6B-5D219CB2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55F3038-62EF-F8BD-861B-8E3B6256ACC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A79A8A5F-D784-E299-E53C-EBDD5022EF67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24.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5018B7-67DC-6CEA-CC84-9D5965315F66}"/>
              </a:ext>
            </a:extLst>
          </p:cNvPr>
          <p:cNvSpPr txBox="1"/>
          <p:nvPr/>
        </p:nvSpPr>
        <p:spPr>
          <a:xfrm>
            <a:off x="966120" y="4724400"/>
            <a:ext cx="8237147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? 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（这么直接吗，其实我蒙的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31F97115-2621-3DF4-1415-B1308EE5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748"/>
          <a:stretch>
            <a:fillRect/>
          </a:stretch>
        </p:blipFill>
        <p:spPr>
          <a:xfrm>
            <a:off x="325497" y="1430867"/>
            <a:ext cx="11157560" cy="30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948A-E896-198C-32D1-F938041C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15A0D7A-8A0B-DDD8-E670-ACE905B24D4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E83AE559-19CA-05B1-028A-B8D9DEDEC0B1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9CF684D-6B6F-D704-7238-0593309C6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769"/>
            <a:ext cx="12192000" cy="43404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06419E7-1285-B124-F463-D1B8489225D0}"/>
              </a:ext>
            </a:extLst>
          </p:cNvPr>
          <p:cNvSpPr txBox="1"/>
          <p:nvPr/>
        </p:nvSpPr>
        <p:spPr>
          <a:xfrm>
            <a:off x="906853" y="5599231"/>
            <a:ext cx="4562613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9048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7563-BC4A-9CEB-A651-A58D501A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1E53607-F5D2-003B-2886-ED27A1D4E27C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E129F00-D0EA-7B28-39FE-0A9904271532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205CD9-4130-8840-D112-25672B4DDCAF}"/>
              </a:ext>
            </a:extLst>
          </p:cNvPr>
          <p:cNvSpPr txBox="1"/>
          <p:nvPr/>
        </p:nvSpPr>
        <p:spPr>
          <a:xfrm>
            <a:off x="325497" y="1974756"/>
            <a:ext cx="11502436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如果 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cookie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的字符串表示末尾的 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00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字节是为了填充对齐而添加的，</a:t>
            </a:r>
            <a:r>
              <a:rPr lang="en-US" altLang="zh-CN" sz="3200" dirty="0" err="1">
                <a:latin typeface="宋体" panose="02010600030101010101" pitchFamily="2" charset="-122"/>
                <a:ea typeface="宋体" panose="02010600030101010101" pitchFamily="2" charset="-122"/>
              </a:rPr>
              <a:t>hexmatch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函数在比较时会忽略该字节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62337E-457A-B878-E43D-475B14AE19ED}"/>
              </a:ext>
            </a:extLst>
          </p:cNvPr>
          <p:cNvSpPr txBox="1"/>
          <p:nvPr/>
        </p:nvSpPr>
        <p:spPr>
          <a:xfrm>
            <a:off x="325497" y="1028700"/>
            <a:ext cx="896243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投机的直接判断方法（不用看后面那堆）</a:t>
            </a:r>
          </a:p>
        </p:txBody>
      </p:sp>
    </p:spTree>
    <p:extLst>
      <p:ext uri="{BB962C8B-B14F-4D97-AF65-F5344CB8AC3E}">
        <p14:creationId xmlns:p14="http://schemas.microsoft.com/office/powerpoint/2010/main" val="865441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19CE-19D3-A490-0859-D57BA090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1010482-42A9-6079-3B6C-EFE7594FD21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AD3E2DDD-137D-F0BB-2716-76EC1567301F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DFE6530-7346-AC8F-9EDE-A95407B0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744281"/>
            <a:ext cx="10744200" cy="4980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3DAD22-8606-6C88-0842-98551074EBA7}"/>
              </a:ext>
            </a:extLst>
          </p:cNvPr>
          <p:cNvSpPr/>
          <p:nvPr/>
        </p:nvSpPr>
        <p:spPr>
          <a:xfrm>
            <a:off x="1363134" y="5638800"/>
            <a:ext cx="5875866" cy="431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696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E284-B183-6479-557E-CEFC2C18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422BEFC-5D3E-920A-2854-8FD2E61B6B66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3669CC0A-1BA8-85A5-363A-30188BF0D3B0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320B55-1C9D-586F-7779-BA80474B34C3}"/>
              </a:ext>
            </a:extLst>
          </p:cNvPr>
          <p:cNvSpPr txBox="1"/>
          <p:nvPr/>
        </p:nvSpPr>
        <p:spPr>
          <a:xfrm>
            <a:off x="1013801" y="1442347"/>
            <a:ext cx="10164397" cy="499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strncmp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(s1, s2, n)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的含义是：从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s1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s2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的起始位置开始，按字节逐个比较，最多比较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个字节，遇到以下任一情况即停止比较：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）已经比较了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个字节</a:t>
            </a:r>
          </a:p>
          <a:p>
            <a:pPr indent="612000">
              <a:lnSpc>
                <a:spcPct val="15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）在比较过程中遇到了字符串结束符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'\0'</a:t>
            </a:r>
          </a:p>
          <a:p>
            <a:pPr indent="612000">
              <a:lnSpc>
                <a:spcPct val="15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如果在停止比较之前发现某一位置的字节不同，则认为两个字符串不相等；如果在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个字节范围内所有被比较的字节都完全相同，则认为两个字符串相等。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612000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hexmatch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并不会忽略。两分轻松到手。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115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52E5B-2A23-5AE6-301A-5FC67B0F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472A851-6784-0157-AB07-D59779C094BF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F9C89EBC-2AEE-8BE5-DBD2-63B8A93ADCE2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2E5052-7FAF-2E7B-3495-9DFFE043C282}"/>
              </a:ext>
            </a:extLst>
          </p:cNvPr>
          <p:cNvSpPr txBox="1"/>
          <p:nvPr/>
        </p:nvSpPr>
        <p:spPr>
          <a:xfrm>
            <a:off x="777597" y="1343806"/>
            <a:ext cx="10636804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缓冲区的大小为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56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552A05-7809-1F74-2391-9B59D0F4EA61}"/>
              </a:ext>
            </a:extLst>
          </p:cNvPr>
          <p:cNvSpPr txBox="1"/>
          <p:nvPr/>
        </p:nvSpPr>
        <p:spPr>
          <a:xfrm>
            <a:off x="1013801" y="2894736"/>
            <a:ext cx="10164397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61200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表述正确。因此不选。</a:t>
            </a:r>
          </a:p>
        </p:txBody>
      </p:sp>
      <p:pic>
        <p:nvPicPr>
          <p:cNvPr id="5" name="图片 4" descr="文本, 表格&#10;&#10;AI 生成的内容可能不正确。">
            <a:extLst>
              <a:ext uri="{FF2B5EF4-FFF2-40B4-BE49-F238E27FC236}">
                <a16:creationId xmlns:a16="http://schemas.microsoft.com/office/drawing/2014/main" id="{03721482-B3DA-70E1-8E69-53DBF48C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45" y="1623691"/>
            <a:ext cx="7205845" cy="464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49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2740-E17D-9D1C-FD32-9BBEF1B2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15C6291-0166-F531-0878-F1170A04F5C6}"/>
              </a:ext>
            </a:extLst>
          </p:cNvPr>
          <p:cNvSpPr/>
          <p:nvPr/>
        </p:nvSpPr>
        <p:spPr>
          <a:xfrm>
            <a:off x="0" y="977900"/>
            <a:ext cx="121920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43206A64-D472-E804-AC76-7B3A3019BCEE}"/>
              </a:ext>
            </a:extLst>
          </p:cNvPr>
          <p:cNvSpPr txBox="1">
            <a:spLocks/>
          </p:cNvSpPr>
          <p:nvPr/>
        </p:nvSpPr>
        <p:spPr bwMode="auto">
          <a:xfrm>
            <a:off x="325497" y="137735"/>
            <a:ext cx="8204812" cy="6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685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</a:rPr>
              <a:t>25.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8EB66F-347A-0D7B-A421-6DF853735F6F}"/>
              </a:ext>
            </a:extLst>
          </p:cNvPr>
          <p:cNvSpPr txBox="1"/>
          <p:nvPr/>
        </p:nvSpPr>
        <p:spPr>
          <a:xfrm>
            <a:off x="633665" y="1343806"/>
            <a:ext cx="10636804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在执行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movq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&amp;cookie, %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指令时，寄存器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rsp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的值是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0x5566bd88</a:t>
            </a:r>
          </a:p>
        </p:txBody>
      </p:sp>
    </p:spTree>
    <p:extLst>
      <p:ext uri="{BB962C8B-B14F-4D97-AF65-F5344CB8AC3E}">
        <p14:creationId xmlns:p14="http://schemas.microsoft.com/office/powerpoint/2010/main" val="276848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E236-2F9D-C6C5-9202-C0779289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, 信件&#10;&#10;AI 生成的内容可能不正确。">
            <a:extLst>
              <a:ext uri="{FF2B5EF4-FFF2-40B4-BE49-F238E27FC236}">
                <a16:creationId xmlns:a16="http://schemas.microsoft.com/office/drawing/2014/main" id="{7CB92379-E437-7CE3-1C03-BAF4D295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20" y="2971021"/>
            <a:ext cx="4591691" cy="35914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0DA8767-6072-D6BC-F4FF-C6BCCBAC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32" y="1965347"/>
            <a:ext cx="7649101" cy="8810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724F50-20D3-777F-471D-D1EDE1E2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0" y="1088925"/>
            <a:ext cx="9726382" cy="876422"/>
          </a:xfrm>
          <a:prstGeom prst="rect">
            <a:avLst/>
          </a:prstGeom>
        </p:spPr>
      </p:pic>
      <p:pic>
        <p:nvPicPr>
          <p:cNvPr id="16" name="图片 15" descr="图片包含 文本&#10;&#10;AI 生成的内容可能不正确。">
            <a:extLst>
              <a:ext uri="{FF2B5EF4-FFF2-40B4-BE49-F238E27FC236}">
                <a16:creationId xmlns:a16="http://schemas.microsoft.com/office/drawing/2014/main" id="{E8A56C53-F438-8932-47E5-CA33054BB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632" y="171693"/>
            <a:ext cx="3953427" cy="828791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65C6437-EB23-0A77-AA3E-FB7A6DE7C19D}"/>
              </a:ext>
            </a:extLst>
          </p:cNvPr>
          <p:cNvCxnSpPr/>
          <p:nvPr/>
        </p:nvCxnSpPr>
        <p:spPr>
          <a:xfrm flipH="1">
            <a:off x="660400" y="1088925"/>
            <a:ext cx="66353" cy="46430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74A763B-3882-7EE1-6190-2A140EF0DC80}"/>
              </a:ext>
            </a:extLst>
          </p:cNvPr>
          <p:cNvSpPr txBox="1"/>
          <p:nvPr/>
        </p:nvSpPr>
        <p:spPr>
          <a:xfrm>
            <a:off x="4631267" y="2405896"/>
            <a:ext cx="3523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覆盖了</a:t>
            </a:r>
            <a:r>
              <a:rPr lang="en-US" altLang="zh-CN" sz="2000" b="1" dirty="0" err="1">
                <a:solidFill>
                  <a:srgbClr val="C00000"/>
                </a:solidFill>
              </a:rPr>
              <a:t>getbuf</a:t>
            </a:r>
            <a:r>
              <a:rPr lang="zh-CN" altLang="en-US" sz="2000" b="1" dirty="0">
                <a:solidFill>
                  <a:srgbClr val="C00000"/>
                </a:solidFill>
              </a:rPr>
              <a:t>原来的返回地址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B96A9DC-1406-4387-F011-47651E4BFAAB}"/>
              </a:ext>
            </a:extLst>
          </p:cNvPr>
          <p:cNvSpPr txBox="1"/>
          <p:nvPr/>
        </p:nvSpPr>
        <p:spPr>
          <a:xfrm>
            <a:off x="4800598" y="3568301"/>
            <a:ext cx="7332135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0x 00 00 00 00 55 66 bd 98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就是攻击植入的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movq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&amp;cookie, %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rdi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的代码所在位置</a:t>
            </a:r>
          </a:p>
        </p:txBody>
      </p:sp>
    </p:spTree>
    <p:extLst>
      <p:ext uri="{BB962C8B-B14F-4D97-AF65-F5344CB8AC3E}">
        <p14:creationId xmlns:p14="http://schemas.microsoft.com/office/powerpoint/2010/main" val="2059990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34A5-1F60-A018-C69B-4DB5C112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40F07AA-A847-C39E-50CB-617D58C8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30" y="5597547"/>
            <a:ext cx="7649101" cy="8810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DB9BC0C-04C2-4E8D-7749-C837369D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618" y="4721125"/>
            <a:ext cx="9726382" cy="876422"/>
          </a:xfrm>
          <a:prstGeom prst="rect">
            <a:avLst/>
          </a:prstGeom>
        </p:spPr>
      </p:pic>
      <p:pic>
        <p:nvPicPr>
          <p:cNvPr id="16" name="图片 15" descr="图片包含 文本&#10;&#10;AI 生成的内容可能不正确。">
            <a:extLst>
              <a:ext uri="{FF2B5EF4-FFF2-40B4-BE49-F238E27FC236}">
                <a16:creationId xmlns:a16="http://schemas.microsoft.com/office/drawing/2014/main" id="{FC6F37F9-3975-105A-806A-436CB1446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230" y="3803893"/>
            <a:ext cx="3953427" cy="828791"/>
          </a:xfrm>
          <a:prstGeom prst="rect">
            <a:avLst/>
          </a:prstGeom>
        </p:spPr>
      </p:pic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3F6A6FBB-A33D-3B3D-CFDC-C6473BD3CB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597" r="30095" b="52276"/>
          <a:stretch>
            <a:fillRect/>
          </a:stretch>
        </p:blipFill>
        <p:spPr>
          <a:xfrm>
            <a:off x="2607230" y="2682286"/>
            <a:ext cx="4281914" cy="969447"/>
          </a:xfrm>
          <a:prstGeom prst="rect">
            <a:avLst/>
          </a:prstGeom>
        </p:spPr>
      </p:pic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C4CEF156-2D1F-7403-2795-B07AD10959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2674" r="13652"/>
          <a:stretch>
            <a:fillRect/>
          </a:stretch>
        </p:blipFill>
        <p:spPr>
          <a:xfrm>
            <a:off x="2607230" y="831740"/>
            <a:ext cx="4863568" cy="969447"/>
          </a:xfrm>
          <a:prstGeom prst="rect">
            <a:avLst/>
          </a:prstGeom>
        </p:spPr>
      </p:pic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12984DC7-3FB8-E9CF-3F93-C0F87B71DA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t="45325" r="39252" b="27464"/>
          <a:stretch>
            <a:fillRect/>
          </a:stretch>
        </p:blipFill>
        <p:spPr>
          <a:xfrm>
            <a:off x="2607230" y="1632419"/>
            <a:ext cx="3721124" cy="104986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9B29551-7DB4-7445-18AE-C51B472804D4}"/>
              </a:ext>
            </a:extLst>
          </p:cNvPr>
          <p:cNvCxnSpPr>
            <a:cxnSpLocks/>
          </p:cNvCxnSpPr>
          <p:nvPr/>
        </p:nvCxnSpPr>
        <p:spPr>
          <a:xfrm>
            <a:off x="2237017" y="1124429"/>
            <a:ext cx="0" cy="464137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7AD76A9-2343-A31A-6BDB-F936BF980F49}"/>
              </a:ext>
            </a:extLst>
          </p:cNvPr>
          <p:cNvSpPr txBox="1"/>
          <p:nvPr/>
        </p:nvSpPr>
        <p:spPr>
          <a:xfrm>
            <a:off x="232354" y="3167009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0x 55 66 bd 98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E975F6-A9F1-1730-7F67-5E6B141D9C7A}"/>
              </a:ext>
            </a:extLst>
          </p:cNvPr>
          <p:cNvSpPr txBox="1"/>
          <p:nvPr/>
        </p:nvSpPr>
        <p:spPr>
          <a:xfrm>
            <a:off x="232354" y="4048108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0x 55 66 bd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90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3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1394</Words>
  <Application>Microsoft Office PowerPoint</Application>
  <PresentationFormat>宽屏</PresentationFormat>
  <Paragraphs>106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等线</vt:lpstr>
      <vt:lpstr>等线 Light</vt:lpstr>
      <vt:lpstr>黑体</vt:lpstr>
      <vt:lpstr>华文细黑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思远 曹</dc:creator>
  <cp:lastModifiedBy>思远 曹</cp:lastModifiedBy>
  <cp:revision>93</cp:revision>
  <dcterms:created xsi:type="dcterms:W3CDTF">2025-12-17T08:53:59Z</dcterms:created>
  <dcterms:modified xsi:type="dcterms:W3CDTF">2025-12-17T10:27:40Z</dcterms:modified>
</cp:coreProperties>
</file>