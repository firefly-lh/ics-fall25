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6"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en-US" altLang="zh-CN"/>
              <a:t>D</a:t>
            </a:r>
            <a:r>
              <a:rPr lang="en-US" altLang="zh-CN"/>
              <a:t>ynamic Memory Allocation</a:t>
            </a:r>
            <a:endParaRPr lang="en-US" altLang="zh-CN"/>
          </a:p>
        </p:txBody>
      </p:sp>
      <p:sp>
        <p:nvSpPr>
          <p:cNvPr id="3" name="副标题 2"/>
          <p:cNvSpPr>
            <a:spLocks noGrp="1"/>
          </p:cNvSpPr>
          <p:nvPr>
            <p:ph type="subTitle" idx="1"/>
          </p:nvPr>
        </p:nvSpPr>
        <p:spPr/>
        <p:txBody>
          <a:bodyPr/>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(1)</a:t>
            </a:r>
            <a:r>
              <a:rPr lang="zh-CN" altLang="en-US"/>
              <a:t>相比隐式空闲链表，显式空闲链表主要解决什么问题，如何解决的</a:t>
            </a:r>
            <a:endParaRPr lang="zh-CN" altLang="en-US"/>
          </a:p>
        </p:txBody>
      </p:sp>
      <p:sp>
        <p:nvSpPr>
          <p:cNvPr id="3" name="内容占位符 2"/>
          <p:cNvSpPr>
            <a:spLocks noGrp="1"/>
          </p:cNvSpPr>
          <p:nvPr>
            <p:ph idx="1"/>
          </p:nvPr>
        </p:nvSpPr>
        <p:spPr/>
        <p:txBody>
          <a:bodyPr/>
          <a:p>
            <a:r>
              <a:rPr lang="zh-CN" altLang="en-US"/>
              <a:t>问题：隐式空闲链表分配时需扫描所有块（包括已分配），效率低</a:t>
            </a:r>
            <a:endParaRPr lang="zh-CN" altLang="en-US"/>
          </a:p>
          <a:p>
            <a:r>
              <a:rPr lang="zh-CN" altLang="en-US"/>
              <a:t>解决：显式链表只链接空闲块，分配时只扫空闲块</a:t>
            </a:r>
            <a:endParaRPr lang="zh-CN" altLang="en-US"/>
          </a:p>
          <a:p>
            <a:r>
              <a:rPr lang="zh-CN" altLang="en-US"/>
              <a:t>实现：在空闲块的</a:t>
            </a:r>
            <a:r>
              <a:rPr lang="en-US" altLang="zh-CN"/>
              <a:t>payload</a:t>
            </a:r>
            <a:r>
              <a:rPr lang="zh-CN" altLang="en-US"/>
              <a:t>区域加入</a:t>
            </a:r>
            <a:r>
              <a:rPr lang="en-US" altLang="zh-CN"/>
              <a:t>next/prev</a:t>
            </a:r>
            <a:r>
              <a:rPr lang="zh-CN" altLang="en-US"/>
              <a:t>指针，形成双向链表</a:t>
            </a:r>
            <a:endParaRPr lang="zh-CN" altLang="en-US"/>
          </a:p>
          <a:p>
            <a:endParaRPr lang="zh-CN" altLang="en-US"/>
          </a:p>
        </p:txBody>
      </p:sp>
      <p:pic>
        <p:nvPicPr>
          <p:cNvPr id="4" name="图片 3"/>
          <p:cNvPicPr>
            <a:picLocks noChangeAspect="1"/>
          </p:cNvPicPr>
          <p:nvPr/>
        </p:nvPicPr>
        <p:blipFill>
          <a:blip r:embed="rId1"/>
          <a:stretch>
            <a:fillRect/>
          </a:stretch>
        </p:blipFill>
        <p:spPr>
          <a:xfrm>
            <a:off x="977265" y="3743325"/>
            <a:ext cx="10471785" cy="264287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(2)</a:t>
            </a:r>
            <a:r>
              <a:rPr lang="zh-CN" altLang="en-US"/>
              <a:t>显式空闲链表的分配和释放内存块时，都做哪些操作</a:t>
            </a:r>
            <a:endParaRPr lang="zh-CN" altLang="en-US"/>
          </a:p>
        </p:txBody>
      </p:sp>
      <p:sp>
        <p:nvSpPr>
          <p:cNvPr id="3" name="内容占位符 2"/>
          <p:cNvSpPr>
            <a:spLocks noGrp="1"/>
          </p:cNvSpPr>
          <p:nvPr>
            <p:ph idx="1"/>
          </p:nvPr>
        </p:nvSpPr>
        <p:spPr/>
        <p:txBody>
          <a:bodyPr/>
          <a:p>
            <a:r>
              <a:rPr lang="zh-CN" altLang="en-US"/>
              <a:t>分配：搜索链表</a:t>
            </a:r>
            <a:r>
              <a:rPr lang="en-US"/>
              <a:t>,</a:t>
            </a:r>
            <a:r>
              <a:rPr lang="zh-CN" altLang="en-US"/>
              <a:t>找到合适块后</a:t>
            </a:r>
            <a:r>
              <a:rPr lang="en-US" altLang="zh-CN"/>
              <a:t>,</a:t>
            </a:r>
            <a:r>
              <a:rPr lang="zh-CN" altLang="en-US"/>
              <a:t>从链表中移除</a:t>
            </a:r>
            <a:r>
              <a:rPr lang="en-US" altLang="zh-CN"/>
              <a:t>,</a:t>
            </a:r>
            <a:r>
              <a:rPr lang="zh-CN" altLang="en-US"/>
              <a:t>可选：分割块</a:t>
            </a:r>
            <a:r>
              <a:rPr lang="en-US" altLang="zh-CN"/>
              <a:t>, </a:t>
            </a:r>
            <a:r>
              <a:rPr lang="zh-CN" altLang="en-US"/>
              <a:t>剩余部分插回链表</a:t>
            </a:r>
            <a:endParaRPr lang="zh-CN" altLang="en-US"/>
          </a:p>
          <a:p>
            <a:endParaRPr lang="zh-CN" altLang="en-US"/>
          </a:p>
        </p:txBody>
      </p:sp>
      <p:pic>
        <p:nvPicPr>
          <p:cNvPr id="4" name="图片 3"/>
          <p:cNvPicPr>
            <a:picLocks noChangeAspect="1"/>
          </p:cNvPicPr>
          <p:nvPr/>
        </p:nvPicPr>
        <p:blipFill>
          <a:blip r:embed="rId1"/>
          <a:stretch>
            <a:fillRect/>
          </a:stretch>
        </p:blipFill>
        <p:spPr>
          <a:xfrm>
            <a:off x="918210" y="2677160"/>
            <a:ext cx="10110470" cy="402272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(2)</a:t>
            </a:r>
            <a:r>
              <a:rPr lang="zh-CN" altLang="en-US"/>
              <a:t>显式空闲链表的分配和释放内存块时，都做哪些操作</a:t>
            </a:r>
            <a:endParaRPr lang="zh-CN" altLang="en-US"/>
          </a:p>
        </p:txBody>
      </p:sp>
      <p:sp>
        <p:nvSpPr>
          <p:cNvPr id="3" name="内容占位符 2"/>
          <p:cNvSpPr>
            <a:spLocks noGrp="1"/>
          </p:cNvSpPr>
          <p:nvPr>
            <p:ph idx="1"/>
          </p:nvPr>
        </p:nvSpPr>
        <p:spPr/>
        <p:txBody>
          <a:bodyPr>
            <a:normAutofit lnSpcReduction="10000"/>
          </a:bodyPr>
          <a:p>
            <a:r>
              <a:rPr lang="zh-CN" altLang="en-US"/>
              <a:t>释放：将块插入链表（</a:t>
            </a:r>
            <a:r>
              <a:rPr lang="en-US" altLang="zh-CN"/>
              <a:t>LIFO,FIFO</a:t>
            </a:r>
            <a:r>
              <a:rPr lang="zh-CN" altLang="en-US"/>
              <a:t>或</a:t>
            </a:r>
            <a:r>
              <a:rPr lang="en-US" altLang="zh-CN"/>
              <a:t>Address-ordered policy</a:t>
            </a:r>
            <a:r>
              <a:rPr lang="zh-CN" altLang="en-US"/>
              <a:t>）</a:t>
            </a:r>
            <a:r>
              <a:rPr lang="en-US" altLang="zh-CN"/>
              <a:t>,</a:t>
            </a:r>
            <a:r>
              <a:rPr lang="zh-CN" altLang="en-US"/>
              <a:t>检查前后块是否空闲</a:t>
            </a:r>
            <a:r>
              <a:rPr lang="en-US" altLang="zh-CN"/>
              <a:t>,</a:t>
            </a:r>
            <a:r>
              <a:rPr lang="zh-CN" altLang="en-US"/>
              <a:t>合并并更新链表</a:t>
            </a:r>
            <a:endParaRPr lang="zh-CN" altLang="en-US"/>
          </a:p>
          <a:p>
            <a:r>
              <a:rPr lang="en-US" altLang="zh-CN"/>
              <a:t>LIFO</a:t>
            </a:r>
            <a:r>
              <a:rPr lang="zh-CN" altLang="en-US"/>
              <a:t>策略</a:t>
            </a:r>
            <a:r>
              <a:rPr lang="en-US" altLang="zh-CN"/>
              <a:t>:</a:t>
            </a:r>
            <a:r>
              <a:rPr lang="zh-CN" altLang="en-US"/>
              <a:t>将释放的块插入到空闲列表的开头</a:t>
            </a:r>
            <a:r>
              <a:rPr lang="en-US" altLang="zh-CN"/>
              <a:t>,FIFO</a:t>
            </a:r>
            <a:r>
              <a:rPr lang="zh-CN" altLang="en-US"/>
              <a:t>策略</a:t>
            </a:r>
            <a:r>
              <a:rPr lang="en-US" altLang="zh-CN"/>
              <a:t>:</a:t>
            </a:r>
            <a:r>
              <a:rPr lang="zh-CN" altLang="en-US"/>
              <a:t>将释放的块插入到空闲列表的末尾</a:t>
            </a:r>
            <a:r>
              <a:rPr lang="en-US" altLang="zh-CN"/>
              <a:t>,</a:t>
            </a:r>
            <a:r>
              <a:rPr lang="zh-CN" altLang="en-US"/>
              <a:t>优点</a:t>
            </a:r>
            <a:r>
              <a:rPr lang="en-US" altLang="zh-CN"/>
              <a:t>:</a:t>
            </a:r>
            <a:r>
              <a:rPr lang="zh-CN" altLang="en-US"/>
              <a:t>简单且时间固定</a:t>
            </a:r>
            <a:r>
              <a:rPr lang="en-US" altLang="zh-CN"/>
              <a:t>,</a:t>
            </a:r>
            <a:r>
              <a:rPr lang="zh-CN" altLang="en-US"/>
              <a:t>缺点</a:t>
            </a:r>
            <a:r>
              <a:rPr lang="en-US" altLang="zh-CN"/>
              <a:t>:</a:t>
            </a:r>
            <a:r>
              <a:rPr lang="zh-CN" altLang="en-US"/>
              <a:t>研究表明碎片化比按地址排序更严重</a:t>
            </a:r>
            <a:endParaRPr lang="zh-CN" altLang="en-US"/>
          </a:p>
          <a:p>
            <a:r>
              <a:rPr lang="zh-CN" altLang="en-US"/>
              <a:t>按地址排序策略</a:t>
            </a:r>
            <a:r>
              <a:rPr lang="en-US" altLang="zh-CN"/>
              <a:t>:</a:t>
            </a:r>
            <a:r>
              <a:rPr lang="zh-CN" altLang="en-US"/>
              <a:t>插入释放的块</a:t>
            </a:r>
            <a:r>
              <a:rPr lang="en-US" altLang="zh-CN"/>
              <a:t>,</a:t>
            </a:r>
            <a:r>
              <a:rPr lang="zh-CN" altLang="en-US"/>
              <a:t>使空闲列表的块始终按地址顺序排列</a:t>
            </a:r>
            <a:r>
              <a:rPr lang="en-US" altLang="zh-CN"/>
              <a:t>:addr(prev) &lt; addr(curr) &lt; addr(next),</a:t>
            </a:r>
            <a:r>
              <a:rPr lang="zh-CN" altLang="en-US"/>
              <a:t>缺点</a:t>
            </a:r>
            <a:r>
              <a:rPr lang="en-US" altLang="zh-CN"/>
              <a:t>:</a:t>
            </a:r>
            <a:r>
              <a:rPr lang="zh-CN" altLang="en-US"/>
              <a:t>需要搜索</a:t>
            </a:r>
            <a:r>
              <a:rPr lang="en-US" altLang="zh-CN"/>
              <a:t>,</a:t>
            </a:r>
            <a:r>
              <a:rPr lang="zh-CN" altLang="en-US"/>
              <a:t>优点</a:t>
            </a:r>
            <a:r>
              <a:rPr lang="en-US" altLang="zh-CN"/>
              <a:t>:</a:t>
            </a:r>
            <a:r>
              <a:rPr lang="zh-CN" altLang="en-US"/>
              <a:t>研究表明碎片化比</a:t>
            </a:r>
            <a:r>
              <a:rPr lang="en-US" altLang="zh-CN"/>
              <a:t> LIFO/FIFO </a:t>
            </a:r>
            <a:r>
              <a:rPr lang="zh-CN" altLang="en-US"/>
              <a:t>更低</a:t>
            </a:r>
            <a:endParaRPr lang="zh-CN" altLang="en-US"/>
          </a:p>
          <a:p>
            <a:r>
              <a:rPr lang="zh-CN" altLang="en-US"/>
              <a:t>若前</a:t>
            </a:r>
            <a:r>
              <a:rPr lang="en-US" altLang="zh-CN"/>
              <a:t>/</a:t>
            </a:r>
            <a:r>
              <a:rPr lang="zh-CN" altLang="en-US"/>
              <a:t>后块空闲</a:t>
            </a:r>
            <a:r>
              <a:rPr lang="en-US" altLang="zh-CN"/>
              <a:t>,</a:t>
            </a:r>
            <a:r>
              <a:rPr lang="zh-CN" altLang="en-US"/>
              <a:t>则从链表中移除出相邻块</a:t>
            </a:r>
            <a:r>
              <a:rPr lang="en-US" altLang="zh-CN"/>
              <a:t>,</a:t>
            </a:r>
            <a:r>
              <a:rPr lang="zh-CN" altLang="en-US"/>
              <a:t>将其与插入的块</a:t>
            </a:r>
            <a:r>
              <a:rPr lang="zh-CN" altLang="en-US"/>
              <a:t>合并，把合并后的新块插回链表</a:t>
            </a:r>
            <a:endParaRPr lang="zh-CN" altLang="en-US"/>
          </a:p>
          <a:p>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(3) </a:t>
            </a:r>
            <a:r>
              <a:rPr lang="zh-CN" altLang="en-US"/>
              <a:t>显式空闲链表的一些实现技巧</a:t>
            </a:r>
            <a:r>
              <a:rPr lang="zh-CN" altLang="en-US"/>
              <a:t>及对显式空闲链表进行小结</a:t>
            </a:r>
            <a:endParaRPr lang="zh-CN" altLang="en-US"/>
          </a:p>
        </p:txBody>
      </p:sp>
      <p:sp>
        <p:nvSpPr>
          <p:cNvPr id="3" name="内容占位符 2"/>
          <p:cNvSpPr>
            <a:spLocks noGrp="1"/>
          </p:cNvSpPr>
          <p:nvPr>
            <p:ph idx="1"/>
          </p:nvPr>
        </p:nvSpPr>
        <p:spPr/>
        <p:txBody>
          <a:bodyPr/>
          <a:p>
            <a:r>
              <a:rPr lang="zh-CN" altLang="en-US"/>
              <a:t>技巧：循环双向链表；同一结构支持多种插入与搜索策略；指针复用</a:t>
            </a:r>
            <a:r>
              <a:rPr lang="en-US" altLang="zh-CN"/>
              <a:t> payload </a:t>
            </a:r>
            <a:r>
              <a:rPr lang="zh-CN" altLang="en-US"/>
              <a:t>区</a:t>
            </a:r>
            <a:endParaRPr lang="zh-CN" altLang="en-US"/>
          </a:p>
          <a:p>
            <a:r>
              <a:rPr lang="zh-CN" altLang="en-US"/>
              <a:t>小结：优点：分配更快（只扫空闲块）、支持多种策略，缺点：实现略复杂、需维护指针、仍有碎片问题</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(4)</a:t>
            </a:r>
            <a:r>
              <a:rPr lang="zh-CN" altLang="en-US"/>
              <a:t>分离的空闲链表的实现方式、分配和释放内存块的操作方法，以及隐式和显示空闲链表</a:t>
            </a:r>
            <a:r>
              <a:rPr lang="zh-CN" altLang="en-US"/>
              <a:t>的优势和不足</a:t>
            </a:r>
            <a:endParaRPr lang="zh-CN" altLang="en-US"/>
          </a:p>
        </p:txBody>
      </p:sp>
      <p:sp>
        <p:nvSpPr>
          <p:cNvPr id="3" name="内容占位符 2"/>
          <p:cNvSpPr>
            <a:spLocks noGrp="1"/>
          </p:cNvSpPr>
          <p:nvPr>
            <p:ph idx="1"/>
          </p:nvPr>
        </p:nvSpPr>
        <p:spPr/>
        <p:txBody>
          <a:bodyPr>
            <a:normAutofit lnSpcReduction="10000"/>
          </a:bodyPr>
          <a:p>
            <a:r>
              <a:rPr lang="zh-CN" altLang="en-US"/>
              <a:t>实现：每个大小类一个独立空闲链表</a:t>
            </a:r>
            <a:endParaRPr lang="zh-CN" altLang="en-US"/>
          </a:p>
          <a:p>
            <a:r>
              <a:rPr lang="zh-CN" altLang="en-US"/>
              <a:t>分配：在对应大小类中找最小满足块，找不到则向更大类搜索或申请新内存</a:t>
            </a:r>
            <a:endParaRPr lang="zh-CN" altLang="en-US"/>
          </a:p>
          <a:p>
            <a:r>
              <a:rPr lang="zh-CN" altLang="en-US"/>
              <a:t>释放：合并后插入对应大小类链表</a:t>
            </a:r>
            <a:endParaRPr lang="zh-CN" altLang="en-US"/>
          </a:p>
          <a:p>
            <a:r>
              <a:rPr lang="zh-CN" altLang="en-US"/>
              <a:t>优势：更高的吞吐量：对于二的幂次大小类别，耗时为对数时间，而线性时间则耗时更长。更好的内存利用率：对分段空闲列表执行首次适配搜索近似于对整个堆进行最佳适配搜索，极端情况：给每个区块分配自己的大小类别等同于最佳适配</a:t>
            </a:r>
            <a:endParaRPr lang="zh-CN" altLang="en-US"/>
          </a:p>
          <a:p>
            <a:r>
              <a:rPr lang="zh-CN" altLang="en-US"/>
              <a:t>不足：需维护多条链表，实现复杂度高于显式链表</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t>(5) </a:t>
            </a:r>
            <a:r>
              <a:rPr lang="zh-CN" altLang="en-US"/>
              <a:t>自课件第</a:t>
            </a:r>
            <a:r>
              <a:rPr lang="en-US" altLang="zh-CN"/>
              <a:t> 76 </a:t>
            </a:r>
            <a:r>
              <a:rPr lang="zh-CN" altLang="en-US"/>
              <a:t>页起，逐个解读存储相关的常见问题和编程错误。与虚拟存储和动态内存分配相关的问题详细解读，其他的可以简略解读</a:t>
            </a:r>
            <a:endParaRPr lang="zh-CN" altLang="en-US"/>
          </a:p>
        </p:txBody>
      </p:sp>
      <p:sp>
        <p:nvSpPr>
          <p:cNvPr id="3" name="内容占位符 2"/>
          <p:cNvSpPr>
            <a:spLocks noGrp="1"/>
          </p:cNvSpPr>
          <p:nvPr>
            <p:ph idx="1"/>
            <p:custDataLst>
              <p:tags r:id="rId2"/>
            </p:custDataLst>
          </p:nvPr>
        </p:nvSpPr>
        <p:spPr/>
        <p:txBody>
          <a:bodyPr/>
          <a:p>
            <a:r>
              <a:rPr lang="en-US" altLang="zh-CN"/>
              <a:t>p77</a:t>
            </a:r>
            <a:r>
              <a:rPr lang="zh-CN" altLang="en-US"/>
              <a:t>解引用无效指针，</a:t>
            </a:r>
            <a:r>
              <a:rPr lang="en-US" altLang="zh-CN"/>
              <a:t>p78</a:t>
            </a:r>
            <a:r>
              <a:rPr lang="zh-CN" altLang="en-US"/>
              <a:t>读取未初始化的内存，</a:t>
            </a:r>
            <a:r>
              <a:rPr lang="en-US" altLang="zh-CN"/>
              <a:t>p79-85</a:t>
            </a:r>
            <a:r>
              <a:rPr lang="zh-CN" altLang="en-US"/>
              <a:t>覆盖内存，</a:t>
            </a:r>
            <a:r>
              <a:rPr lang="en-US" altLang="zh-CN"/>
              <a:t>p86</a:t>
            </a:r>
            <a:r>
              <a:rPr lang="zh-CN" altLang="en-US"/>
              <a:t>引用不存在的变量</a:t>
            </a:r>
            <a:endParaRPr lang="zh-CN" altLang="en-US"/>
          </a:p>
          <a:p>
            <a:endParaRPr lang="en-US" altLang="zh-CN"/>
          </a:p>
        </p:txBody>
      </p:sp>
      <p:graphicFrame>
        <p:nvGraphicFramePr>
          <p:cNvPr id="4" name="表格 3"/>
          <p:cNvGraphicFramePr/>
          <p:nvPr/>
        </p:nvGraphicFramePr>
        <p:xfrm>
          <a:off x="1179195" y="2752090"/>
          <a:ext cx="8532495" cy="1508760"/>
        </p:xfrm>
        <a:graphic>
          <a:graphicData uri="http://schemas.openxmlformats.org/drawingml/2006/table">
            <a:tbl>
              <a:tblPr firstRow="1" bandRow="1">
                <a:tableStyleId>{5C22544A-7EE6-4342-B048-85BDC9FD1C3A}</a:tableStyleId>
              </a:tblPr>
              <a:tblGrid>
                <a:gridCol w="2844165"/>
                <a:gridCol w="2844165"/>
                <a:gridCol w="2844165"/>
              </a:tblGrid>
              <a:tr h="381000">
                <a:tc>
                  <a:txBody>
                    <a:bodyPr/>
                    <a:p>
                      <a:pPr>
                        <a:buNone/>
                      </a:pPr>
                      <a:r>
                        <a:rPr lang="zh-CN" altLang="en-US"/>
                        <a:t>错误类型</a:t>
                      </a:r>
                      <a:endParaRPr lang="zh-CN" altLang="en-US"/>
                    </a:p>
                  </a:txBody>
                  <a:tcPr/>
                </a:tc>
                <a:tc>
                  <a:txBody>
                    <a:bodyPr/>
                    <a:p>
                      <a:pPr>
                        <a:buNone/>
                      </a:pPr>
                      <a:r>
                        <a:rPr lang="zh-CN" altLang="en-US"/>
                        <a:t>代码示例</a:t>
                      </a:r>
                      <a:endParaRPr lang="zh-CN" altLang="en-US"/>
                    </a:p>
                  </a:txBody>
                  <a:tcPr/>
                </a:tc>
                <a:tc>
                  <a:txBody>
                    <a:bodyPr/>
                    <a:p>
                      <a:pPr>
                        <a:buNone/>
                      </a:pPr>
                      <a:r>
                        <a:rPr lang="zh-CN" altLang="en-US"/>
                        <a:t>后果</a:t>
                      </a:r>
                      <a:endParaRPr lang="zh-CN" altLang="en-US"/>
                    </a:p>
                  </a:txBody>
                  <a:tcPr/>
                </a:tc>
              </a:tr>
              <a:tr h="381000">
                <a:tc>
                  <a:txBody>
                    <a:bodyPr/>
                    <a:p>
                      <a:pPr>
                        <a:buNone/>
                      </a:pPr>
                      <a:r>
                        <a:rPr lang="en-US" altLang="zh-CN"/>
                        <a:t>p87</a:t>
                      </a:r>
                      <a:r>
                        <a:rPr lang="zh-CN" altLang="en-US"/>
                        <a:t>重复释放</a:t>
                      </a:r>
                      <a:endParaRPr lang="zh-CN" altLang="en-US"/>
                    </a:p>
                  </a:txBody>
                  <a:tcPr/>
                </a:tc>
                <a:tc>
                  <a:txBody>
                    <a:bodyPr/>
                    <a:p>
                      <a:pPr>
                        <a:buNone/>
                      </a:pPr>
                      <a:r>
                        <a:rPr lang="en-US" altLang="zh-CN"/>
                        <a:t>`free(p); free(p);`</a:t>
                      </a:r>
                      <a:endParaRPr lang="en-US" altLang="zh-CN"/>
                    </a:p>
                  </a:txBody>
                  <a:tcPr/>
                </a:tc>
                <a:tc>
                  <a:txBody>
                    <a:bodyPr/>
                    <a:p>
                      <a:pPr>
                        <a:buNone/>
                      </a:pPr>
                      <a:r>
                        <a:rPr lang="zh-CN" altLang="en-US"/>
                        <a:t>崩溃</a:t>
                      </a:r>
                      <a:endParaRPr lang="zh-CN" altLang="en-US"/>
                    </a:p>
                  </a:txBody>
                  <a:tcPr/>
                </a:tc>
              </a:tr>
              <a:tr h="346075">
                <a:tc>
                  <a:txBody>
                    <a:bodyPr/>
                    <a:p>
                      <a:pPr>
                        <a:buNone/>
                      </a:pPr>
                      <a:r>
                        <a:rPr lang="en-US" altLang="zh-CN"/>
                        <a:t>p88</a:t>
                      </a:r>
                      <a:r>
                        <a:rPr lang="zh-CN" altLang="en-US"/>
                        <a:t>使用已释放内存</a:t>
                      </a:r>
                      <a:endParaRPr lang="zh-CN" altLang="en-US"/>
                    </a:p>
                  </a:txBody>
                  <a:tcPr/>
                </a:tc>
                <a:tc>
                  <a:txBody>
                    <a:bodyPr/>
                    <a:p>
                      <a:pPr>
                        <a:buNone/>
                      </a:pPr>
                      <a:r>
                        <a:rPr lang="en-US" altLang="zh-CN"/>
                        <a:t>`free(p); *p = 4;`</a:t>
                      </a:r>
                      <a:endParaRPr lang="en-US" altLang="zh-CN"/>
                    </a:p>
                  </a:txBody>
                  <a:tcPr/>
                </a:tc>
                <a:tc>
                  <a:txBody>
                    <a:bodyPr/>
                    <a:p>
                      <a:pPr>
                        <a:buNone/>
                      </a:pPr>
                      <a:r>
                        <a:rPr lang="zh-CN" altLang="en-US"/>
                        <a:t>数据污染或崩溃</a:t>
                      </a:r>
                      <a:endParaRPr lang="zh-CN" altLang="en-US"/>
                    </a:p>
                  </a:txBody>
                  <a:tcPr/>
                </a:tc>
              </a:tr>
              <a:tr h="381000">
                <a:tc>
                  <a:txBody>
                    <a:bodyPr/>
                    <a:p>
                      <a:pPr>
                        <a:buNone/>
                      </a:pPr>
                      <a:r>
                        <a:rPr lang="en-US" altLang="zh-CN" sz="1800">
                          <a:sym typeface="+mn-ea"/>
                        </a:rPr>
                        <a:t>p89-90</a:t>
                      </a:r>
                      <a:r>
                        <a:rPr lang="zh-CN" altLang="en-US" sz="1800">
                          <a:sym typeface="+mn-ea"/>
                        </a:rPr>
                        <a:t>内存泄漏</a:t>
                      </a:r>
                      <a:endParaRPr lang="zh-CN" altLang="en-US"/>
                    </a:p>
                  </a:txBody>
                  <a:tcPr/>
                </a:tc>
                <a:tc>
                  <a:txBody>
                    <a:bodyPr/>
                    <a:p>
                      <a:pPr>
                        <a:buNone/>
                      </a:pPr>
                      <a:r>
                        <a:rPr lang="en-US" altLang="zh-CN"/>
                        <a:t>`void f() { malloc(...); }`</a:t>
                      </a:r>
                      <a:endParaRPr lang="en-US" altLang="zh-CN"/>
                    </a:p>
                  </a:txBody>
                  <a:tcPr/>
                </a:tc>
                <a:tc>
                  <a:txBody>
                    <a:bodyPr/>
                    <a:p>
                      <a:pPr>
                        <a:buNone/>
                      </a:pPr>
                      <a:r>
                        <a:rPr lang="zh-CN" altLang="en-US"/>
                        <a:t>内存逐渐耗尽</a:t>
                      </a:r>
                      <a:endParaRPr lang="zh-CN" altLang="en-US"/>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(6) </a:t>
            </a:r>
            <a:r>
              <a:rPr lang="zh-CN" altLang="en-US"/>
              <a:t>基于课件第</a:t>
            </a:r>
            <a:r>
              <a:rPr lang="en-US" altLang="zh-CN"/>
              <a:t> 91 </a:t>
            </a:r>
            <a:r>
              <a:rPr lang="zh-CN" altLang="en-US"/>
              <a:t>页，讲解和展示这里提到的各个工具的用法</a:t>
            </a:r>
            <a:endParaRPr lang="zh-CN" altLang="en-US"/>
          </a:p>
        </p:txBody>
      </p:sp>
      <p:sp>
        <p:nvSpPr>
          <p:cNvPr id="3" name="内容占位符 2"/>
          <p:cNvSpPr>
            <a:spLocks noGrp="1"/>
          </p:cNvSpPr>
          <p:nvPr>
            <p:ph idx="1"/>
          </p:nvPr>
        </p:nvSpPr>
        <p:spPr/>
        <p:txBody>
          <a:bodyPr>
            <a:normAutofit lnSpcReduction="10000"/>
          </a:bodyPr>
          <a:p>
            <a:r>
              <a:rPr lang="en-US" altLang="zh-CN"/>
              <a:t>g</a:t>
            </a:r>
            <a:r>
              <a:rPr lang="en-US" altLang="zh-CN">
                <a:sym typeface="+mn-ea"/>
              </a:rPr>
              <a:t>db</a:t>
            </a:r>
            <a:r>
              <a:rPr lang="zh-CN" altLang="en-US">
                <a:sym typeface="+mn-ea"/>
              </a:rPr>
              <a:t>定位段错误与崩溃点</a:t>
            </a:r>
            <a:endParaRPr lang="en-US" altLang="zh-CN"/>
          </a:p>
          <a:p>
            <a:pPr marL="0" indent="457200">
              <a:buNone/>
            </a:pPr>
            <a:r>
              <a:rPr lang="en-US" altLang="zh-CN">
                <a:sym typeface="+mn-ea"/>
              </a:rPr>
              <a:t>gdb ./a.out</a:t>
            </a:r>
            <a:endParaRPr lang="en-US" altLang="zh-CN"/>
          </a:p>
          <a:p>
            <a:pPr marL="0" indent="457200">
              <a:buNone/>
            </a:pPr>
            <a:r>
              <a:rPr lang="en-US" altLang="zh-CN">
                <a:sym typeface="+mn-ea"/>
              </a:rPr>
              <a:t>(gdb) run</a:t>
            </a:r>
            <a:endParaRPr lang="en-US" altLang="zh-CN"/>
          </a:p>
          <a:p>
            <a:pPr marL="0" indent="457200">
              <a:buNone/>
            </a:pPr>
            <a:r>
              <a:rPr lang="en-US" altLang="zh-CN">
                <a:sym typeface="+mn-ea"/>
              </a:rPr>
              <a:t>(gdb) backtrace</a:t>
            </a:r>
            <a:endParaRPr lang="en-US" altLang="zh-CN"/>
          </a:p>
          <a:p>
            <a:r>
              <a:rPr lang="en-US" altLang="zh-CN"/>
              <a:t>Valgrind</a:t>
            </a:r>
            <a:r>
              <a:rPr lang="zh-CN" altLang="en-US"/>
              <a:t>捕获泄漏、越界、坏指针</a:t>
            </a:r>
            <a:endParaRPr lang="zh-CN" altLang="en-US"/>
          </a:p>
          <a:p>
            <a:pPr marL="0" indent="457200">
              <a:buNone/>
            </a:pPr>
            <a:r>
              <a:rPr lang="en-US" altLang="zh-CN"/>
              <a:t>valgrind --leak-check=full ./a.out</a:t>
            </a:r>
            <a:endParaRPr lang="en-US" altLang="zh-CN"/>
          </a:p>
          <a:p>
            <a:r>
              <a:rPr lang="en-US" altLang="zh-CN"/>
              <a:t>glibc malloc checker</a:t>
            </a:r>
            <a:r>
              <a:rPr lang="zh-CN" altLang="en-US"/>
              <a:t>运行即检测</a:t>
            </a:r>
            <a:r>
              <a:rPr lang="en-US" altLang="zh-CN"/>
              <a:t> double-free / corruption</a:t>
            </a:r>
            <a:r>
              <a:rPr lang="zh-CN" altLang="en-US"/>
              <a:t>，打印错误并</a:t>
            </a:r>
            <a:r>
              <a:rPr lang="en-US" altLang="zh-CN"/>
              <a:t> abort</a:t>
            </a:r>
            <a:endParaRPr lang="en-US" altLang="zh-CN"/>
          </a:p>
          <a:p>
            <a:pPr marL="0" indent="457200">
              <a:buNone/>
            </a:pPr>
            <a:r>
              <a:rPr lang="en-US" altLang="zh-CN"/>
              <a:t>export MALLOC_CHECK_=3</a:t>
            </a:r>
            <a:endParaRPr lang="en-US" altLang="zh-C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(7) </a:t>
            </a:r>
            <a:r>
              <a:rPr lang="zh-CN" altLang="en-US"/>
              <a:t>说明什么是</a:t>
            </a:r>
            <a:r>
              <a:rPr lang="en-US" altLang="zh-CN"/>
              <a:t>"</a:t>
            </a:r>
            <a:r>
              <a:rPr lang="zh-CN" altLang="en-US"/>
              <a:t>垃圾收集</a:t>
            </a:r>
            <a:r>
              <a:rPr lang="en-US" altLang="zh-CN"/>
              <a:t>"</a:t>
            </a:r>
            <a:r>
              <a:rPr lang="zh-CN" altLang="en-US"/>
              <a:t>，在哪些编程语言中使用了垃圾回收</a:t>
            </a:r>
            <a:endParaRPr lang="zh-CN" altLang="en-US"/>
          </a:p>
        </p:txBody>
      </p:sp>
      <p:sp>
        <p:nvSpPr>
          <p:cNvPr id="3" name="内容占位符 2"/>
          <p:cNvSpPr>
            <a:spLocks noGrp="1"/>
          </p:cNvSpPr>
          <p:nvPr>
            <p:ph idx="1"/>
          </p:nvPr>
        </p:nvSpPr>
        <p:spPr/>
        <p:txBody>
          <a:bodyPr/>
          <a:p>
            <a:r>
              <a:rPr lang="zh-CN" altLang="en-US"/>
              <a:t>定义：无需程序员</a:t>
            </a:r>
            <a:r>
              <a:rPr lang="en-US" altLang="zh-CN"/>
              <a:t> free</a:t>
            </a:r>
            <a:r>
              <a:rPr lang="zh-CN" altLang="en-US"/>
              <a:t>，系统自动回收堆分配的存储</a:t>
            </a:r>
            <a:r>
              <a:rPr lang="en-US" altLang="zh-CN"/>
              <a:t>——</a:t>
            </a:r>
            <a:r>
              <a:rPr lang="zh-CN" altLang="en-US"/>
              <a:t>应用程序无需显式释放内存</a:t>
            </a:r>
            <a:r>
              <a:rPr lang="en-US" altLang="zh-CN"/>
              <a:t> </a:t>
            </a:r>
            <a:endParaRPr lang="en-US" altLang="zh-CN"/>
          </a:p>
          <a:p>
            <a:r>
              <a:rPr lang="zh-CN" altLang="en-US"/>
              <a:t>语言：</a:t>
            </a:r>
            <a:r>
              <a:rPr lang="en-US" altLang="zh-CN"/>
              <a:t>Python</a:t>
            </a:r>
            <a:r>
              <a:rPr lang="zh-CN" altLang="en-US"/>
              <a:t>、</a:t>
            </a:r>
            <a:r>
              <a:rPr lang="en-US" altLang="zh-CN"/>
              <a:t>Java</a:t>
            </a:r>
            <a:r>
              <a:rPr lang="zh-CN" altLang="en-US"/>
              <a:t>、</a:t>
            </a:r>
            <a:r>
              <a:rPr lang="en-US" altLang="zh-CN"/>
              <a:t>Go</a:t>
            </a:r>
            <a:r>
              <a:rPr lang="zh-CN" altLang="en-US"/>
              <a:t>、</a:t>
            </a:r>
            <a:r>
              <a:rPr lang="en-US" altLang="zh-CN"/>
              <a:t>JavaScript</a:t>
            </a:r>
            <a:r>
              <a:rPr lang="zh-CN" altLang="en-US"/>
              <a:t>、</a:t>
            </a:r>
            <a:r>
              <a:rPr lang="en-US" altLang="zh-CN"/>
              <a:t>C#</a:t>
            </a:r>
            <a:r>
              <a:rPr lang="zh-CN" altLang="en-US"/>
              <a:t>、</a:t>
            </a:r>
            <a:r>
              <a:rPr lang="en-US" altLang="zh-CN"/>
              <a:t>Lisp </a:t>
            </a:r>
            <a:r>
              <a:rPr lang="zh-CN" altLang="en-US"/>
              <a:t>等；</a:t>
            </a:r>
            <a:r>
              <a:rPr lang="en-US" altLang="zh-CN"/>
              <a:t>C/C++ </a:t>
            </a:r>
            <a:r>
              <a:rPr lang="zh-CN" altLang="en-US"/>
              <a:t>可用保守式</a:t>
            </a:r>
            <a:r>
              <a:rPr lang="en-US" altLang="zh-CN"/>
              <a:t> GC</a:t>
            </a:r>
            <a:r>
              <a:rPr lang="zh-CN" altLang="en-US"/>
              <a:t>，但无法保证回收全部垃圾</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fontScale="90000"/>
          </a:bodyPr>
          <a:p>
            <a:r>
              <a:rPr lang="en-US" altLang="zh-CN"/>
              <a:t>(8) </a:t>
            </a:r>
            <a:r>
              <a:rPr lang="zh-CN" altLang="en-US"/>
              <a:t>讲解</a:t>
            </a:r>
            <a:r>
              <a:rPr lang="en-US" altLang="zh-CN"/>
              <a:t>"Mark and Sweep"</a:t>
            </a:r>
            <a:r>
              <a:rPr lang="zh-CN" altLang="en-US"/>
              <a:t>垃圾收集器的操作流程</a:t>
            </a:r>
            <a:endParaRPr lang="zh-CN" altLang="en-US"/>
          </a:p>
        </p:txBody>
      </p:sp>
      <p:sp>
        <p:nvSpPr>
          <p:cNvPr id="3" name="内容占位符 2"/>
          <p:cNvSpPr>
            <a:spLocks noGrp="1"/>
          </p:cNvSpPr>
          <p:nvPr>
            <p:ph idx="1"/>
          </p:nvPr>
        </p:nvSpPr>
        <p:spPr/>
        <p:txBody>
          <a:bodyPr/>
          <a:p>
            <a:r>
              <a:rPr lang="zh-CN" altLang="en-US"/>
              <a:t>阶段</a:t>
            </a:r>
            <a:r>
              <a:rPr lang="en-US" altLang="zh-CN"/>
              <a:t>1</a:t>
            </a:r>
            <a:r>
              <a:rPr lang="zh-CN" altLang="en-US"/>
              <a:t>：</a:t>
            </a:r>
            <a:r>
              <a:rPr lang="en-US" altLang="zh-CN"/>
              <a:t>Mark</a:t>
            </a:r>
            <a:r>
              <a:rPr lang="zh-CN" altLang="en-US"/>
              <a:t>：从根（栈、全局变量）出发，标记所有可达块</a:t>
            </a:r>
            <a:r>
              <a:rPr lang="en-US" altLang="zh-CN"/>
              <a:t> </a:t>
            </a:r>
            <a:endParaRPr lang="en-US" altLang="zh-CN"/>
          </a:p>
          <a:p>
            <a:r>
              <a:rPr lang="zh-CN" altLang="en-US"/>
              <a:t>阶段</a:t>
            </a:r>
            <a:r>
              <a:rPr lang="en-US" altLang="zh-CN"/>
              <a:t>2</a:t>
            </a:r>
            <a:r>
              <a:rPr lang="zh-CN" altLang="en-US"/>
              <a:t>：</a:t>
            </a:r>
            <a:r>
              <a:rPr lang="en-US" altLang="zh-CN"/>
              <a:t>Sweep</a:t>
            </a:r>
            <a:r>
              <a:rPr lang="zh-CN" altLang="en-US"/>
              <a:t>：扫描堆，回收未标记块</a:t>
            </a:r>
            <a:endParaRPr lang="zh-CN" altLang="en-US"/>
          </a:p>
        </p:txBody>
      </p:sp>
    </p:spTree>
  </p:cSld>
  <p:clrMapOvr>
    <a:masterClrMapping/>
  </p:clrMapOvr>
</p:sld>
</file>

<file path=ppt/tags/tag1.xml><?xml version="1.0" encoding="utf-8"?>
<p:tagLst xmlns:p="http://schemas.openxmlformats.org/presentationml/2006/main">
  <p:tag name="KSO_WM_DIAGRAM_VIRTUALLY_FRAME" val="{&quot;height&quot;:457.62503937007875,&quot;left&quot;:66,&quot;top&quot;:28.75,&quot;width&quot;:828}"/>
</p:tagLst>
</file>

<file path=ppt/tags/tag2.xml><?xml version="1.0" encoding="utf-8"?>
<p:tagLst xmlns:p="http://schemas.openxmlformats.org/presentationml/2006/main">
  <p:tag name="KSO_WM_DIAGRAM_VIRTUALLY_FRAME" val="{&quot;height&quot;:457.62503937007875,&quot;left&quot;:66,&quot;top&quot;:28.75,&quot;width&quot;:82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1530</Words>
  <Application>WPS 演示</Application>
  <PresentationFormat>宽屏</PresentationFormat>
  <Paragraphs>85</Paragraphs>
  <Slides>10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10</vt:i4>
      </vt:variant>
    </vt:vector>
  </HeadingPairs>
  <TitlesOfParts>
    <vt:vector size="17" baseType="lpstr">
      <vt:lpstr>Arial</vt:lpstr>
      <vt:lpstr>宋体</vt:lpstr>
      <vt:lpstr>Wingdings</vt:lpstr>
      <vt:lpstr>Arial Unicode MS</vt:lpstr>
      <vt:lpstr>Calibri</vt:lpstr>
      <vt:lpstr>微软雅黑</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沈周</cp:lastModifiedBy>
  <cp:revision>5</cp:revision>
  <dcterms:created xsi:type="dcterms:W3CDTF">2023-08-09T12:44:00Z</dcterms:created>
  <dcterms:modified xsi:type="dcterms:W3CDTF">2025-12-10T10:08:28Z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934E4B80E4CB4309AAD451DAFB725AAC_12</vt:lpwstr>
  </property>
</Properties>
</file>