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64" r:id="rId3"/>
    <p:sldId id="265" r:id="rId4"/>
    <p:sldId id="267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80" r:id="rId16"/>
    <p:sldId id="27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380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CCB521-61AC-4C28-8E6D-1A15F0FDFB9D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78256D-6F28-453E-9A91-27548A756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167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766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74FEC-BB9E-C877-D34E-252022B8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1A7C86-37F7-B940-A6E3-2E5759058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2D6622-4E37-ABD0-C3EE-923852C06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82309C-E28F-6476-A8D0-070A28104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777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61027-0E8B-C096-E193-2A81615B5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F16437-716E-28ED-737A-A6EC7A1B8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F97034-BFBF-6F9B-5A12-58FCFB11C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D18AC5-BF4E-6D5E-3350-9D2A79251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600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2E8D3-B662-740B-9DFA-248D2C0FA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6CD015-A36F-305E-2818-F2B2A898D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9A7D05-BE95-6374-155A-39AE15E0F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ED6B8F-A8EB-964D-11BC-CF7CCE712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977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577F8-A680-02A2-B31D-DCB7B8932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94AEF0-042D-B2A1-FFFA-F8FFB947A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494F22-03AF-43D0-5052-B1A21E03D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002B6E-89BC-DC07-B06C-4469BEB77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607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85E24-6051-899A-1FDC-147FE1459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EDEE94-5A5D-AA10-D421-97BDAAB25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596699-D0B0-A055-B866-E2ECA1DF3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7F4017-2E4B-C47E-F77E-A8F313978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062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90D91-5743-A88D-1164-80B318D5E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6B7449-3B9D-FB19-C0C5-59DCCA393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1E13EA-CFE2-591B-B2DF-F53DF0F17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A5222F-2DD0-5058-5A2D-A7D568018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765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01BB7-493A-C7C4-F7C5-C1010F561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861B00-E84D-C7EC-593A-2D5BE1529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D4E52C-B8C2-02DA-06A0-B5BE233BD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1C26BD-B6B6-8BA9-2078-09FD7AFF8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76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14BDE-625B-8685-C85B-B77D8F665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062673-B058-921D-1D03-BF30BF674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3338DD-4537-7273-FB09-9B73A5707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BB1E03-C6A8-AAEA-2D8A-7686C3685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981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53FFA-AC84-FE76-377E-4D454046A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6BEFD2-E1F8-44F0-C88C-E9B8439C2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9A7012-83FF-4421-8CD2-57CFCF31C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330E75-2BC1-EA0F-78C7-AF209BFBA8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515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975A7-93A5-BC78-00A7-63653772A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DB566E-5BCC-315B-05DF-430F409F7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F88B6C-782F-D712-6FC4-F3496BD17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9C06BF-E951-4624-9249-AE0C985E0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3760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64D89-58A6-2CB9-D3E2-4FDD05224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A07850-A788-2F3E-B284-DE6A0C7AE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FEEBEA-CEEB-AF9E-FF02-606D537A2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B5919B-BB2C-EEE4-5CDA-DFFD66678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661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DCB2B-FF6F-FB32-9AA9-84FD29675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FEA5ED-90EE-655F-E250-A8332CEE7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FB9292-32F2-A07B-98DA-0A5FEA78E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BA6EF3-9F81-5AF9-AA92-D7325BCD27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5945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1915C-C2E4-DC5F-B7B1-A8EB13BED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73FDB2-3C99-75CC-7467-036197953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A207D3-0A85-027B-DE33-C1E559BD1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DB0FCD-32DF-380B-20ED-B86EFCEE1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3561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FC059-B437-619C-48C2-229856D4B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F82FA6-FCAC-96C6-CE6B-21E1E3CD1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66461F-3AA9-E87F-1F65-F9480F2C0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1EFB3F-DA53-AD8E-C516-0AE005442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1982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F4EFF-9333-842A-79D3-49B4FE18A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928F89-A339-EDA7-C4FA-009DC0858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9D11CC-236E-AD28-08EB-16DABE640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885404-EAAE-095E-FC64-C0E53A160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391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2F543-A00B-47B2-D6E1-43147E2F2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1725EC-9A6A-1F3F-0808-3613666BE6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3028B7-17D1-E0F8-F476-4C3DE78F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EA67E-B6F5-4B11-9161-446313DA530E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ECC9DB-71B4-DA01-9EC2-8A243F7C0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CAA4EF-B4F4-7B70-8BE1-C17293215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143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3F1CA-F5BC-1594-FA0C-E1561E9CB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E444F2-526D-4D0F-E900-497CB7AC0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3BCDD2-DFF6-AE8A-3483-C96E25C31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2E7B9-724F-4861-9F4F-DFBEA4B199D2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7784E0-6D1B-D57B-7FF8-C2599717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B0E5D3-BA5D-0087-783E-1BFACE80C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495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61F853-D8C5-C3D4-AE59-A7C55E7BF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7C6663-62FD-5DF6-5A61-A4ED46599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908950-5E09-21C7-A577-4D486EBF7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0FE2-0D48-4CE4-995F-FF06C3685E49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7EF854-AA38-4F8E-3A1D-18F94C8F0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4A61EC-509E-FFCA-0AA2-114751D1C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478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D18F04-A95A-1B47-35C4-C1B999D6B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739620-A003-2B7F-84B3-ED9BFF2D2D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9F6FF7-7706-E76A-B4AE-8DA05E4E66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FB5AF1-2B91-909C-3DF3-B12ED3182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94DC-F2BD-41A4-9C9E-DD243B463500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4EA59C-9322-4A25-6822-6CE186ADB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8C5E01-60C0-06C0-7E44-F7494235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47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BC5610-313D-AB96-8132-AF9713C2F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E67E46-2997-AD49-0D30-A822347D7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A9CFA4-76BB-820D-C84E-1795C246E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8494D9A-793F-60BC-A335-152DF6A8C5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F2DE6D9-29B9-D17D-7370-775D0E51A2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0BBC7E-361D-7E63-BA34-621500347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B0580-9943-445D-9F15-47833BA4D309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05D483-BFAC-D236-6C15-5C1A04E79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586BC5-B9D3-1D77-3532-88BC218B8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325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F318F9-C134-620A-A0E3-6832C003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1218603-7655-87CB-8A2D-86D6AB759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43FA6-79CD-43B4-B08E-9A0BCF5B2264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B24338-D689-CEE4-3BF7-39509417C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4F5E99-8D9A-6395-8E17-331C43055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93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F587E0-8260-9E69-3F08-E90C4CF2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ABFB2-F4B8-453B-9246-B89E3D1D6275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D56741B-9667-89CB-8689-0863B258A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9DBCB4-DAEA-050D-7B5F-4933F705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957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DA68D-4A38-462D-AEA1-AAD905ED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26EED5-FD75-AA7B-2169-39EEDCAB2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179B92-83DC-2D8A-1866-E55F832BF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1797C0-5104-0C08-BD6C-6380632E7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B1B1-D905-4567-B802-D6515EF30FE1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1B9457-2713-23E5-59BF-4EF3E1744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BD22A1-A17E-553D-BCEC-77A530DBF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248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1E3ED2-603A-BDC7-6974-E0D63D43A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AF932EF-A554-0ECC-6E80-D3BF8379D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9D0260-C93E-3C22-150F-64447DE41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7B776E-D94B-30DE-6FAA-65B832399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52C62-6BB9-489B-8CE5-4C8FF17BDE43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08BA05-7A9B-1CA9-4D6B-FF22C003F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E0C975-4635-255D-878A-0E2C01D34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145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DDCCBA-EFCD-DF8A-FEC2-F98196A44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44AC2C-3CE7-8D58-E054-46F8E13A8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261018-8AE2-79DE-35AB-7834A326A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C788D-8079-4C6F-82DF-C1A770289A17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308962-7496-5DCA-A2C0-8CB6DCEDD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DAB17D-B7F0-2F4A-EA89-91B7B452D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882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875635D-879C-4CB1-7D2B-35D4EC5C8E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A165FE-7375-F782-A981-B63027AD3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1DFEDE-59A4-1922-6D5C-024376578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5189F-A15A-4CE7-8484-6B92B7759828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1A2B2A-2A15-7BDD-4DF2-6ABA8E07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264F18-3FF6-E6D3-D998-10C1FE824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392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BB606C-4242-4189-0A27-EB6E94D49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6692B9-B205-99A6-F6CF-9011F3A23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62D9CA-7B1B-628B-ECB4-1BE0900B54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E655C-5CAA-49D2-9715-D5AE744AF91D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6F1497-4AEF-BF13-65D2-692FFC792E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E9DC35-F20D-77D2-EE26-C1010E17C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4AD37-9C95-4FA4-8F42-166F9C21A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448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5">
            <a:extLst>
              <a:ext uri="{FF2B5EF4-FFF2-40B4-BE49-F238E27FC236}">
                <a16:creationId xmlns:a16="http://schemas.microsoft.com/office/drawing/2014/main" id="{EAEC00F2-B302-FD89-9404-7CEE18E2FA27}"/>
              </a:ext>
            </a:extLst>
          </p:cNvPr>
          <p:cNvSpPr txBox="1">
            <a:spLocks/>
          </p:cNvSpPr>
          <p:nvPr/>
        </p:nvSpPr>
        <p:spPr>
          <a:xfrm>
            <a:off x="0" y="1815243"/>
            <a:ext cx="12192000" cy="1921743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108000" numCol="1" rtlCol="0" anchor="ctr" anchorCtr="1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ICS</a:t>
            </a:r>
            <a:r>
              <a:rPr lang="zh-CN" altLang="en-US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小班回课</a:t>
            </a:r>
            <a:r>
              <a:rPr lang="en-US" altLang="zh-CN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- Linking</a:t>
            </a:r>
            <a:endParaRPr lang="zh-CN" altLang="en-US" sz="48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2151A140-2537-5B09-85BB-03FB4283C25C}"/>
              </a:ext>
            </a:extLst>
          </p:cNvPr>
          <p:cNvSpPr txBox="1">
            <a:spLocks/>
          </p:cNvSpPr>
          <p:nvPr/>
        </p:nvSpPr>
        <p:spPr bwMode="auto">
          <a:xfrm>
            <a:off x="2788163" y="4230280"/>
            <a:ext cx="6615673" cy="111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eaLnBrk="1" hangingPunct="1">
              <a:buNone/>
              <a:defRPr/>
            </a:pPr>
            <a:r>
              <a:rPr lang="zh-CN" altLang="en-US" sz="2400" dirty="0"/>
              <a:t>曹思远</a:t>
            </a:r>
            <a:endParaRPr lang="en-US" altLang="zh-CN" sz="2400" dirty="0"/>
          </a:p>
          <a:p>
            <a:pPr marL="0" indent="0" algn="ctr" eaLnBrk="1" hangingPunct="1">
              <a:buNone/>
              <a:defRPr/>
            </a:pPr>
            <a:r>
              <a:rPr lang="en-US" altLang="zh-CN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zh-CN" altLang="en-US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年</a:t>
            </a:r>
            <a:r>
              <a:rPr lang="en-US" altLang="zh-CN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zh-CN" altLang="en-US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月</a:t>
            </a:r>
            <a:endParaRPr lang="en-US" altLang="zh-CN" sz="2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011CC5-D2A9-4949-3705-566E6B3F2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372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9F9BF-BF2F-343E-4F1C-B14B4F3A5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4970A30-59B4-2543-E4AD-1C8CB4727AA7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21EED5-1CB6-38D6-5A61-E711E67CA16E}"/>
              </a:ext>
            </a:extLst>
          </p:cNvPr>
          <p:cNvSpPr txBox="1">
            <a:spLocks/>
          </p:cNvSpPr>
          <p:nvPr/>
        </p:nvSpPr>
        <p:spPr bwMode="auto">
          <a:xfrm>
            <a:off x="325497" y="178035"/>
            <a:ext cx="8050193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600" dirty="0"/>
              <a:t>工具链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3962B1E-4DA7-3E96-AA89-8C3F1634C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10404"/>
            <a:ext cx="12192000" cy="256956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06932A9-B9D7-BC9D-5637-5D592A6EDA52}"/>
              </a:ext>
            </a:extLst>
          </p:cNvPr>
          <p:cNvSpPr txBox="1"/>
          <p:nvPr/>
        </p:nvSpPr>
        <p:spPr>
          <a:xfrm>
            <a:off x="6849532" y="1343568"/>
            <a:ext cx="6096000" cy="261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cpp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the preprocessor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cc1, the compiler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as/gas, the assembler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ld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the linker</a:t>
            </a:r>
            <a:r>
              <a:rPr lang="en-US" altLang="zh-CN" sz="2800" dirty="0"/>
              <a:t> </a:t>
            </a:r>
            <a:endParaRPr lang="zh-CN" altLang="en-US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741AF0-5A88-053B-FB47-5B66BE4F540E}"/>
              </a:ext>
            </a:extLst>
          </p:cNvPr>
          <p:cNvSpPr txBox="1"/>
          <p:nvPr/>
        </p:nvSpPr>
        <p:spPr>
          <a:xfrm>
            <a:off x="533400" y="1962766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基于</a:t>
            </a:r>
            <a:r>
              <a:rPr lang="zh-CN" altLang="en-US" sz="2400" b="0" i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课件第 </a:t>
            </a:r>
            <a:r>
              <a:rPr lang="en-US" altLang="zh-CN" sz="2400" b="0" i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4 </a:t>
            </a:r>
            <a:r>
              <a:rPr lang="zh-CN" altLang="en-US" sz="2400" b="0" i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及后续</a:t>
            </a:r>
            <a:r>
              <a:rPr lang="zh-CN" altLang="en-US" sz="2400" b="0" i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内容， 设计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一个新的程序</a:t>
            </a:r>
            <a:r>
              <a:rPr lang="zh-CN" altLang="en-US" sz="2400" b="0" i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示例， 单独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使用工具链</a:t>
            </a:r>
            <a:r>
              <a:rPr lang="zh-CN" altLang="en-US" sz="2400" b="0" i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中的 </a:t>
            </a:r>
            <a:r>
              <a:rPr lang="en-US" altLang="zh-CN" sz="2400" b="0" i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cpp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/cc1/as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等</a:t>
            </a:r>
            <a:r>
              <a:rPr lang="zh-CN" altLang="en-US" sz="2400" b="0" i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工具（ 或用 </a:t>
            </a:r>
            <a:r>
              <a:rPr lang="en-US" altLang="zh-CN" sz="2400" b="0" i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gcc </a:t>
            </a:r>
            <a:r>
              <a:rPr lang="zh-CN" altLang="en-US" sz="2400" b="0" i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加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相应</a:t>
            </a:r>
            <a:r>
              <a:rPr lang="zh-CN" altLang="en-US" sz="2400" b="0" i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选项）， 展示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每一步生成的</a:t>
            </a:r>
            <a:r>
              <a:rPr lang="zh-CN" altLang="en-US" sz="2400" b="0" i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结果。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9D973F16-B206-542F-BDDA-68CD09DF0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z="2000" smtClean="0"/>
              <a:t>2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29634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67543-7187-B8CC-D69B-EA08DA9C7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88FDBF9-EEAD-FAB6-B8C2-76600C0C0289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8567A9-4960-23CB-05D8-97395A057209}"/>
              </a:ext>
            </a:extLst>
          </p:cNvPr>
          <p:cNvSpPr txBox="1">
            <a:spLocks/>
          </p:cNvSpPr>
          <p:nvPr/>
        </p:nvSpPr>
        <p:spPr bwMode="auto">
          <a:xfrm>
            <a:off x="325497" y="178035"/>
            <a:ext cx="8050193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600" dirty="0"/>
              <a:t>工具链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10864F7-D634-6C59-DC1B-E7462A834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210240"/>
              </p:ext>
            </p:extLst>
          </p:nvPr>
        </p:nvGraphicFramePr>
        <p:xfrm>
          <a:off x="838200" y="2377387"/>
          <a:ext cx="10515600" cy="2926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4475206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9044009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3618019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870369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阶段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工具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/>
                        <a:t>对应的 </a:t>
                      </a:r>
                      <a:r>
                        <a:rPr lang="en-US" b="1"/>
                        <a:t>GCC </a:t>
                      </a:r>
                      <a:r>
                        <a:rPr lang="zh-CN" altLang="en-US" b="1"/>
                        <a:t>选项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942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预处理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cpp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展开宏、头文件、条件编译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-E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89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编译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cc1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把 </a:t>
                      </a:r>
                      <a:r>
                        <a:rPr lang="en-US" altLang="zh-CN"/>
                        <a:t>C </a:t>
                      </a:r>
                      <a:r>
                        <a:rPr lang="zh-CN" altLang="en-US"/>
                        <a:t>源码</a:t>
                      </a:r>
                      <a:r>
                        <a:rPr lang="zh-CN" altLang="en-US" dirty="0"/>
                        <a:t>编译成汇编代码（</a:t>
                      </a:r>
                      <a:r>
                        <a:rPr lang="en-US" altLang="zh-CN" dirty="0"/>
                        <a:t>.s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-S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52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汇编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en-US"/>
                        <a:t> /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gas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把汇编文件组装成目标文件（</a:t>
                      </a:r>
                      <a:r>
                        <a:rPr lang="en-US" altLang="zh-CN" dirty="0"/>
                        <a:t>.o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-c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711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链接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ld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把</a:t>
                      </a:r>
                      <a:r>
                        <a:rPr lang="zh-CN" altLang="en-US"/>
                        <a:t>多个 </a:t>
                      </a:r>
                      <a:r>
                        <a:rPr lang="en-US" altLang="zh-CN"/>
                        <a:t>.</a:t>
                      </a:r>
                      <a:r>
                        <a:rPr lang="en-US"/>
                        <a:t>o </a:t>
                      </a:r>
                      <a:r>
                        <a:rPr lang="zh-CN" altLang="en-US"/>
                        <a:t>链接</a:t>
                      </a:r>
                      <a:r>
                        <a:rPr lang="zh-CN" altLang="en-US" dirty="0"/>
                        <a:t>成可执行文件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默认行为（无选项）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369730"/>
                  </a:ext>
                </a:extLst>
              </a:tr>
            </a:tbl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909182-33D6-D583-74F4-763E76F06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z="2000"/>
              <a:pPr/>
              <a:t>3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89235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912B2-8020-FBAE-A982-66E90DFB2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E8634CE-165E-ABA3-9D90-759871BD9FCC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E6E853-25AB-6C8C-51BF-4BC22A8C3E72}"/>
              </a:ext>
            </a:extLst>
          </p:cNvPr>
          <p:cNvSpPr txBox="1">
            <a:spLocks/>
          </p:cNvSpPr>
          <p:nvPr/>
        </p:nvSpPr>
        <p:spPr bwMode="auto">
          <a:xfrm>
            <a:off x="325497" y="178035"/>
            <a:ext cx="8050193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/>
              <a:t>ELF &amp; readelf</a:t>
            </a:r>
            <a:endParaRPr lang="zh-CN" altLang="en-US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223FA6-CDE1-F53A-B8E4-736F7A7B1425}"/>
              </a:ext>
            </a:extLst>
          </p:cNvPr>
          <p:cNvSpPr txBox="1"/>
          <p:nvPr/>
        </p:nvSpPr>
        <p:spPr>
          <a:xfrm>
            <a:off x="325497" y="1868732"/>
            <a:ext cx="117987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参照</a:t>
            </a:r>
            <a:r>
              <a:rPr lang="zh-CN" altLang="en-US" sz="36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课件第 </a:t>
            </a:r>
            <a:r>
              <a:rPr lang="en-US" altLang="zh-CN" sz="36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 </a:t>
            </a:r>
            <a:r>
              <a:rPr lang="zh-CN" altLang="en-US" sz="36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页， 使用 </a:t>
            </a:r>
            <a:r>
              <a:rPr lang="en-US" altLang="zh-CN" sz="36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readelf </a:t>
            </a:r>
            <a:r>
              <a:rPr lang="zh-CN" altLang="en-US" sz="36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读取</a:t>
            </a:r>
            <a:r>
              <a:rPr lang="zh-CN" altLang="en-US" sz="3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之前生成的</a:t>
            </a:r>
            <a:r>
              <a:rPr lang="zh-CN" altLang="en-US" sz="36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目标代码， 展示</a:t>
            </a:r>
            <a:r>
              <a:rPr lang="zh-CN" altLang="en-US" sz="3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并讲解对应</a:t>
            </a:r>
            <a:r>
              <a:rPr lang="zh-CN" altLang="en-US" sz="36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内容。 </a:t>
            </a:r>
            <a:endParaRPr lang="zh-CN" altLang="en-US" sz="3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A6C85CC-CBFE-C0C3-D3BA-5B97F6D1FCF4}"/>
              </a:ext>
            </a:extLst>
          </p:cNvPr>
          <p:cNvSpPr txBox="1"/>
          <p:nvPr/>
        </p:nvSpPr>
        <p:spPr>
          <a:xfrm>
            <a:off x="325497" y="3866760"/>
            <a:ext cx="93011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ELF = </a:t>
            </a:r>
            <a:r>
              <a:rPr lang="en-US" altLang="zh-CN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xecutable and </a:t>
            </a:r>
            <a:r>
              <a:rPr lang="en-US" altLang="zh-CN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inkable </a:t>
            </a:r>
            <a:r>
              <a:rPr lang="en-US" altLang="zh-CN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ormat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F5EB34-EA7A-445C-E068-7775780D221E}"/>
              </a:ext>
            </a:extLst>
          </p:cNvPr>
          <p:cNvSpPr txBox="1"/>
          <p:nvPr/>
        </p:nvSpPr>
        <p:spPr>
          <a:xfrm>
            <a:off x="325497" y="4727328"/>
            <a:ext cx="102155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readelf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 是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一个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用于查看 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ELF 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文件（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Linux 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下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可执行文件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目标文件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动态库）的工具。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6F3FD68D-F1E9-7270-2697-DAEB767B3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z="2000"/>
              <a:pPr/>
              <a:t>4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77681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64432-C8F5-855E-CD04-751DE1C18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F430F5C-E681-9889-7495-9EB7BCB48418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C3C754-B26C-4689-BE33-A51654216E53}"/>
              </a:ext>
            </a:extLst>
          </p:cNvPr>
          <p:cNvSpPr txBox="1">
            <a:spLocks/>
          </p:cNvSpPr>
          <p:nvPr/>
        </p:nvSpPr>
        <p:spPr bwMode="auto">
          <a:xfrm>
            <a:off x="325497" y="178035"/>
            <a:ext cx="8050193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/>
              <a:t>ELF &amp; readelf</a:t>
            </a:r>
            <a:endParaRPr lang="zh-CN" altLang="en-US" sz="3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1C0B343-7963-6306-20CD-D35909CDD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41791"/>
            <a:ext cx="3872271" cy="5716209"/>
          </a:xfrm>
          <a:prstGeom prst="rect">
            <a:avLst/>
          </a:prstGeom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FBEBD183-E382-A830-74F6-95831236E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z="2000"/>
              <a:pPr/>
              <a:t>5</a:t>
            </a:fld>
            <a:endParaRPr lang="zh-CN" alt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2214566-AB52-77BA-58C2-2AE707018BC7}"/>
              </a:ext>
            </a:extLst>
          </p:cNvPr>
          <p:cNvSpPr txBox="1"/>
          <p:nvPr/>
        </p:nvSpPr>
        <p:spPr>
          <a:xfrm>
            <a:off x="4988926" y="2350270"/>
            <a:ext cx="70252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ELF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各部分存储内容参见课件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15-18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页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（或可以咨询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LLM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获得回答）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34510F6-CD5B-67C2-8276-EC21479B68BA}"/>
              </a:ext>
            </a:extLst>
          </p:cNvPr>
          <p:cNvSpPr txBox="1"/>
          <p:nvPr/>
        </p:nvSpPr>
        <p:spPr>
          <a:xfrm>
            <a:off x="4988926" y="4256615"/>
            <a:ext cx="93688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/>
              <a:t>readelf -h hello.o             # 看</a:t>
            </a:r>
            <a:r>
              <a:rPr lang="zh-CN" altLang="en-US" sz="2400" dirty="0"/>
              <a:t>文件头</a:t>
            </a:r>
          </a:p>
          <a:p>
            <a:r>
              <a:rPr lang="zh-CN" altLang="en-US" sz="2400"/>
              <a:t>readelf -S hello.o             # 看</a:t>
            </a:r>
            <a:r>
              <a:rPr lang="zh-CN" altLang="en-US" sz="2400" dirty="0"/>
              <a:t>段表</a:t>
            </a:r>
          </a:p>
          <a:p>
            <a:r>
              <a:rPr lang="zh-CN" altLang="en-US" sz="2400"/>
              <a:t>readelf -s hello.o             # 看</a:t>
            </a:r>
            <a:r>
              <a:rPr lang="zh-CN" altLang="en-US" sz="2400" dirty="0"/>
              <a:t>符号表</a:t>
            </a:r>
            <a:endParaRPr lang="en-US" altLang="zh-CN" sz="2400" dirty="0"/>
          </a:p>
          <a:p>
            <a:r>
              <a:rPr lang="en-US" altLang="zh-CN" sz="2400"/>
              <a:t>readelf -l hello               # </a:t>
            </a:r>
            <a:r>
              <a:rPr lang="zh-CN" altLang="en-US" sz="2400"/>
              <a:t>查看程序</a:t>
            </a:r>
            <a:r>
              <a:rPr lang="zh-CN" altLang="en-US" sz="2400" dirty="0"/>
              <a:t>头（加载信息）</a:t>
            </a:r>
          </a:p>
        </p:txBody>
      </p:sp>
    </p:spTree>
    <p:extLst>
      <p:ext uri="{BB962C8B-B14F-4D97-AF65-F5344CB8AC3E}">
        <p14:creationId xmlns:p14="http://schemas.microsoft.com/office/powerpoint/2010/main" val="1709177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FD470-637D-7435-3850-1178F59ED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73D31E4-AA65-DF11-63F2-9D7F476FF5DF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76D69B-28C1-D817-B47E-C1575B0FB9F8}"/>
              </a:ext>
            </a:extLst>
          </p:cNvPr>
          <p:cNvSpPr txBox="1">
            <a:spLocks/>
          </p:cNvSpPr>
          <p:nvPr/>
        </p:nvSpPr>
        <p:spPr bwMode="auto">
          <a:xfrm>
            <a:off x="325497" y="178035"/>
            <a:ext cx="8050193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600" dirty="0"/>
              <a:t>静态链接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A1F624A-5EA0-2A7F-153A-4125E75F0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z="2000"/>
              <a:pPr/>
              <a:t>6</a:t>
            </a:fld>
            <a:endParaRPr lang="zh-CN" alt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5972D0-746A-7428-88AF-28D08D24E8EC}"/>
              </a:ext>
            </a:extLst>
          </p:cNvPr>
          <p:cNvSpPr txBox="1"/>
          <p:nvPr/>
        </p:nvSpPr>
        <p:spPr>
          <a:xfrm>
            <a:off x="567267" y="1229106"/>
            <a:ext cx="114638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基于</a:t>
            </a:r>
            <a:r>
              <a:rPr lang="zh-CN" altLang="en-US" sz="36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课件第 </a:t>
            </a:r>
            <a:r>
              <a:rPr lang="en-US" altLang="zh-CN" sz="36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8~10 </a:t>
            </a:r>
            <a:r>
              <a:rPr lang="zh-CN" altLang="en-US" sz="36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页， 讲解</a:t>
            </a:r>
            <a:r>
              <a:rPr lang="zh-CN" altLang="en-US" sz="3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静态链接的简要</a:t>
            </a:r>
            <a:r>
              <a:rPr lang="zh-CN" altLang="en-US" sz="36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过程， 然后</a:t>
            </a:r>
            <a:r>
              <a:rPr lang="zh-CN" altLang="en-US" sz="3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分析链接带来的</a:t>
            </a:r>
            <a:r>
              <a:rPr lang="zh-CN" altLang="en-US" sz="36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好处。 </a:t>
            </a:r>
            <a:endParaRPr lang="zh-CN" altLang="en-US" sz="3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C66C4F3-961B-0048-DC35-A12A58EBC01F}"/>
              </a:ext>
            </a:extLst>
          </p:cNvPr>
          <p:cNvSpPr txBox="1"/>
          <p:nvPr/>
        </p:nvSpPr>
        <p:spPr>
          <a:xfrm>
            <a:off x="567267" y="3035068"/>
            <a:ext cx="10185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静态链接：把多个目标文件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(.o)</a:t>
            </a:r>
            <a:r>
              <a:rPr lang="zh-CN" altLang="en-US" sz="2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和静态库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(.a)</a:t>
            </a:r>
            <a:r>
              <a:rPr lang="zh-CN" altLang="en-US" sz="2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在编译期合并为一个完整的可执行文件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(ELF)</a:t>
            </a:r>
            <a:r>
              <a:rPr lang="zh-CN" altLang="en-US" sz="2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。这一步由链接器（</a:t>
            </a:r>
            <a:r>
              <a:rPr lang="en-US" altLang="zh-CN" sz="2800" dirty="0" err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ld</a:t>
            </a:r>
            <a:r>
              <a:rPr lang="zh-CN" altLang="en-US" sz="2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）完成。</a:t>
            </a:r>
          </a:p>
        </p:txBody>
      </p:sp>
    </p:spTree>
    <p:extLst>
      <p:ext uri="{BB962C8B-B14F-4D97-AF65-F5344CB8AC3E}">
        <p14:creationId xmlns:p14="http://schemas.microsoft.com/office/powerpoint/2010/main" val="2180659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BB541-8DD7-E639-68B5-6AC39C0A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1CD647-8DD2-E608-4E2C-685CFEFD8924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1BBD79-70E9-403A-A405-E74599F5D881}"/>
              </a:ext>
            </a:extLst>
          </p:cNvPr>
          <p:cNvSpPr txBox="1">
            <a:spLocks/>
          </p:cNvSpPr>
          <p:nvPr/>
        </p:nvSpPr>
        <p:spPr bwMode="auto">
          <a:xfrm>
            <a:off x="325497" y="178035"/>
            <a:ext cx="8050193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600" dirty="0"/>
              <a:t>静态链接的主要任务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604A29CA-58C1-3032-4A50-65391692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z="2000"/>
              <a:pPr/>
              <a:t>7</a:t>
            </a:fld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CB1859-3812-439F-D784-DEFA67CE27BB}"/>
              </a:ext>
            </a:extLst>
          </p:cNvPr>
          <p:cNvSpPr txBox="1"/>
          <p:nvPr/>
        </p:nvSpPr>
        <p:spPr>
          <a:xfrm>
            <a:off x="575734" y="1496537"/>
            <a:ext cx="8204200" cy="325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）符号解析（</a:t>
            </a:r>
            <a:r>
              <a:rPr lang="en-US" altLang="zh-CN" sz="2800" b="1" dirty="0"/>
              <a:t>Symbol Resolution</a:t>
            </a:r>
            <a:r>
              <a:rPr lang="zh-CN" altLang="en-US" sz="2800" b="1" dirty="0"/>
              <a:t>）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每个</a:t>
            </a:r>
            <a:r>
              <a:rPr lang="en-US" altLang="zh-CN" sz="2800" dirty="0">
                <a:latin typeface="Courier New" panose="02070309020205020404" pitchFamily="49" charset="0"/>
              </a:rPr>
              <a:t>.o</a:t>
            </a:r>
            <a:r>
              <a:rPr lang="zh-CN" altLang="en-US" sz="2800" dirty="0"/>
              <a:t>文件都有一个符号表</a:t>
            </a:r>
            <a:r>
              <a:rPr lang="en-US" altLang="zh-CN" sz="2800" dirty="0"/>
              <a:t>(.</a:t>
            </a:r>
            <a:r>
              <a:rPr lang="en-US" altLang="zh-CN" sz="2800" dirty="0" err="1"/>
              <a:t>symtab</a:t>
            </a:r>
            <a:r>
              <a:rPr lang="en-US" altLang="zh-CN" sz="2800" dirty="0"/>
              <a:t>)</a:t>
            </a:r>
            <a:r>
              <a:rPr lang="zh-CN" altLang="en-US" sz="2800" dirty="0"/>
              <a:t>；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链接器会扫描所有符号：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找到每个符号定义（</a:t>
            </a:r>
            <a:r>
              <a:rPr lang="en-US" altLang="zh-CN" sz="2800" dirty="0"/>
              <a:t>definition</a:t>
            </a:r>
            <a:r>
              <a:rPr lang="zh-CN" altLang="en-US" sz="2800" dirty="0"/>
              <a:t>）；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解决所有符号引用（</a:t>
            </a:r>
            <a:r>
              <a:rPr lang="en-US" altLang="zh-CN" sz="2800" dirty="0"/>
              <a:t>reference</a:t>
            </a:r>
            <a:r>
              <a:rPr lang="zh-CN" altLang="en-US" sz="2800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1994322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33D62-1334-5219-E44D-AE49BE019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D06BCF5-902E-183D-619E-96AF8F3785DA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A6FBC4-29FD-B177-8F42-AF47849C6697}"/>
              </a:ext>
            </a:extLst>
          </p:cNvPr>
          <p:cNvSpPr txBox="1">
            <a:spLocks/>
          </p:cNvSpPr>
          <p:nvPr/>
        </p:nvSpPr>
        <p:spPr bwMode="auto">
          <a:xfrm>
            <a:off x="325497" y="178035"/>
            <a:ext cx="8050193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600" dirty="0"/>
              <a:t>静态链接的主要任务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4A2D34F-ADDE-2351-BF3E-48CF88780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z="2000"/>
              <a:pPr/>
              <a:t>8</a:t>
            </a:fld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F70D17-08C9-D305-A458-8DE5EFE66824}"/>
              </a:ext>
            </a:extLst>
          </p:cNvPr>
          <p:cNvSpPr txBox="1"/>
          <p:nvPr/>
        </p:nvSpPr>
        <p:spPr>
          <a:xfrm>
            <a:off x="499533" y="1327134"/>
            <a:ext cx="11192933" cy="2611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</a:t>
            </a:r>
            <a:r>
              <a:rPr lang="zh-CN" altLang="en-US" sz="2800" b="1" dirty="0"/>
              <a:t>地址与重定位（</a:t>
            </a:r>
            <a:r>
              <a:rPr lang="en-US" altLang="zh-CN" sz="2800" b="1" dirty="0"/>
              <a:t>Relocation</a:t>
            </a:r>
            <a:r>
              <a:rPr lang="zh-CN" altLang="en-US" sz="2800" b="1" dirty="0"/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2800" dirty="0"/>
              <a:t>每个 </a:t>
            </a:r>
            <a:r>
              <a:rPr lang="en-US" altLang="zh-CN" sz="2800" dirty="0"/>
              <a:t>.o</a:t>
            </a:r>
            <a:r>
              <a:rPr lang="zh-CN" altLang="en-US" sz="2800" dirty="0"/>
              <a:t> 文件的 </a:t>
            </a:r>
            <a:r>
              <a:rPr lang="en-US" altLang="zh-CN" sz="2800" dirty="0"/>
              <a:t>.text</a:t>
            </a:r>
            <a:r>
              <a:rPr lang="zh-CN" altLang="en-US" sz="2800" dirty="0"/>
              <a:t>、</a:t>
            </a:r>
            <a:r>
              <a:rPr lang="en-US" altLang="zh-CN" sz="2800" dirty="0"/>
              <a:t>.data</a:t>
            </a:r>
            <a:r>
              <a:rPr lang="zh-CN" altLang="en-US" sz="2800" dirty="0"/>
              <a:t> 段都是从地址 </a:t>
            </a:r>
            <a:r>
              <a:rPr lang="en-US" altLang="zh-CN" sz="2800" dirty="0"/>
              <a:t>0 </a:t>
            </a:r>
            <a:r>
              <a:rPr lang="zh-CN" altLang="en-US" sz="2800" dirty="0"/>
              <a:t>开始的局部地址。</a:t>
            </a:r>
            <a:br>
              <a:rPr lang="zh-CN" altLang="en-US" sz="2800" dirty="0"/>
            </a:br>
            <a:r>
              <a:rPr lang="zh-CN" altLang="en-US" sz="2800" dirty="0"/>
              <a:t>链接器要为所有段分配在最终可执行文件中的真实地址；修改代码中所有需要跳转、访问变量的指令地址（根据 </a:t>
            </a:r>
            <a:r>
              <a:rPr lang="en-US" altLang="zh-CN" sz="2800" dirty="0"/>
              <a:t>.</a:t>
            </a:r>
            <a:r>
              <a:rPr lang="en-US" altLang="zh-CN" sz="2800" dirty="0" err="1"/>
              <a:t>rel.text</a:t>
            </a:r>
            <a:r>
              <a:rPr lang="zh-CN" altLang="en-US" sz="2800" dirty="0"/>
              <a:t>、</a:t>
            </a:r>
            <a:r>
              <a:rPr lang="en-US" altLang="zh-CN" sz="2800" dirty="0"/>
              <a:t>.</a:t>
            </a:r>
            <a:r>
              <a:rPr lang="en-US" altLang="zh-CN" sz="2800" dirty="0" err="1"/>
              <a:t>rel.data</a:t>
            </a:r>
            <a:r>
              <a:rPr lang="zh-CN" altLang="en-US" sz="2800" dirty="0"/>
              <a:t>）。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7756DA-97FB-32F1-0C11-DD48BB27B007}"/>
              </a:ext>
            </a:extLst>
          </p:cNvPr>
          <p:cNvSpPr txBox="1"/>
          <p:nvPr/>
        </p:nvSpPr>
        <p:spPr>
          <a:xfrm>
            <a:off x="499533" y="4104934"/>
            <a:ext cx="11192933" cy="1965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  <a:r>
              <a:rPr lang="zh-CN" altLang="en-US" sz="2800" b="1" dirty="0"/>
              <a:t>合并节区（</a:t>
            </a:r>
            <a:r>
              <a:rPr lang="en-US" altLang="zh-CN" sz="2800" b="1" dirty="0"/>
              <a:t>Section Merging</a:t>
            </a:r>
            <a:r>
              <a:rPr lang="zh-CN" altLang="en-US" sz="2800" b="1" dirty="0"/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2800" dirty="0"/>
              <a:t>把各 </a:t>
            </a:r>
            <a:r>
              <a:rPr lang="en-US" altLang="zh-CN" sz="2800" dirty="0"/>
              <a:t>.o </a:t>
            </a:r>
            <a:r>
              <a:rPr lang="zh-CN" altLang="en-US" sz="2800" dirty="0"/>
              <a:t>文件的 </a:t>
            </a:r>
            <a:r>
              <a:rPr lang="en-US" altLang="zh-CN" sz="2800" dirty="0"/>
              <a:t>.text </a:t>
            </a:r>
            <a:r>
              <a:rPr lang="zh-CN" altLang="en-US" sz="2800" dirty="0"/>
              <a:t>段合并成一个大 </a:t>
            </a:r>
            <a:r>
              <a:rPr lang="en-US" altLang="zh-CN" sz="2800" dirty="0"/>
              <a:t>.text</a:t>
            </a:r>
            <a:r>
              <a:rPr lang="zh-CN" altLang="en-US" sz="2800" dirty="0"/>
              <a:t>；</a:t>
            </a:r>
            <a:r>
              <a:rPr lang="en-US" altLang="zh-CN" sz="2800" dirty="0"/>
              <a:t>.data</a:t>
            </a:r>
            <a:r>
              <a:rPr lang="zh-CN" altLang="en-US" sz="2800" dirty="0"/>
              <a:t>、</a:t>
            </a:r>
            <a:r>
              <a:rPr lang="en-US" altLang="zh-CN" sz="2800" dirty="0"/>
              <a:t>.</a:t>
            </a:r>
            <a:r>
              <a:rPr lang="en-US" altLang="zh-CN" sz="2800" dirty="0" err="1"/>
              <a:t>bss</a:t>
            </a:r>
            <a:r>
              <a:rPr lang="en-US" altLang="zh-CN" sz="2800" dirty="0"/>
              <a:t> </a:t>
            </a:r>
            <a:r>
              <a:rPr lang="zh-CN" altLang="en-US" sz="2800" dirty="0"/>
              <a:t>等段同理；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/>
              <a:t>删除多余的符号表、重定位表；最终写出一个完整的 </a:t>
            </a:r>
            <a:r>
              <a:rPr lang="en-US" altLang="zh-CN" sz="2800" dirty="0"/>
              <a:t>ELF </a:t>
            </a:r>
            <a:r>
              <a:rPr lang="zh-CN" altLang="en-US" sz="2800" dirty="0"/>
              <a:t>可执行文件。</a:t>
            </a:r>
          </a:p>
        </p:txBody>
      </p:sp>
    </p:spTree>
    <p:extLst>
      <p:ext uri="{BB962C8B-B14F-4D97-AF65-F5344CB8AC3E}">
        <p14:creationId xmlns:p14="http://schemas.microsoft.com/office/powerpoint/2010/main" val="2335818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4900F-C136-F857-CFDD-E692BAAB3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D9908C8-360E-B836-8243-3F436EE66699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2F0B75-516D-952B-FF03-711E3C7D52CE}"/>
              </a:ext>
            </a:extLst>
          </p:cNvPr>
          <p:cNvSpPr txBox="1">
            <a:spLocks/>
          </p:cNvSpPr>
          <p:nvPr/>
        </p:nvSpPr>
        <p:spPr bwMode="auto">
          <a:xfrm>
            <a:off x="325497" y="178035"/>
            <a:ext cx="8050193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600" dirty="0"/>
              <a:t>静态链接的好处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7422E9F4-CD1A-2C01-F4F1-4A8821A6C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z="2000"/>
              <a:pPr/>
              <a:t>9</a:t>
            </a:fld>
            <a:endParaRPr lang="zh-CN" altLang="en-US" sz="20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96789E7-158F-886F-8FEA-0534C4338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662768"/>
              </p:ext>
            </p:extLst>
          </p:nvPr>
        </p:nvGraphicFramePr>
        <p:xfrm>
          <a:off x="838200" y="1759134"/>
          <a:ext cx="10515600" cy="4267708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1873543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271955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优点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原因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432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独立性强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dirty="0"/>
                        <a:t>可执行文件中包含了所有需要的函数、变量，不依赖系统上额外的 </a:t>
                      </a:r>
                      <a:r>
                        <a:rPr lang="en-US" altLang="zh-CN" dirty="0">
                          <a:latin typeface="Courier New" panose="02070309020205020404" pitchFamily="49" charset="0"/>
                        </a:rPr>
                        <a:t>.so</a:t>
                      </a:r>
                      <a:r>
                        <a:rPr lang="zh-CN" altLang="en-US" dirty="0"/>
                        <a:t> 动态库；在没有对应动态库的环境下也能运行。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413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启动速度快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dirty="0"/>
                        <a:t>不需要在加载时再解析和加载动态库；加载器直接把整个程序一次性装入内存即可执行。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940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部署方便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dirty="0"/>
                        <a:t>分发一个单独的可执行文件即可运行，无需考虑系统库版本兼容问题。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215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调试容易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dirty="0"/>
                        <a:t>所有代码都在本地文件中，调试器可以直接访问全部符号信息。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178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9795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D606B-CEA4-5323-1024-5AF4C66DA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CC89848-5D80-1FB7-DE6C-ED6079BBE1F3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156420-F0FE-8832-949E-3B193259D857}"/>
              </a:ext>
            </a:extLst>
          </p:cNvPr>
          <p:cNvSpPr txBox="1">
            <a:spLocks/>
          </p:cNvSpPr>
          <p:nvPr/>
        </p:nvSpPr>
        <p:spPr bwMode="auto">
          <a:xfrm>
            <a:off x="325497" y="178035"/>
            <a:ext cx="8050193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600" dirty="0"/>
              <a:t>符号解析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EDECE88D-B5D4-8D3F-F0F4-8E8A2ABFE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z="2000"/>
              <a:pPr/>
              <a:t>10</a:t>
            </a:fld>
            <a:endParaRPr lang="zh-CN" altLang="en-US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D15BF6-45AA-0F95-F6D4-770266EB5B8B}"/>
              </a:ext>
            </a:extLst>
          </p:cNvPr>
          <p:cNvSpPr txBox="1"/>
          <p:nvPr/>
        </p:nvSpPr>
        <p:spPr>
          <a:xfrm>
            <a:off x="731896" y="1243823"/>
            <a:ext cx="10537237" cy="166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   基于课件第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11~12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和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19~20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页， 讲解链接器的符号解析要做什么， 然后用自己的程序示例， 重现第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12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页下半部分的操作。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   基于课件第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21~25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页， 分析链接器对不同类型的重复符号的解决方法。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20BC5B3-077C-B828-DC70-AEB9D060E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671096"/>
              </p:ext>
            </p:extLst>
          </p:nvPr>
        </p:nvGraphicFramePr>
        <p:xfrm>
          <a:off x="838200" y="4242577"/>
          <a:ext cx="10515600" cy="1371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6331143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0556991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527531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类型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举例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在 </a:t>
                      </a:r>
                      <a:r>
                        <a:rPr lang="en-US" altLang="zh-CN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o</a:t>
                      </a:r>
                      <a:r>
                        <a:rPr lang="en-US"/>
                        <a:t> </a:t>
                      </a:r>
                      <a:r>
                        <a:rPr lang="zh-CN" altLang="en-US"/>
                        <a:t>中的状态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623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定义的符号</a:t>
                      </a:r>
                      <a:r>
                        <a:rPr lang="zh-CN" altLang="en-US"/>
                        <a:t> </a:t>
                      </a:r>
                      <a:r>
                        <a:rPr lang="en-US" altLang="zh-CN"/>
                        <a:t>(</a:t>
                      </a:r>
                      <a:r>
                        <a:rPr lang="en-US"/>
                        <a:t>Definition)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int sum(int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a,int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 b){...}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拥有地址（在 </a:t>
                      </a:r>
                      <a:r>
                        <a:rPr lang="en-US" altLang="zh-CN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text</a:t>
                      </a:r>
                      <a:r>
                        <a:rPr lang="en-US"/>
                        <a:t>、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.data</a:t>
                      </a:r>
                      <a:r>
                        <a:rPr lang="en-US"/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001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引用的符号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(</a:t>
                      </a:r>
                      <a:r>
                        <a:rPr lang="en-US" dirty="0"/>
                        <a:t>Reference)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extern int sum(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int,int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);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未定义（</a:t>
                      </a:r>
                      <a:r>
                        <a:rPr lang="en-US" dirty="0"/>
                        <a:t>UND）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167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4173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29EC1-C4B6-E010-F4C0-642483235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883FE8D-6520-F74D-A7A5-270B896E0D67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E6D4C32-8593-A209-1677-D994C460D7CA}"/>
              </a:ext>
            </a:extLst>
          </p:cNvPr>
          <p:cNvSpPr txBox="1">
            <a:spLocks/>
          </p:cNvSpPr>
          <p:nvPr/>
        </p:nvSpPr>
        <p:spPr bwMode="auto">
          <a:xfrm>
            <a:off x="325497" y="178035"/>
            <a:ext cx="8050193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600" dirty="0"/>
              <a:t>符号解析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66DFEED-4126-238C-5A71-FF4E04DBD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AD37-9C95-4FA4-8F42-166F9C21A510}" type="slidenum">
              <a:rPr lang="zh-CN" altLang="en-US" sz="2000"/>
              <a:pPr/>
              <a:t>11</a:t>
            </a:fld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E889B9-BCB3-1916-DC30-2FE0B71CFE88}"/>
              </a:ext>
            </a:extLst>
          </p:cNvPr>
          <p:cNvSpPr txBox="1"/>
          <p:nvPr/>
        </p:nvSpPr>
        <p:spPr>
          <a:xfrm>
            <a:off x="1058334" y="2509368"/>
            <a:ext cx="9812866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400" b="1" dirty="0"/>
              <a:t>链接器的符号解析过程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、收集所有输入文件的符号表（</a:t>
            </a:r>
            <a:r>
              <a:rPr lang="en-US" altLang="zh-CN" sz="2400" b="1" dirty="0"/>
              <a:t>.</a:t>
            </a:r>
            <a:r>
              <a:rPr lang="en-US" altLang="zh-CN" sz="2400" b="1" dirty="0" err="1"/>
              <a:t>symtab</a:t>
            </a:r>
            <a:r>
              <a:rPr lang="zh-CN" altLang="en-US" sz="2400" b="1" dirty="0"/>
              <a:t>）</a:t>
            </a:r>
            <a:endParaRPr lang="zh-CN" altLang="en-US" sz="2400" dirty="0"/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、查找每个未定义符号 </a:t>
            </a:r>
            <a:r>
              <a:rPr lang="en-US" altLang="zh-CN" sz="2400" b="1" dirty="0"/>
              <a:t>(UND)</a:t>
            </a:r>
            <a:endParaRPr lang="zh-CN" alt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如果找到 → 建立“引用 → 定义”的绑定。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如果找不到 → 报错 </a:t>
            </a:r>
            <a:r>
              <a:rPr lang="en-US" altLang="zh-CN" sz="2400" dirty="0">
                <a:latin typeface="Courier New" panose="02070309020205020404" pitchFamily="49" charset="0"/>
              </a:rPr>
              <a:t>undefined reference to 'xxx’</a:t>
            </a:r>
            <a:r>
              <a:rPr lang="zh-CN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05460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029F0-FE14-E6D4-6F23-6865A9CA2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84BF74-D742-9EAF-4D9A-2732EC491D33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3CB196D-B749-6E98-FE15-67A9285E574B}"/>
              </a:ext>
            </a:extLst>
          </p:cNvPr>
          <p:cNvSpPr txBox="1">
            <a:spLocks/>
          </p:cNvSpPr>
          <p:nvPr/>
        </p:nvSpPr>
        <p:spPr bwMode="auto">
          <a:xfrm>
            <a:off x="325497" y="178035"/>
            <a:ext cx="9944570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600" dirty="0"/>
              <a:t>符号解析 </a:t>
            </a:r>
            <a:r>
              <a:rPr lang="en-US" altLang="zh-CN" sz="3600" dirty="0"/>
              <a:t>- </a:t>
            </a:r>
            <a:r>
              <a:rPr lang="zh-CN" altLang="en-US" sz="3600" dirty="0"/>
              <a:t>重复符号的解决办法 </a:t>
            </a:r>
            <a:r>
              <a:rPr lang="en-US" altLang="zh-CN" sz="3600" dirty="0"/>
              <a:t>– </a:t>
            </a:r>
            <a:r>
              <a:rPr lang="zh-CN" altLang="en-US" sz="3600" dirty="0"/>
              <a:t>局部变量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EF659C2-AD73-378C-EDF9-8BCC5C456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6000" y="6448425"/>
            <a:ext cx="2743200" cy="365125"/>
          </a:xfrm>
        </p:spPr>
        <p:txBody>
          <a:bodyPr/>
          <a:lstStyle/>
          <a:p>
            <a:fld id="{C934AD37-9C95-4FA4-8F42-166F9C21A510}" type="slidenum">
              <a:rPr lang="zh-CN" altLang="en-US" sz="2000"/>
              <a:pPr/>
              <a:t>12</a:t>
            </a:fld>
            <a:endParaRPr lang="zh-CN" altLang="en-US" sz="20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1C6A9A3-7EB2-BD81-63F1-6B8C9B9DE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976029"/>
              </p:ext>
            </p:extLst>
          </p:nvPr>
        </p:nvGraphicFramePr>
        <p:xfrm>
          <a:off x="1786466" y="1407107"/>
          <a:ext cx="8412480" cy="16459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65179979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3656761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767944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4211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类型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定义方式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生命周期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存储位置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286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普通局部变量</a:t>
                      </a: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latin typeface="Courier New" panose="02070309020205020404" pitchFamily="49" charset="0"/>
                        </a:rPr>
                        <a:t>int x = 1;</a:t>
                      </a:r>
                      <a:r>
                        <a:rPr lang="zh-CN" altLang="en-US"/>
                        <a:t>（在函数中定义）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函数调用期间存在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栈 </a:t>
                      </a:r>
                      <a:r>
                        <a:rPr lang="en-US" altLang="zh-CN" b="1"/>
                        <a:t>(</a:t>
                      </a:r>
                      <a:r>
                        <a:rPr lang="en-US" b="1"/>
                        <a:t>stack)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320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静态局部变量</a:t>
                      </a: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static int x = 1;</a:t>
                      </a:r>
                      <a:r>
                        <a:rPr lang="en-US" dirty="0"/>
                        <a:t>（</a:t>
                      </a:r>
                      <a:r>
                        <a:rPr lang="zh-CN" altLang="en-US" dirty="0"/>
                        <a:t>在函数中定义）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程序整个运行期存在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.data / .</a:t>
                      </a:r>
                      <a:r>
                        <a:rPr lang="en-US" b="1" dirty="0" err="1"/>
                        <a:t>bss</a:t>
                      </a:r>
                      <a:r>
                        <a:rPr lang="en-US" b="1" dirty="0"/>
                        <a:t> </a:t>
                      </a:r>
                      <a:r>
                        <a:rPr lang="zh-CN" altLang="en-US" b="1" dirty="0"/>
                        <a:t>段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905290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DBCB5CD-1387-7A3F-6293-36A424F7EA88}"/>
              </a:ext>
            </a:extLst>
          </p:cNvPr>
          <p:cNvSpPr txBox="1"/>
          <p:nvPr/>
        </p:nvSpPr>
        <p:spPr>
          <a:xfrm>
            <a:off x="1409699" y="3967328"/>
            <a:ext cx="93726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编译器为了防止不同文件或函数中的 </a:t>
            </a:r>
            <a:r>
              <a:rPr lang="en-US" altLang="zh-CN" sz="2800" dirty="0"/>
              <a:t>static</a:t>
            </a:r>
            <a:r>
              <a:rPr lang="zh-CN" altLang="en-US" sz="2800" dirty="0"/>
              <a:t> 局部符号冲突，会在生成目标文件时自动为这些符号改名（</a:t>
            </a:r>
            <a:r>
              <a:rPr lang="en-US" altLang="zh-CN" sz="2800" dirty="0"/>
              <a:t>mangle</a:t>
            </a:r>
            <a:r>
              <a:rPr lang="zh-CN" altLang="en-US" sz="2800" dirty="0"/>
              <a:t>）为唯一名字，比如 </a:t>
            </a:r>
            <a:r>
              <a:rPr lang="en-US" altLang="zh-CN" sz="2800" dirty="0"/>
              <a:t>x.1721</a:t>
            </a:r>
            <a:r>
              <a:rPr lang="zh-CN" altLang="en-US" sz="2800" dirty="0"/>
              <a:t>、</a:t>
            </a:r>
            <a:r>
              <a:rPr lang="en-US" altLang="zh-CN" sz="2800" dirty="0"/>
              <a:t>x.1724</a:t>
            </a:r>
            <a:r>
              <a:rPr lang="zh-CN" altLang="en-US" sz="2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96003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D05E8-69FF-8BFB-3413-4DEFC00F9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22C2BB7-13C5-9898-46D2-5C67AA0CA787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D642FEF-FADA-0457-7266-F9A686A9E69D}"/>
              </a:ext>
            </a:extLst>
          </p:cNvPr>
          <p:cNvSpPr txBox="1">
            <a:spLocks/>
          </p:cNvSpPr>
          <p:nvPr/>
        </p:nvSpPr>
        <p:spPr bwMode="auto">
          <a:xfrm>
            <a:off x="325497" y="178035"/>
            <a:ext cx="9944570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600" dirty="0"/>
              <a:t>符号解析 </a:t>
            </a:r>
            <a:r>
              <a:rPr lang="en-US" altLang="zh-CN" sz="3600" dirty="0"/>
              <a:t>- </a:t>
            </a:r>
            <a:r>
              <a:rPr lang="zh-CN" altLang="en-US" sz="3600" dirty="0"/>
              <a:t>重复符号的解决办法 </a:t>
            </a:r>
            <a:r>
              <a:rPr lang="en-US" altLang="zh-CN" sz="3600" dirty="0"/>
              <a:t>– </a:t>
            </a:r>
            <a:r>
              <a:rPr lang="zh-CN" altLang="en-US" sz="3600" dirty="0"/>
              <a:t>强弱变量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C13465F0-7C4E-923A-AEF1-8A8413439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6000" y="6448425"/>
            <a:ext cx="2743200" cy="365125"/>
          </a:xfrm>
        </p:spPr>
        <p:txBody>
          <a:bodyPr/>
          <a:lstStyle/>
          <a:p>
            <a:fld id="{C934AD37-9C95-4FA4-8F42-166F9C21A510}" type="slidenum">
              <a:rPr lang="zh-CN" altLang="en-US" sz="2000"/>
              <a:pPr/>
              <a:t>13</a:t>
            </a:fld>
            <a:endParaRPr lang="zh-CN" altLang="en-US" sz="20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3E1C534-5A23-56A1-0422-D031382F1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792018"/>
              </p:ext>
            </p:extLst>
          </p:nvPr>
        </p:nvGraphicFramePr>
        <p:xfrm>
          <a:off x="838200" y="3808611"/>
          <a:ext cx="10515600" cy="17373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6790166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0882197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148364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情形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处理方式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结果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855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多个强符号同名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报错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multiple definition of symbol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15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一个强符号 </a:t>
                      </a:r>
                      <a:r>
                        <a:rPr lang="en-US" altLang="zh-CN" b="1" dirty="0"/>
                        <a:t>+ </a:t>
                      </a:r>
                      <a:r>
                        <a:rPr lang="zh-CN" altLang="en-US" b="1" dirty="0"/>
                        <a:t>若干弱符号同名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使用强符号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取强符号的定义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172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多个弱符号同名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随便选一个（通常第一个出现的）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无报错，结果未定义但一致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71621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508B25-2AB3-B2B1-5EE6-3EF7DC80A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918129"/>
              </p:ext>
            </p:extLst>
          </p:nvPr>
        </p:nvGraphicFramePr>
        <p:xfrm>
          <a:off x="838200" y="1440600"/>
          <a:ext cx="10515600" cy="16459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2011740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09060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458270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符号类型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典型来源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706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强符号 </a:t>
                      </a:r>
                      <a:r>
                        <a:rPr lang="en-US" altLang="zh-CN" b="1" dirty="0"/>
                        <a:t>(</a:t>
                      </a:r>
                      <a:r>
                        <a:rPr lang="en-US" b="1" dirty="0"/>
                        <a:t>strong)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函数定义、已初始化的全局变量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拥有实际存储空间或代码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435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弱符号 </a:t>
                      </a:r>
                      <a:r>
                        <a:rPr lang="en-US" altLang="zh-CN" b="1" dirty="0"/>
                        <a:t>(</a:t>
                      </a:r>
                      <a:r>
                        <a:rPr lang="en-US" b="1" dirty="0"/>
                        <a:t>weak)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未初始化的全局变量，或显式声明为 </a:t>
                      </a:r>
                      <a:r>
                        <a:rPr lang="en-US" altLang="zh-CN" dirty="0"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attribute__((weak))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可被其他同名强符号覆盖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457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1707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B4CFD-7B07-07BA-E109-8DDE1EE6E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80ABE8B-F4B5-73BE-B880-681D7AE09798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32AB04-9BCD-263A-A649-9A7B3E3E851E}"/>
              </a:ext>
            </a:extLst>
          </p:cNvPr>
          <p:cNvSpPr txBox="1">
            <a:spLocks/>
          </p:cNvSpPr>
          <p:nvPr/>
        </p:nvSpPr>
        <p:spPr bwMode="auto">
          <a:xfrm>
            <a:off x="325497" y="178035"/>
            <a:ext cx="9944570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600" dirty="0"/>
              <a:t>重定位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6126A76-3687-7265-EC97-96E1C59E6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6000" y="6448425"/>
            <a:ext cx="2743200" cy="365125"/>
          </a:xfrm>
        </p:spPr>
        <p:txBody>
          <a:bodyPr/>
          <a:lstStyle/>
          <a:p>
            <a:fld id="{C934AD37-9C95-4FA4-8F42-166F9C21A510}" type="slidenum">
              <a:rPr lang="zh-CN" altLang="en-US" sz="2000"/>
              <a:pPr/>
              <a:t>14</a:t>
            </a:fld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15FAA9-BB73-8CFC-5E00-1006A68E3741}"/>
              </a:ext>
            </a:extLst>
          </p:cNvPr>
          <p:cNvSpPr txBox="1"/>
          <p:nvPr/>
        </p:nvSpPr>
        <p:spPr>
          <a:xfrm>
            <a:off x="914399" y="1251105"/>
            <a:ext cx="10363201" cy="519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800" dirty="0"/>
              <a:t>目标文件 </a:t>
            </a:r>
            <a:r>
              <a:rPr lang="en-US" altLang="zh-CN" sz="2800" dirty="0"/>
              <a:t>.o</a:t>
            </a:r>
            <a:r>
              <a:rPr lang="zh-CN" altLang="en-US" sz="2800" dirty="0"/>
              <a:t> 里，凡是当前文件无法确定的地址</a:t>
            </a:r>
            <a:r>
              <a:rPr lang="en-US" altLang="zh-CN" sz="2800" dirty="0"/>
              <a:t>/</a:t>
            </a:r>
            <a:r>
              <a:rPr lang="zh-CN" altLang="en-US" sz="2800" dirty="0"/>
              <a:t>位移（比如调用外部函数、全局指针的初值），都会由汇编器在 </a:t>
            </a:r>
            <a:r>
              <a:rPr lang="en-US" altLang="zh-CN" sz="2800" dirty="0"/>
              <a:t>.</a:t>
            </a:r>
            <a:r>
              <a:rPr lang="en-US" altLang="zh-CN" sz="2800" dirty="0" err="1"/>
              <a:t>rela.text</a:t>
            </a:r>
            <a:r>
              <a:rPr lang="zh-CN" altLang="en-US" sz="2800" dirty="0"/>
              <a:t>、</a:t>
            </a:r>
            <a:r>
              <a:rPr lang="en-US" altLang="zh-CN" sz="2800" dirty="0"/>
              <a:t>.</a:t>
            </a:r>
            <a:r>
              <a:rPr lang="en-US" altLang="zh-CN" sz="2800" dirty="0" err="1"/>
              <a:t>rela.data</a:t>
            </a:r>
            <a:r>
              <a:rPr lang="zh-CN" altLang="en-US" sz="2800" dirty="0"/>
              <a:t> 等段里记一条“重定位项”。</a:t>
            </a:r>
            <a:br>
              <a:rPr lang="zh-CN" altLang="en-US" sz="2800" dirty="0"/>
            </a:br>
            <a:r>
              <a:rPr lang="en-US" altLang="zh-CN" sz="2800" dirty="0"/>
              <a:t>x86-64 </a:t>
            </a:r>
            <a:r>
              <a:rPr lang="zh-CN" altLang="en-US" sz="2800" dirty="0"/>
              <a:t>使用 </a:t>
            </a:r>
            <a:r>
              <a:rPr lang="en-US" altLang="zh-CN" sz="2800" dirty="0"/>
              <a:t>RELA</a:t>
            </a:r>
            <a:r>
              <a:rPr lang="zh-CN" altLang="en-US" sz="2800" dirty="0"/>
              <a:t> 形式，字段为：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 err="1"/>
              <a:t>r_offset</a:t>
            </a:r>
            <a:r>
              <a:rPr lang="zh-CN" altLang="en-US" sz="2800" dirty="0"/>
              <a:t>：需要被修补（写入）的位置（在所在段中的偏移）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 err="1"/>
              <a:t>r_info</a:t>
            </a:r>
            <a:r>
              <a:rPr lang="zh-CN" altLang="en-US" sz="2800" dirty="0"/>
              <a:t>：打包了符号编号和重定位类型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 err="1"/>
              <a:t>r_addend</a:t>
            </a:r>
            <a:r>
              <a:rPr lang="zh-CN" altLang="en-US" sz="2800" dirty="0"/>
              <a:t>：加数 </a:t>
            </a:r>
            <a:r>
              <a:rPr lang="en-US" altLang="zh-CN" sz="2800" dirty="0"/>
              <a:t>A</a:t>
            </a:r>
            <a:r>
              <a:rPr lang="zh-CN" altLang="en-US" sz="2800" dirty="0"/>
              <a:t>（汇编时就记下来的常量偏移）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800" dirty="0"/>
              <a:t>链接器最后用公式把真实值写回到 </a:t>
            </a:r>
            <a:r>
              <a:rPr lang="en-US" altLang="zh-CN" sz="2800" dirty="0" err="1"/>
              <a:t>r_offset</a:t>
            </a:r>
            <a:r>
              <a:rPr lang="zh-CN" altLang="en-US" sz="2800" dirty="0"/>
              <a:t> 指向的位置。</a:t>
            </a:r>
          </a:p>
        </p:txBody>
      </p:sp>
    </p:spTree>
    <p:extLst>
      <p:ext uri="{BB962C8B-B14F-4D97-AF65-F5344CB8AC3E}">
        <p14:creationId xmlns:p14="http://schemas.microsoft.com/office/powerpoint/2010/main" val="3966420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114BD-5EEB-4CE4-85EF-92F1B6AEE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C347E44-111A-9950-FC21-7F0DDBD1902A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E7599E-3066-22BD-8A71-0E3BA7525FDC}"/>
              </a:ext>
            </a:extLst>
          </p:cNvPr>
          <p:cNvSpPr txBox="1">
            <a:spLocks/>
          </p:cNvSpPr>
          <p:nvPr/>
        </p:nvSpPr>
        <p:spPr bwMode="auto">
          <a:xfrm>
            <a:off x="325497" y="178035"/>
            <a:ext cx="9944570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600" dirty="0"/>
              <a:t>重定位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D58A7D2-9EF1-C23D-BC0F-6F53EC5A4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6000" y="6448425"/>
            <a:ext cx="2743200" cy="365125"/>
          </a:xfrm>
        </p:spPr>
        <p:txBody>
          <a:bodyPr/>
          <a:lstStyle/>
          <a:p>
            <a:fld id="{C934AD37-9C95-4FA4-8F42-166F9C21A510}" type="slidenum">
              <a:rPr lang="zh-CN" altLang="en-US" sz="2000"/>
              <a:pPr/>
              <a:t>15</a:t>
            </a:fld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C45392-E2EB-7420-F79B-6420DCC30F2F}"/>
              </a:ext>
            </a:extLst>
          </p:cNvPr>
          <p:cNvSpPr txBox="1"/>
          <p:nvPr/>
        </p:nvSpPr>
        <p:spPr>
          <a:xfrm>
            <a:off x="914399" y="1654837"/>
            <a:ext cx="1036320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编译器（前端 </a:t>
            </a:r>
            <a:r>
              <a:rPr lang="en-US" altLang="zh-CN" sz="2000" b="1" dirty="0"/>
              <a:t>+ </a:t>
            </a:r>
            <a:r>
              <a:rPr lang="zh-CN" altLang="en-US" sz="2000" b="1" dirty="0"/>
              <a:t>后端）阶段：识别要重定位的位置</a:t>
            </a:r>
          </a:p>
          <a:p>
            <a:r>
              <a:rPr lang="zh-CN" altLang="en-US" sz="2000" dirty="0"/>
              <a:t>把源代码翻译成汇编时，凡是</a:t>
            </a:r>
            <a:r>
              <a:rPr lang="zh-CN" altLang="en-US" sz="2000" b="1" dirty="0"/>
              <a:t>目标地址未知</a:t>
            </a:r>
            <a:r>
              <a:rPr lang="zh-CN" altLang="en-US" sz="2000" dirty="0"/>
              <a:t>（外部函数</a:t>
            </a:r>
            <a:r>
              <a:rPr lang="en-US" altLang="zh-CN" sz="2000" dirty="0"/>
              <a:t>/</a:t>
            </a:r>
            <a:r>
              <a:rPr lang="zh-CN" altLang="en-US" sz="2000" dirty="0"/>
              <a:t>变量、或同 </a:t>
            </a:r>
            <a:r>
              <a:rPr lang="en-US" altLang="zh-CN" sz="2000" dirty="0"/>
              <a:t>TU </a:t>
            </a:r>
            <a:r>
              <a:rPr lang="zh-CN" altLang="en-US" sz="2000" dirty="0"/>
              <a:t>内但最终地址待定）：</a:t>
            </a:r>
          </a:p>
          <a:p>
            <a:pPr lvl="1"/>
            <a:r>
              <a:rPr lang="zh-CN" altLang="en-US" sz="2000" dirty="0"/>
              <a:t>对 </a:t>
            </a:r>
            <a:r>
              <a:rPr lang="en-US" altLang="zh-CN" sz="2000" dirty="0"/>
              <a:t>call foo</a:t>
            </a:r>
            <a:r>
              <a:rPr lang="zh-CN" altLang="en-US" sz="2000" dirty="0"/>
              <a:t>：生成一条 </a:t>
            </a:r>
            <a:r>
              <a:rPr lang="en-US" altLang="zh-CN" sz="2000" dirty="0"/>
              <a:t>call rel32</a:t>
            </a:r>
            <a:r>
              <a:rPr lang="zh-CN" altLang="en-US" sz="2000" dirty="0"/>
              <a:t> 的指令模板，占位的 </a:t>
            </a:r>
            <a:r>
              <a:rPr lang="en-US" altLang="zh-CN" sz="2000" dirty="0"/>
              <a:t>4 </a:t>
            </a:r>
            <a:r>
              <a:rPr lang="zh-CN" altLang="en-US" sz="2000" dirty="0"/>
              <a:t>字节由汇编器</a:t>
            </a:r>
            <a:r>
              <a:rPr lang="en-US" altLang="zh-CN" sz="2000" dirty="0"/>
              <a:t>/</a:t>
            </a:r>
            <a:r>
              <a:rPr lang="zh-CN" altLang="en-US" sz="2000" dirty="0"/>
              <a:t>链接器补；</a:t>
            </a:r>
          </a:p>
          <a:p>
            <a:pPr lvl="1"/>
            <a:r>
              <a:rPr lang="zh-CN" altLang="en-US" sz="2000" dirty="0"/>
              <a:t>对 </a:t>
            </a:r>
            <a:r>
              <a:rPr lang="en-US" altLang="zh-CN" sz="2000" dirty="0"/>
              <a:t>int *p = &amp;x</a:t>
            </a:r>
            <a:r>
              <a:rPr lang="zh-CN" altLang="en-US" sz="2000" dirty="0"/>
              <a:t>：在 </a:t>
            </a:r>
            <a:r>
              <a:rPr lang="en-US" altLang="zh-CN" sz="2000" dirty="0"/>
              <a:t>.data</a:t>
            </a:r>
            <a:r>
              <a:rPr lang="zh-CN" altLang="en-US" sz="2000" dirty="0"/>
              <a:t> 放一个 </a:t>
            </a:r>
            <a:r>
              <a:rPr lang="en-US" altLang="zh-CN" sz="2000" dirty="0"/>
              <a:t>8 </a:t>
            </a:r>
            <a:r>
              <a:rPr lang="zh-CN" altLang="en-US" sz="2000" dirty="0"/>
              <a:t>字节占位（将来写入 </a:t>
            </a:r>
            <a:r>
              <a:rPr lang="en-US" altLang="zh-CN" sz="2000" dirty="0"/>
              <a:t>&amp;x</a:t>
            </a:r>
            <a:r>
              <a:rPr lang="zh-CN" altLang="en-US" sz="2000" dirty="0"/>
              <a:t>）。</a:t>
            </a:r>
          </a:p>
          <a:p>
            <a:r>
              <a:rPr lang="zh-CN" altLang="en-US" sz="2000" dirty="0"/>
              <a:t>编译器会在汇编里保留</a:t>
            </a:r>
            <a:r>
              <a:rPr lang="zh-CN" altLang="en-US" sz="2000" b="1" dirty="0"/>
              <a:t>符号引用</a:t>
            </a:r>
            <a:r>
              <a:rPr lang="zh-CN" altLang="en-US" sz="2000" dirty="0"/>
              <a:t>（</a:t>
            </a:r>
            <a:r>
              <a:rPr lang="en-US" altLang="zh-CN" sz="2000" dirty="0"/>
              <a:t>foo</a:t>
            </a:r>
            <a:r>
              <a:rPr lang="zh-CN" altLang="en-US" sz="2000" dirty="0"/>
              <a:t>、</a:t>
            </a:r>
            <a:r>
              <a:rPr lang="en-US" altLang="zh-CN" sz="2000" dirty="0"/>
              <a:t>x</a:t>
            </a:r>
            <a:r>
              <a:rPr lang="zh-CN" altLang="en-US" sz="2000" dirty="0"/>
              <a:t>），并在适当处留</a:t>
            </a:r>
            <a:r>
              <a:rPr lang="zh-CN" altLang="en-US" sz="2000" b="1" dirty="0"/>
              <a:t>加数 </a:t>
            </a:r>
            <a:r>
              <a:rPr lang="en-US" altLang="zh-CN" sz="2000" b="1" dirty="0"/>
              <a:t>A</a:t>
            </a:r>
            <a:r>
              <a:rPr lang="zh-CN" altLang="en-US" sz="2000" dirty="0"/>
              <a:t>（</a:t>
            </a:r>
            <a:r>
              <a:rPr lang="en-US" altLang="zh-CN" sz="2000" dirty="0" err="1"/>
              <a:t>r_addend</a:t>
            </a:r>
            <a:r>
              <a:rPr lang="zh-CN" altLang="en-US" sz="2000" dirty="0"/>
              <a:t>）。</a:t>
            </a:r>
          </a:p>
          <a:p>
            <a:endParaRPr lang="en-US" altLang="zh-CN" sz="2000" b="1" dirty="0"/>
          </a:p>
          <a:p>
            <a:r>
              <a:rPr lang="zh-CN" altLang="en-US" sz="2000" b="1" dirty="0"/>
              <a:t>汇编器（</a:t>
            </a:r>
            <a:r>
              <a:rPr lang="en-US" altLang="zh-CN" sz="2000" b="1" dirty="0"/>
              <a:t>as/gas</a:t>
            </a:r>
            <a:r>
              <a:rPr lang="zh-CN" altLang="en-US" sz="2000" b="1" dirty="0"/>
              <a:t>）：生成重定位项</a:t>
            </a:r>
          </a:p>
          <a:p>
            <a:r>
              <a:rPr lang="zh-CN" altLang="en-US" sz="2000" dirty="0"/>
              <a:t>把汇编转成机器码时，遇到“</a:t>
            </a:r>
            <a:r>
              <a:rPr lang="zh-CN" altLang="en-US" sz="2000" b="1" dirty="0"/>
              <a:t>未决符号</a:t>
            </a:r>
            <a:r>
              <a:rPr lang="zh-CN" altLang="en-US" sz="2000" dirty="0"/>
              <a:t>”的用址（不能就地确定值）：</a:t>
            </a:r>
          </a:p>
          <a:p>
            <a:pPr lvl="1"/>
            <a:r>
              <a:rPr lang="zh-CN" altLang="en-US" sz="2000" dirty="0"/>
              <a:t>在对应段（</a:t>
            </a:r>
            <a:r>
              <a:rPr lang="en-US" altLang="zh-CN" sz="2000" dirty="0"/>
              <a:t>.text</a:t>
            </a:r>
            <a:r>
              <a:rPr lang="zh-CN" altLang="en-US" sz="2000" dirty="0"/>
              <a:t> 或 </a:t>
            </a:r>
            <a:r>
              <a:rPr lang="en-US" altLang="zh-CN" sz="2000" dirty="0"/>
              <a:t>.data</a:t>
            </a:r>
            <a:r>
              <a:rPr lang="zh-CN" altLang="en-US" sz="2000" dirty="0"/>
              <a:t>）里写入</a:t>
            </a:r>
            <a:r>
              <a:rPr lang="zh-CN" altLang="en-US" sz="2000" b="1" dirty="0"/>
              <a:t>占位位</a:t>
            </a:r>
            <a:r>
              <a:rPr lang="zh-CN" altLang="en-US" sz="2000" dirty="0"/>
              <a:t>（通常 </a:t>
            </a:r>
            <a:r>
              <a:rPr lang="en-US" altLang="zh-CN" sz="2000" dirty="0"/>
              <a:t>0</a:t>
            </a:r>
            <a:r>
              <a:rPr lang="zh-CN" altLang="en-US" sz="2000" dirty="0"/>
              <a:t>），</a:t>
            </a:r>
          </a:p>
          <a:p>
            <a:pPr lvl="1"/>
            <a:r>
              <a:rPr lang="zh-CN" altLang="en-US" sz="2000" dirty="0"/>
              <a:t>同时在 </a:t>
            </a:r>
            <a:r>
              <a:rPr lang="en-US" altLang="zh-CN" sz="2000" dirty="0"/>
              <a:t>.</a:t>
            </a:r>
            <a:r>
              <a:rPr lang="en-US" altLang="zh-CN" sz="2000" dirty="0" err="1"/>
              <a:t>rela.text</a:t>
            </a:r>
            <a:r>
              <a:rPr lang="zh-CN" altLang="en-US" sz="2000" dirty="0"/>
              <a:t> 或 </a:t>
            </a:r>
            <a:r>
              <a:rPr lang="en-US" altLang="zh-CN" sz="2000" dirty="0"/>
              <a:t>.</a:t>
            </a:r>
            <a:r>
              <a:rPr lang="en-US" altLang="zh-CN" sz="2000" dirty="0" err="1"/>
              <a:t>rela.data</a:t>
            </a:r>
            <a:r>
              <a:rPr lang="zh-CN" altLang="en-US" sz="2000" dirty="0"/>
              <a:t> </a:t>
            </a:r>
            <a:r>
              <a:rPr lang="zh-CN" altLang="en-US" sz="2000" b="1" dirty="0"/>
              <a:t>追加一条重定位项</a:t>
            </a:r>
            <a:r>
              <a:rPr lang="zh-CN" altLang="en-US" sz="2000" dirty="0"/>
              <a:t>：</a:t>
            </a:r>
          </a:p>
          <a:p>
            <a:pPr lvl="2"/>
            <a:r>
              <a:rPr lang="en-US" altLang="zh-CN" sz="2000" dirty="0" err="1"/>
              <a:t>r_offset</a:t>
            </a:r>
            <a:r>
              <a:rPr lang="zh-CN" altLang="en-US" sz="2000" dirty="0"/>
              <a:t>：这处占位字节在本段里的偏移</a:t>
            </a:r>
          </a:p>
          <a:p>
            <a:pPr lvl="2"/>
            <a:r>
              <a:rPr lang="en-US" altLang="zh-CN" sz="2000" dirty="0" err="1"/>
              <a:t>r_info</a:t>
            </a:r>
            <a:r>
              <a:rPr lang="zh-CN" altLang="en-US" sz="2000" dirty="0"/>
              <a:t>：绑定到目标符号 </a:t>
            </a:r>
            <a:r>
              <a:rPr lang="en-US" altLang="zh-CN" sz="2000" dirty="0"/>
              <a:t>+ </a:t>
            </a:r>
            <a:r>
              <a:rPr lang="zh-CN" altLang="en-US" sz="2000" dirty="0"/>
              <a:t>选定的</a:t>
            </a:r>
            <a:r>
              <a:rPr lang="zh-CN" altLang="en-US" sz="2000" b="1" dirty="0"/>
              <a:t>重定位类型</a:t>
            </a:r>
            <a:r>
              <a:rPr lang="zh-CN" altLang="en-US" sz="2000" dirty="0"/>
              <a:t>（代码里 </a:t>
            </a:r>
            <a:r>
              <a:rPr lang="en-US" altLang="zh-CN" sz="2000" dirty="0"/>
              <a:t>PLT32/PC32</a:t>
            </a:r>
            <a:r>
              <a:rPr lang="zh-CN" altLang="en-US" sz="2000" dirty="0"/>
              <a:t>，数据里 </a:t>
            </a:r>
            <a:r>
              <a:rPr lang="en-US" altLang="zh-CN" sz="2000" dirty="0"/>
              <a:t>64</a:t>
            </a:r>
            <a:r>
              <a:rPr lang="zh-CN" altLang="en-US" sz="2000" dirty="0"/>
              <a:t>）</a:t>
            </a:r>
          </a:p>
          <a:p>
            <a:pPr lvl="2"/>
            <a:r>
              <a:rPr lang="en-US" altLang="zh-CN" sz="2000" dirty="0" err="1"/>
              <a:t>r_addend</a:t>
            </a:r>
            <a:r>
              <a:rPr lang="zh-CN" altLang="en-US" sz="2000" dirty="0"/>
              <a:t>：加数 </a:t>
            </a:r>
            <a:r>
              <a:rPr lang="en-US" altLang="zh-CN" sz="2000" dirty="0"/>
              <a:t>A</a:t>
            </a:r>
            <a:r>
              <a:rPr lang="zh-CN" altLang="en-US" sz="2000" dirty="0"/>
              <a:t>（如 </a:t>
            </a:r>
            <a:r>
              <a:rPr lang="en-US" altLang="zh-CN" sz="2000" dirty="0"/>
              <a:t>-4</a:t>
            </a:r>
            <a:r>
              <a:rPr lang="zh-CN" altLang="en-US" sz="2000" dirty="0"/>
              <a:t> 常见于 </a:t>
            </a:r>
            <a:r>
              <a:rPr lang="en-US" altLang="zh-CN" sz="2000" dirty="0"/>
              <a:t>call rel32</a:t>
            </a:r>
            <a:r>
              <a:rPr lang="zh-CN" altLang="en-US" sz="2000" dirty="0"/>
              <a:t> 的编码形式）</a:t>
            </a:r>
          </a:p>
          <a:p>
            <a:r>
              <a:rPr lang="zh-CN" altLang="en-US" sz="2000" dirty="0"/>
              <a:t>这一步你可以用 </a:t>
            </a:r>
            <a:r>
              <a:rPr lang="en-US" altLang="zh-CN" sz="2000" dirty="0" err="1"/>
              <a:t>readelf</a:t>
            </a:r>
            <a:r>
              <a:rPr lang="en-US" altLang="zh-CN" sz="2000" dirty="0"/>
              <a:t> -r</a:t>
            </a:r>
            <a:r>
              <a:rPr lang="zh-CN" altLang="en-US" sz="2000" dirty="0"/>
              <a:t> 直接看到结果。</a:t>
            </a:r>
          </a:p>
        </p:txBody>
      </p:sp>
    </p:spTree>
    <p:extLst>
      <p:ext uri="{BB962C8B-B14F-4D97-AF65-F5344CB8AC3E}">
        <p14:creationId xmlns:p14="http://schemas.microsoft.com/office/powerpoint/2010/main" val="1217152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4D05E-8164-B066-2C1E-12D1F4DD6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CFA0A65-055A-BF97-8207-99634492F872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4DF840-5CB0-2AAB-E6FA-2472DCB0620C}"/>
              </a:ext>
            </a:extLst>
          </p:cNvPr>
          <p:cNvSpPr txBox="1">
            <a:spLocks/>
          </p:cNvSpPr>
          <p:nvPr/>
        </p:nvSpPr>
        <p:spPr bwMode="auto">
          <a:xfrm>
            <a:off x="325497" y="178035"/>
            <a:ext cx="9944570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600" dirty="0"/>
              <a:t>重定位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3F38956C-4FAC-9AEC-0DF6-08A24FDB4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6000" y="6448425"/>
            <a:ext cx="2743200" cy="365125"/>
          </a:xfrm>
        </p:spPr>
        <p:txBody>
          <a:bodyPr/>
          <a:lstStyle/>
          <a:p>
            <a:fld id="{C934AD37-9C95-4FA4-8F42-166F9C21A510}" type="slidenum">
              <a:rPr lang="zh-CN" altLang="en-US" sz="2000"/>
              <a:pPr/>
              <a:t>16</a:t>
            </a:fld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90A3BE-C143-BD5F-ABAB-B374AB475C4F}"/>
              </a:ext>
            </a:extLst>
          </p:cNvPr>
          <p:cNvSpPr txBox="1"/>
          <p:nvPr/>
        </p:nvSpPr>
        <p:spPr>
          <a:xfrm>
            <a:off x="914399" y="1251105"/>
            <a:ext cx="10363201" cy="5036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链接器（</a:t>
            </a:r>
            <a:r>
              <a:rPr lang="en-US" altLang="zh-CN" b="1" dirty="0" err="1"/>
              <a:t>ld</a:t>
            </a:r>
            <a:r>
              <a:rPr lang="zh-CN" altLang="en-US" b="1" dirty="0"/>
              <a:t> </a:t>
            </a:r>
            <a:r>
              <a:rPr lang="en-US" altLang="zh-CN" b="1" dirty="0"/>
              <a:t>/ </a:t>
            </a:r>
            <a:r>
              <a:rPr lang="zh-CN" altLang="en-US" b="1" dirty="0"/>
              <a:t>由 </a:t>
            </a:r>
            <a:r>
              <a:rPr lang="en-US" altLang="zh-CN" b="1" dirty="0" err="1"/>
              <a:t>gcc</a:t>
            </a:r>
            <a:r>
              <a:rPr lang="zh-CN" altLang="en-US" b="1" dirty="0"/>
              <a:t> 驱动）：符号解析 </a:t>
            </a:r>
            <a:r>
              <a:rPr lang="en-US" altLang="zh-CN" b="1" dirty="0"/>
              <a:t>+ </a:t>
            </a:r>
            <a:r>
              <a:rPr lang="zh-CN" altLang="en-US" b="1" dirty="0"/>
              <a:t>重定位填充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符号解析</a:t>
            </a:r>
            <a:r>
              <a:rPr lang="zh-CN" altLang="en-US" dirty="0"/>
              <a:t>：在所有输入（多个 </a:t>
            </a:r>
            <a:r>
              <a:rPr lang="en-US" altLang="zh-CN" dirty="0"/>
              <a:t>.o</a:t>
            </a:r>
            <a:r>
              <a:rPr lang="zh-CN" altLang="en-US" dirty="0"/>
              <a:t>、静态库 </a:t>
            </a:r>
            <a:r>
              <a:rPr lang="en-US" altLang="zh-CN" dirty="0"/>
              <a:t>.a</a:t>
            </a:r>
            <a:r>
              <a:rPr lang="zh-CN" altLang="en-US" dirty="0"/>
              <a:t>）的 </a:t>
            </a:r>
            <a:r>
              <a:rPr lang="en-US" altLang="zh-CN" dirty="0"/>
              <a:t>.</a:t>
            </a:r>
            <a:r>
              <a:rPr lang="en-US" altLang="zh-CN" dirty="0" err="1"/>
              <a:t>symtab</a:t>
            </a:r>
            <a:r>
              <a:rPr lang="zh-CN" altLang="en-US" dirty="0"/>
              <a:t> 里，把</a:t>
            </a:r>
            <a:r>
              <a:rPr lang="zh-CN" altLang="en-US" b="1" dirty="0"/>
              <a:t>未定义（</a:t>
            </a:r>
            <a:r>
              <a:rPr lang="en-US" altLang="zh-CN" b="1" dirty="0"/>
              <a:t>UND</a:t>
            </a:r>
            <a:r>
              <a:rPr lang="zh-CN" altLang="en-US" b="1" dirty="0"/>
              <a:t>）的引用匹配到某个定义</a:t>
            </a:r>
            <a:r>
              <a:rPr lang="zh-CN" altLang="en-US" dirty="0"/>
              <a:t>（</a:t>
            </a:r>
            <a:r>
              <a:rPr lang="en-US" altLang="zh-CN" dirty="0"/>
              <a:t>DEF</a:t>
            </a:r>
            <a:r>
              <a:rPr lang="zh-CN" altLang="en-US" dirty="0"/>
              <a:t>），并检查强</a:t>
            </a:r>
            <a:r>
              <a:rPr lang="en-US" altLang="zh-CN" dirty="0"/>
              <a:t>/</a:t>
            </a:r>
            <a:r>
              <a:rPr lang="zh-CN" altLang="en-US" dirty="0"/>
              <a:t>弱符号冲突。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段布局</a:t>
            </a:r>
            <a:r>
              <a:rPr lang="zh-CN" altLang="en-US" dirty="0"/>
              <a:t>：把各个 </a:t>
            </a:r>
            <a:r>
              <a:rPr lang="en-US" altLang="zh-CN" dirty="0"/>
              <a:t>.text/.data/.</a:t>
            </a:r>
            <a:r>
              <a:rPr lang="en-US" altLang="zh-CN" dirty="0" err="1"/>
              <a:t>bss</a:t>
            </a:r>
            <a:r>
              <a:rPr lang="zh-CN" altLang="en-US" dirty="0"/>
              <a:t> 合并，并给出它们在最终文件</a:t>
            </a:r>
            <a:r>
              <a:rPr lang="en-US" altLang="zh-CN" dirty="0"/>
              <a:t>/</a:t>
            </a:r>
            <a:r>
              <a:rPr lang="zh-CN" altLang="en-US" dirty="0"/>
              <a:t>内存中的</a:t>
            </a:r>
            <a:r>
              <a:rPr lang="zh-CN" altLang="en-US" b="1" dirty="0"/>
              <a:t>绝对地址</a:t>
            </a:r>
            <a:r>
              <a:rPr lang="zh-CN" altLang="en-US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应用重定位</a:t>
            </a:r>
            <a:r>
              <a:rPr lang="zh-CN" altLang="en-US" dirty="0"/>
              <a:t>：逐条读取 </a:t>
            </a:r>
            <a:r>
              <a:rPr lang="en-US" altLang="zh-CN" dirty="0"/>
              <a:t>.</a:t>
            </a:r>
            <a:r>
              <a:rPr lang="en-US" altLang="zh-CN" dirty="0" err="1"/>
              <a:t>rela</a:t>
            </a:r>
            <a:r>
              <a:rPr lang="en-US" altLang="zh-CN" dirty="0"/>
              <a:t>.*</a:t>
            </a:r>
            <a:r>
              <a:rPr lang="zh-CN" altLang="en-US" dirty="0"/>
              <a:t>：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取出该条的 </a:t>
            </a:r>
            <a:r>
              <a:rPr lang="en-US" altLang="zh-CN" dirty="0"/>
              <a:t>S</a:t>
            </a:r>
            <a:r>
              <a:rPr lang="zh-CN" altLang="en-US" dirty="0"/>
              <a:t>（符号最终地址）、</a:t>
            </a:r>
            <a:r>
              <a:rPr lang="en-US" altLang="zh-CN" dirty="0"/>
              <a:t>A</a:t>
            </a:r>
            <a:r>
              <a:rPr lang="zh-CN" altLang="en-US" dirty="0"/>
              <a:t>（加数）、</a:t>
            </a:r>
            <a:r>
              <a:rPr lang="en-US" altLang="zh-CN" dirty="0"/>
              <a:t>P</a:t>
            </a:r>
            <a:r>
              <a:rPr lang="zh-CN" altLang="en-US" dirty="0"/>
              <a:t>（写入位置的“</a:t>
            </a:r>
            <a:r>
              <a:rPr lang="en-US" altLang="zh-CN" dirty="0"/>
              <a:t>place”</a:t>
            </a:r>
            <a:r>
              <a:rPr lang="zh-CN" altLang="en-US" dirty="0"/>
              <a:t>地址，</a:t>
            </a:r>
            <a:r>
              <a:rPr lang="en-US" altLang="zh-CN" dirty="0"/>
              <a:t>PC-relative </a:t>
            </a:r>
            <a:r>
              <a:rPr lang="zh-CN" altLang="en-US" dirty="0"/>
              <a:t>用到），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依据</a:t>
            </a:r>
            <a:r>
              <a:rPr lang="zh-CN" altLang="en-US" b="1" dirty="0"/>
              <a:t>重定位类型</a:t>
            </a:r>
            <a:r>
              <a:rPr lang="zh-CN" altLang="en-US" dirty="0"/>
              <a:t>选择公式：</a:t>
            </a:r>
          </a:p>
          <a:p>
            <a:pPr lvl="2">
              <a:lnSpc>
                <a:spcPct val="150000"/>
              </a:lnSpc>
            </a:pPr>
            <a:r>
              <a:rPr lang="en-US" altLang="zh-CN" dirty="0"/>
              <a:t>R_X86_64_PLT32 / PC32</a:t>
            </a:r>
            <a:r>
              <a:rPr lang="zh-CN" altLang="en-US" dirty="0"/>
              <a:t>：写入 </a:t>
            </a:r>
            <a:r>
              <a:rPr lang="en-US" altLang="zh-CN" dirty="0"/>
              <a:t>S + A - P</a:t>
            </a:r>
            <a:r>
              <a:rPr lang="zh-CN" altLang="en-US" dirty="0"/>
              <a:t>（</a:t>
            </a:r>
            <a:r>
              <a:rPr lang="en-US" altLang="zh-CN" dirty="0"/>
              <a:t>4 </a:t>
            </a:r>
            <a:r>
              <a:rPr lang="zh-CN" altLang="en-US" dirty="0"/>
              <a:t>字节，有符号）</a:t>
            </a:r>
          </a:p>
          <a:p>
            <a:pPr lvl="2">
              <a:lnSpc>
                <a:spcPct val="150000"/>
              </a:lnSpc>
            </a:pPr>
            <a:r>
              <a:rPr lang="en-US" altLang="zh-CN" dirty="0"/>
              <a:t>R_X86_64_64</a:t>
            </a:r>
            <a:r>
              <a:rPr lang="zh-CN" altLang="en-US" dirty="0"/>
              <a:t>：写入 </a:t>
            </a:r>
            <a:r>
              <a:rPr lang="en-US" altLang="zh-CN" dirty="0"/>
              <a:t>S + A</a:t>
            </a:r>
            <a:r>
              <a:rPr lang="zh-CN" altLang="en-US" dirty="0"/>
              <a:t>（</a:t>
            </a:r>
            <a:r>
              <a:rPr lang="en-US" altLang="zh-CN" dirty="0"/>
              <a:t>8 </a:t>
            </a:r>
            <a:r>
              <a:rPr lang="zh-CN" altLang="en-US" dirty="0"/>
              <a:t>字节）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把计算结果回填到 </a:t>
            </a:r>
            <a:r>
              <a:rPr lang="en-US" altLang="zh-CN" dirty="0" err="1"/>
              <a:t>r_offset</a:t>
            </a:r>
            <a:r>
              <a:rPr lang="zh-CN" altLang="en-US" dirty="0"/>
              <a:t> 指向的位置（指令立即数、或数据槽里）。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删除</a:t>
            </a:r>
            <a:r>
              <a:rPr lang="en-US" altLang="zh-CN" b="1" dirty="0"/>
              <a:t>/</a:t>
            </a:r>
            <a:r>
              <a:rPr lang="zh-CN" altLang="en-US" b="1" dirty="0"/>
              <a:t>收缩</a:t>
            </a:r>
            <a:r>
              <a:rPr lang="zh-CN" altLang="en-US" dirty="0"/>
              <a:t>：最终可执行文件里通常</a:t>
            </a:r>
            <a:r>
              <a:rPr lang="zh-CN" altLang="en-US" b="1" dirty="0"/>
              <a:t>不再保留</a:t>
            </a:r>
            <a:r>
              <a:rPr lang="zh-CN" altLang="en-US" dirty="0"/>
              <a:t>这些重定位（除非是动态重定位场景），因为地址都已被修好。</a:t>
            </a:r>
          </a:p>
        </p:txBody>
      </p:sp>
    </p:spTree>
    <p:extLst>
      <p:ext uri="{BB962C8B-B14F-4D97-AF65-F5344CB8AC3E}">
        <p14:creationId xmlns:p14="http://schemas.microsoft.com/office/powerpoint/2010/main" val="147191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1617</Words>
  <Application>Microsoft Office PowerPoint</Application>
  <PresentationFormat>宽屏</PresentationFormat>
  <Paragraphs>185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等线</vt:lpstr>
      <vt:lpstr>等线 Light</vt:lpstr>
      <vt:lpstr>楷体</vt:lpstr>
      <vt:lpstr>Arial</vt:lpstr>
      <vt:lpstr>Calibri</vt:lpstr>
      <vt:lpstr>Courier New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思远 曹</dc:creator>
  <cp:lastModifiedBy>思远 曹</cp:lastModifiedBy>
  <cp:revision>77</cp:revision>
  <dcterms:created xsi:type="dcterms:W3CDTF">2025-11-10T12:23:21Z</dcterms:created>
  <dcterms:modified xsi:type="dcterms:W3CDTF">2025-11-10T15:22:07Z</dcterms:modified>
</cp:coreProperties>
</file>