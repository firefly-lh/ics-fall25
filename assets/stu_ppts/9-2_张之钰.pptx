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7E1D4-C144-C133-E260-461A460B5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3F7E44-BBF9-EF18-9078-0D293E8FF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72D6CE-9680-8A49-54C5-EC2C9305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C0F38E-E96F-3567-A01D-5614E9A33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199F8E-11F4-79A6-B53D-9AAE6D2D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57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B994-CFE7-BE83-6655-8E9C7FEB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66291-9A06-89CB-3E8D-CEFA87CA7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3FFBE-3125-C58C-0286-ADFA39C7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87D1F-6BA7-FFBE-B0DC-F63928C1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895C9D-A38C-8A01-5E5E-866F5188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526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492DC-8111-DF18-13EE-69F8E439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E771A9-90A7-B27C-EEC8-C7BF45486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4D8AA-4E63-27B1-EDAD-FEFA5EA6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80E53-3E15-2832-A1A0-9AB44DF8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BF9A2A-3341-1D8B-5C95-CC60388A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821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A9B8B5-D244-FE6F-9E50-419F8CD51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2D2FF4-1970-15F1-2A55-912A2944D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25158D-6413-DBDC-AD8B-0F9894869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621128-BF72-C3B8-1960-E2080D43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EFD5F4-237F-2200-9362-068D36A8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CA3FD9-7D7D-6E21-4D6F-5AD22B51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59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2FED3-F9A6-D222-336C-FAB12D134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B29CB4-EF0E-F2D3-D9D2-ADB298DF4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43664B-13C3-C099-13D9-AE0E2C456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047F10-06E1-C0C4-7D28-2E826ACE8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243AAD-74DE-3C5A-35F3-6A11529E0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023725-33DC-1A4A-9BD3-2F8E455A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47606A-5D4D-244E-C5F2-35BF5597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163B382-26C1-0BFC-2347-56D3982A8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52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8F884-5495-C444-57E5-526745A3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D4655D-2D0F-9648-396F-7F5EAD34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455850-2B2D-7A95-784D-C98B4517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514FE9-D01A-D579-D03D-13E89A6C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9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ABC591-EAB6-5092-125A-17F1B008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BDB237-837C-43A6-B6F9-6D21F922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15CAB5-09F6-7583-6D7B-9E893C02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26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5EA38-B806-2CAD-BFF1-E1EA0A55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82BE6E-A53A-347B-7A78-F251E7640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FA7E72-B918-D20C-4008-7F1FA5C3B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717B63-581C-69D0-8D93-3DD0121F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EE945E-8A46-37E1-5398-ABFD5665A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760C7-5B2C-ADD6-F9B6-2FBA3EC3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45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4E22F-589F-6FE2-865F-A192B8D16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9BFE3C-BDA6-FC6A-46BD-A460457EC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5825E4-C3F0-47DD-64D4-AB443EB93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84118D-CC4A-AF17-24E1-51FBCD21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3886C0-341B-6CDF-E6CA-8525D580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021AC1-634C-D1E0-1ADA-926B4136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7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38135-67FB-9781-D9F7-EC90C720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8A61C8-0612-0104-B3F1-4F69DE08F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A974F0-FAEF-57F4-E9F7-3BF8995D0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AB7E4-8A20-1BF2-AED4-B1AC5411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317673-92FD-1D91-3A3D-E3224B0F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1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99AB2B-1EB6-CFAF-87D4-0F9587341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986531-3FD8-AE32-60FF-04AD47727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1EFFF-9BF8-0891-90FC-939B3A65E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E32DAC-2649-3E3E-F7B3-0316E957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EC431D-94BE-41F8-40FD-AD0619A02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98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3D072D9-FBA7-D10D-AC8B-30541C8AA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DDEC91-8D21-BEE9-8443-050368328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A8FB4D-6C29-A214-17D9-6D2E44C80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DB4C6-9CCE-4EC4-B30F-237FBCAC59ED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94456-BF6E-A66D-FA9E-2C5866299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E6E5DB-22FA-244B-E99B-7DA7ECDD6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CA438-42F8-47AB-925D-D24ED6E56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1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E25BD-2851-21DB-C1F6-DAE76D455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逻辑设计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AE9572-BA55-FC8F-EFCF-A179A3F9B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2025/10/22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373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94032-002C-3158-BBE3-47D8EC76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时序图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7216D-60B4-85AC-697E-E115CDDE4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输出对输入有连续响应，但是有一定的微小延迟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62C3FF-247F-E4B2-9A85-6F2DE71F6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33" y="3140018"/>
            <a:ext cx="4970900" cy="17225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231BC7-C3BC-4063-585D-CBBA24746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469" y="2761611"/>
            <a:ext cx="4393363" cy="230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6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4AC9-D19F-D9F9-7C9A-F7792A614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3ACFF-FA12-F57F-6A68-F9886B3DC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比较</a:t>
            </a:r>
          </a:p>
        </p:txBody>
      </p:sp>
      <p:graphicFrame>
        <p:nvGraphicFramePr>
          <p:cNvPr id="13" name="内容占位符 12">
            <a:extLst>
              <a:ext uri="{FF2B5EF4-FFF2-40B4-BE49-F238E27FC236}">
                <a16:creationId xmlns:a16="http://schemas.microsoft.com/office/drawing/2014/main" id="{BC3CDA97-3206-1906-B36F-E9BFF66FA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1077020"/>
              </p:ext>
            </p:extLst>
          </p:nvPr>
        </p:nvGraphicFramePr>
        <p:xfrm>
          <a:off x="5143008" y="1852878"/>
          <a:ext cx="6154932" cy="3390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9276">
                  <a:extLst>
                    <a:ext uri="{9D8B030D-6E8A-4147-A177-3AD203B41FA5}">
                      <a16:colId xmlns:a16="http://schemas.microsoft.com/office/drawing/2014/main" val="4290671447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1440382506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605686555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3943713207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1472767942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1869092343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4077185616"/>
                    </a:ext>
                  </a:extLst>
                </a:gridCol>
              </a:tblGrid>
              <a:tr h="67815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a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d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x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y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eq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052166"/>
                  </a:ext>
                </a:extLst>
              </a:tr>
              <a:tr h="67815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338261"/>
                  </a:ext>
                </a:extLst>
              </a:tr>
              <a:tr h="67815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537403"/>
                  </a:ext>
                </a:extLst>
              </a:tr>
              <a:tr h="67815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361106"/>
                  </a:ext>
                </a:extLst>
              </a:tr>
              <a:tr h="67815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167150"/>
                  </a:ext>
                </a:extLst>
              </a:tr>
            </a:tbl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CE73887E-E7AE-6071-BA18-1B1567874B34}"/>
              </a:ext>
            </a:extLst>
          </p:cNvPr>
          <p:cNvGrpSpPr/>
          <p:nvPr/>
        </p:nvGrpSpPr>
        <p:grpSpPr>
          <a:xfrm>
            <a:off x="894060" y="1690688"/>
            <a:ext cx="4172059" cy="2476352"/>
            <a:chOff x="894060" y="1897786"/>
            <a:chExt cx="4172059" cy="247635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5C54C03-36F0-984B-17E5-C95DF65AE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4060" y="1897786"/>
              <a:ext cx="4172059" cy="2476352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46F63C3-71C5-A2F1-8BC0-15637ED6537A}"/>
                </a:ext>
              </a:extLst>
            </p:cNvPr>
            <p:cNvSpPr txBox="1"/>
            <p:nvPr/>
          </p:nvSpPr>
          <p:spPr>
            <a:xfrm>
              <a:off x="2325890" y="3178921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c</a:t>
              </a:r>
              <a:endParaRPr lang="zh-CN" altLang="en-US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2D09DCC-4D22-8D6A-69A8-19491C6F126F}"/>
                </a:ext>
              </a:extLst>
            </p:cNvPr>
            <p:cNvSpPr txBox="1"/>
            <p:nvPr/>
          </p:nvSpPr>
          <p:spPr>
            <a:xfrm>
              <a:off x="2325890" y="3816628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d</a:t>
              </a:r>
              <a:endParaRPr lang="zh-CN" altLang="en-US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44102D8-1C0C-CF3F-C77C-BEA67992DB50}"/>
                </a:ext>
              </a:extLst>
            </p:cNvPr>
            <p:cNvSpPr txBox="1"/>
            <p:nvPr/>
          </p:nvSpPr>
          <p:spPr>
            <a:xfrm>
              <a:off x="3731243" y="257750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x</a:t>
              </a:r>
              <a:endParaRPr lang="zh-CN" altLang="en-US" b="1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5FB6B87-81C8-B525-1357-3C562B1C8E6E}"/>
                </a:ext>
              </a:extLst>
            </p:cNvPr>
            <p:cNvSpPr txBox="1"/>
            <p:nvPr/>
          </p:nvSpPr>
          <p:spPr>
            <a:xfrm>
              <a:off x="3731243" y="3429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y</a:t>
              </a:r>
              <a:endParaRPr lang="zh-CN" altLang="en-US" b="1" dirty="0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82B884AD-3F45-831E-0176-B8D3D786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542" y="4313886"/>
            <a:ext cx="3783374" cy="101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86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BAE7-503A-FB3A-B39B-12E0D99D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00049-3D58-60A9-3261-4F85A20F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比较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F96C4B-F22C-4423-6892-109413046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每一位比较，</a:t>
            </a:r>
            <a:r>
              <a:rPr lang="en-US" altLang="zh-CN" sz="2000" dirty="0">
                <a:latin typeface="Consolas" panose="020B0609020204030204" pitchFamily="49" charset="0"/>
              </a:rPr>
              <a:t>eq</a:t>
            </a:r>
            <a:r>
              <a:rPr lang="zh-CN" altLang="en-US" sz="2000" dirty="0">
                <a:latin typeface="Consolas" panose="020B0609020204030204" pitchFamily="49" charset="0"/>
              </a:rPr>
              <a:t>全为</a:t>
            </a:r>
            <a:r>
              <a:rPr lang="en-US" altLang="zh-CN" sz="2000" dirty="0">
                <a:latin typeface="Consolas" panose="020B0609020204030204" pitchFamily="49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</a:rPr>
              <a:t>结果的</a:t>
            </a:r>
            <a:r>
              <a:rPr lang="en-US" altLang="zh-CN" sz="2000" dirty="0">
                <a:latin typeface="Consolas" panose="020B0609020204030204" pitchFamily="49" charset="0"/>
              </a:rPr>
              <a:t>eq</a:t>
            </a:r>
            <a:r>
              <a:rPr lang="zh-CN" altLang="en-US" sz="2000" dirty="0">
                <a:latin typeface="Consolas" panose="020B0609020204030204" pitchFamily="49" charset="0"/>
              </a:rPr>
              <a:t>才为</a:t>
            </a:r>
            <a:r>
              <a:rPr lang="en-US" altLang="zh-CN" sz="2000" dirty="0">
                <a:latin typeface="Consolas" panose="020B0609020204030204" pitchFamily="49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</a:rPr>
              <a:t>，用与运算。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94805B9-83EE-62FE-5974-DF4E56023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981" y="3086867"/>
            <a:ext cx="3028704" cy="309009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587B6EB-B400-0E78-7D3E-3347BDAB70AC}"/>
              </a:ext>
            </a:extLst>
          </p:cNvPr>
          <p:cNvSpPr/>
          <p:nvPr/>
        </p:nvSpPr>
        <p:spPr>
          <a:xfrm>
            <a:off x="4835886" y="5038404"/>
            <a:ext cx="853031" cy="11539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EBB50D0-86A3-64D3-A65E-3FFD4C8FC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669" y="3086866"/>
            <a:ext cx="3532328" cy="309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0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D43B-7BB3-4B56-24E4-36470398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AFBD8-F9AA-B272-18D0-A9065D179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多路复用器</a:t>
            </a:r>
          </a:p>
        </p:txBody>
      </p:sp>
      <p:graphicFrame>
        <p:nvGraphicFramePr>
          <p:cNvPr id="13" name="内容占位符 12">
            <a:extLst>
              <a:ext uri="{FF2B5EF4-FFF2-40B4-BE49-F238E27FC236}">
                <a16:creationId xmlns:a16="http://schemas.microsoft.com/office/drawing/2014/main" id="{C38D4246-CF13-C3D5-F494-B5B4ADC5F0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8925395"/>
              </p:ext>
            </p:extLst>
          </p:nvPr>
        </p:nvGraphicFramePr>
        <p:xfrm>
          <a:off x="5198868" y="1195340"/>
          <a:ext cx="6154932" cy="48540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9276">
                  <a:extLst>
                    <a:ext uri="{9D8B030D-6E8A-4147-A177-3AD203B41FA5}">
                      <a16:colId xmlns:a16="http://schemas.microsoft.com/office/drawing/2014/main" val="4290671447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1440382506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605686555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3943713207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1472767942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1869092343"/>
                    </a:ext>
                  </a:extLst>
                </a:gridCol>
                <a:gridCol w="879276">
                  <a:extLst>
                    <a:ext uri="{9D8B030D-6E8A-4147-A177-3AD203B41FA5}">
                      <a16:colId xmlns:a16="http://schemas.microsoft.com/office/drawing/2014/main" val="4077185616"/>
                    </a:ext>
                  </a:extLst>
                </a:gridCol>
              </a:tblGrid>
              <a:tr h="53933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s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A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b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c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x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y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latin typeface="Consolas" panose="020B0609020204030204" pitchFamily="49" charset="0"/>
                        </a:rPr>
                        <a:t>out</a:t>
                      </a:r>
                      <a:endParaRPr lang="zh-CN" altLang="en-US" b="1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052166"/>
                  </a:ext>
                </a:extLst>
              </a:tr>
              <a:tr h="5393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338261"/>
                  </a:ext>
                </a:extLst>
              </a:tr>
              <a:tr h="5393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537403"/>
                  </a:ext>
                </a:extLst>
              </a:tr>
              <a:tr h="5393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361106"/>
                  </a:ext>
                </a:extLst>
              </a:tr>
              <a:tr h="5393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167150"/>
                  </a:ext>
                </a:extLst>
              </a:tr>
              <a:tr h="5393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660202"/>
                  </a:ext>
                </a:extLst>
              </a:tr>
              <a:tr h="5393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2014596"/>
                  </a:ext>
                </a:extLst>
              </a:tr>
              <a:tr h="5393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776250"/>
                  </a:ext>
                </a:extLst>
              </a:tr>
              <a:tr h="5393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458890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0C3DBA3D-D2AF-FAE3-4A97-104F6FD8C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60" y="1852878"/>
            <a:ext cx="4004418" cy="23836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FBA9A8-3E64-7D12-DA40-4BBFF2E5D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55" y="4398763"/>
            <a:ext cx="3688390" cy="98586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027E2ED-BC08-E5B0-A552-3585D5CDD8D3}"/>
              </a:ext>
            </a:extLst>
          </p:cNvPr>
          <p:cNvSpPr txBox="1"/>
          <p:nvPr/>
        </p:nvSpPr>
        <p:spPr>
          <a:xfrm>
            <a:off x="2190878" y="255295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81B034-006B-36AB-881B-E211BCA5C7CF}"/>
              </a:ext>
            </a:extLst>
          </p:cNvPr>
          <p:cNvSpPr txBox="1"/>
          <p:nvPr/>
        </p:nvSpPr>
        <p:spPr>
          <a:xfrm>
            <a:off x="3301659" y="273762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x</a:t>
            </a:r>
            <a:endParaRPr lang="zh-CN" altLang="en-US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A36FE3B-2C45-3143-6BB3-53CAC5DD7726}"/>
              </a:ext>
            </a:extLst>
          </p:cNvPr>
          <p:cNvSpPr txBox="1"/>
          <p:nvPr/>
        </p:nvSpPr>
        <p:spPr>
          <a:xfrm>
            <a:off x="3300055" y="36223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y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12509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84BDA-23EA-DCBF-778D-3158EBF9A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286EF-0E1C-AEB4-449D-F2EE187F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多路复用器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00FD03-6B1A-D643-A128-B1EF0859E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</a:rPr>
              <a:t>逐位选择并合并。</a:t>
            </a:r>
            <a:r>
              <a:rPr lang="en-US" altLang="zh-CN" sz="2000" dirty="0">
                <a:latin typeface="Consolas" panose="020B0609020204030204" pitchFamily="49" charset="0"/>
              </a:rPr>
              <a:t>HCL</a:t>
            </a:r>
            <a:r>
              <a:rPr lang="zh-CN" altLang="en-US" sz="2000" dirty="0">
                <a:latin typeface="Consolas" panose="020B0609020204030204" pitchFamily="49" charset="0"/>
              </a:rPr>
              <a:t>语言描述为类似于</a:t>
            </a:r>
            <a:r>
              <a:rPr lang="en-US" altLang="zh-CN" sz="2000" dirty="0">
                <a:latin typeface="Consolas" panose="020B0609020204030204" pitchFamily="49" charset="0"/>
              </a:rPr>
              <a:t>switch</a:t>
            </a:r>
            <a:r>
              <a:rPr lang="zh-CN" altLang="en-US" sz="2000" dirty="0">
                <a:latin typeface="Consolas" panose="020B0609020204030204" pitchFamily="49" charset="0"/>
              </a:rPr>
              <a:t>语句的列表。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7377DA-F26E-6F64-0826-850782E01958}"/>
              </a:ext>
            </a:extLst>
          </p:cNvPr>
          <p:cNvSpPr/>
          <p:nvPr/>
        </p:nvSpPr>
        <p:spPr>
          <a:xfrm>
            <a:off x="4835886" y="5038404"/>
            <a:ext cx="853031" cy="11539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C40258-0600-AC07-772F-C827A6D60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67" y="2380501"/>
            <a:ext cx="2933109" cy="39559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F45F6F-08EF-9489-2468-F13852AE9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831" y="2414288"/>
            <a:ext cx="3423054" cy="377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0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25931-D30C-04AC-81FB-44B2FBD8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0A14C-6146-9948-872A-7F761F959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硬件控制语言</a:t>
            </a:r>
            <a:r>
              <a:rPr lang="en-US" altLang="zh-CN" dirty="0">
                <a:latin typeface="Consolas" panose="020B0609020204030204" pitchFamily="49" charset="0"/>
                <a:ea typeface="黑体" panose="02010609060101010101" pitchFamily="49" charset="-122"/>
              </a:rPr>
              <a:t>HCL</a:t>
            </a:r>
            <a:endParaRPr lang="zh-CN" altLang="en-US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735CF6-FA78-7FB4-FD50-EFCE32D16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用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bool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表示单个位的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或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int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表示任意位数的字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位相等 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bool out = (s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&amp;&amp;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a)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||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(!s &amp;&amp; b)</a:t>
            </a: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字相等 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bool Eq = (A == B)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，其中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A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和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B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都是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int</a:t>
            </a: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情况表达式：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[ select1 : expr1, select2 : expr2, …… ,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selectn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 : 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exprn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 ]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不要求表达式之间互斥，第一个求值为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的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select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表达式将被选中对应的情况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expr</a:t>
            </a: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例：求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A,B,C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中的最小值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int Min = [ A &lt;= B &amp;&amp; A &lt;= C : A; 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            B &lt;= A &amp;&amp; B &lt;= C : B; 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            1                : C;]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常将最后一种情况置为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，表示默认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846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CE72-FC75-F40D-12C8-DDDADF650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0F8E6-D2D0-79AF-7A48-14893CAC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硬件控制语言</a:t>
            </a:r>
            <a:r>
              <a:rPr lang="en-US" altLang="zh-CN" dirty="0">
                <a:latin typeface="Consolas" panose="020B0609020204030204" pitchFamily="49" charset="0"/>
                <a:ea typeface="黑体" panose="02010609060101010101" pitchFamily="49" charset="-122"/>
              </a:rPr>
              <a:t>HCL</a:t>
            </a:r>
            <a:endParaRPr lang="zh-CN" altLang="en-US" dirty="0"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562444-EC0C-3589-FE62-0182FAAC5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集合关系，表示是否属于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如从两位信号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code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中选取高低位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bool s1 = code == 2 || code == 3;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bool s2 = code == 1 || code == 0;</a:t>
            </a: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用简洁的属于方式表示：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bool s1 = code in {2, 3};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bool s2 = code in {1, 0};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类似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python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中的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in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关键字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形式为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iexpr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 in {iexpr1, iexpr2, ……,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iexprn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}</a:t>
            </a:r>
            <a:b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</a:b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其中的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iexpr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均为整数表达式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86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D231-BD41-8870-0A15-BE4F33C0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3A5AD-0499-51EE-1C93-593C6C63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  <a:ea typeface="黑体" panose="02010609060101010101" pitchFamily="49" charset="-122"/>
              </a:rPr>
              <a:t>ALU</a:t>
            </a:r>
            <a:r>
              <a:rPr lang="zh-CN" altLang="en-US" dirty="0">
                <a:latin typeface="Consolas" panose="020B0609020204030204" pitchFamily="49" charset="0"/>
                <a:ea typeface="黑体" panose="02010609060101010101" pitchFamily="49" charset="-122"/>
              </a:rPr>
              <a:t>组成结构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B5611-CEAA-0F80-A82E-B06C9E912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0694" cy="4351338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ALU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有多种功能，需要根据控制位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ifun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选择需要的计算结果，因此需要包含一个多路复用器。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与门电路进行逐位运算，并合并成输出的字待选择。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AAA5E3-C75C-9C53-8665-C2C91DD6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819" y="1631168"/>
            <a:ext cx="5848161" cy="17978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4AC4700-300E-0EBE-06B9-735BCAEBE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51738"/>
            <a:ext cx="2287023" cy="172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999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F0A1-E858-1870-6C5F-4F892B81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1C6E6-EAA6-C14E-694C-CFC69EF1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onsolas" panose="020B0609020204030204" pitchFamily="49" charset="0"/>
                <a:ea typeface="黑体" panose="02010609060101010101" pitchFamily="49" charset="-122"/>
              </a:rPr>
              <a:t>ALU</a:t>
            </a:r>
            <a:r>
              <a:rPr lang="zh-CN" altLang="en-US" dirty="0">
                <a:latin typeface="Consolas" panose="020B0609020204030204" pitchFamily="49" charset="0"/>
                <a:ea typeface="黑体" panose="02010609060101010101" pitchFamily="49" charset="-122"/>
              </a:rPr>
              <a:t>组成结构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AB1F7F-DCDE-0911-F0EF-43EB35D28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0694" cy="435133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在时钟的上跳沿执行状态更新和对应运算。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第一次上跳，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load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为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MUX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丢弃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ALU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运算结果并读入新数据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x0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第二次上跳，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load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为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，上次的输出为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x0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，返回求和值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x0+x1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第三次上跳，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load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为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，上次的输出为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x0+x1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，返回求和值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x0+x1+x2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第四次上跳，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load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为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，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MUX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丢弃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ALU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运算结果并读入新数据</a:t>
            </a:r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x3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……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以此类推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A80A2C-0EF1-EE35-370B-9323C4822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70616"/>
            <a:ext cx="5678454" cy="451676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123D000-06B7-CDA4-2484-87FDCCB999ED}"/>
              </a:ext>
            </a:extLst>
          </p:cNvPr>
          <p:cNvSpPr txBox="1"/>
          <p:nvPr/>
        </p:nvSpPr>
        <p:spPr>
          <a:xfrm>
            <a:off x="6916300" y="5546235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1        2       3        4       5        6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24699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1242E-6712-3983-3162-2C511EE0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A5576-9371-2D00-9316-612D3266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  <a:ea typeface="黑体" panose="02010609060101010101" pitchFamily="49" charset="-122"/>
              </a:rPr>
              <a:t>寄存器堆读写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799C4-0ADA-E55F-94F8-C3C2B7D18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0694" cy="435133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读寄存器文件，与组合逻辑表现相同，输入读取的地址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srcA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或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srcB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时，短暂延迟后即输出结果。两个输入端口可以同时被访问。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写寄存器文件，输入值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valW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和地址</a:t>
            </a:r>
            <a:r>
              <a:rPr lang="en-US" altLang="zh-CN" sz="2000" dirty="0" err="1">
                <a:latin typeface="Consolas" panose="020B0609020204030204" pitchFamily="49" charset="0"/>
                <a:cs typeface="Calibri" panose="020F0502020204030204" pitchFamily="34" charset="0"/>
              </a:rPr>
              <a:t>dstW</a:t>
            </a:r>
            <a:r>
              <a:rPr lang="zh-CN" altLang="en-US" sz="2000" dirty="0">
                <a:latin typeface="Consolas" panose="020B0609020204030204" pitchFamily="49" charset="0"/>
                <a:cs typeface="Calibri" panose="020F0502020204030204" pitchFamily="34" charset="0"/>
              </a:rPr>
              <a:t>后，在时钟上跳沿更新寄存器的值，为时序逻辑。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  <a:cs typeface="Calibri" panose="020F0502020204030204" pitchFamily="34" charset="0"/>
              </a:rPr>
              <a:t>*</a:t>
            </a:r>
            <a:r>
              <a:rPr lang="zh-CN" altLang="en-US" sz="2000" dirty="0"/>
              <a:t>同周期读写同一地址：可能有读优先或写优先的处理方式，在一个时钟周期的不同时段完成。</a:t>
            </a:r>
            <a:endParaRPr lang="en-US" altLang="zh-CN" sz="20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28DD07-FCAC-BCB4-7027-C3F16F693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012" y="1825625"/>
            <a:ext cx="513058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90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655</Words>
  <Application>Microsoft Office PowerPoint</Application>
  <PresentationFormat>宽屏</PresentationFormat>
  <Paragraphs>142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黑体</vt:lpstr>
      <vt:lpstr>Arial</vt:lpstr>
      <vt:lpstr>Calibri</vt:lpstr>
      <vt:lpstr>Consolas</vt:lpstr>
      <vt:lpstr>Office 主题​​</vt:lpstr>
      <vt:lpstr>逻辑设计</vt:lpstr>
      <vt:lpstr>时序图</vt:lpstr>
      <vt:lpstr>比较</vt:lpstr>
      <vt:lpstr>比较</vt:lpstr>
      <vt:lpstr>多路复用器</vt:lpstr>
      <vt:lpstr>多路复用器</vt:lpstr>
      <vt:lpstr>硬件控制语言HCL</vt:lpstr>
      <vt:lpstr>硬件控制语言HCL</vt:lpstr>
      <vt:lpstr>ALU组成结构</vt:lpstr>
      <vt:lpstr>ALU组成结构</vt:lpstr>
      <vt:lpstr>寄存器堆读写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zhiyu060309@163.com</dc:creator>
  <cp:lastModifiedBy>昊 连</cp:lastModifiedBy>
  <cp:revision>129</cp:revision>
  <dcterms:created xsi:type="dcterms:W3CDTF">2025-10-21T06:28:56Z</dcterms:created>
  <dcterms:modified xsi:type="dcterms:W3CDTF">2025-10-22T10:57:44Z</dcterms:modified>
</cp:coreProperties>
</file>