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7" r:id="rId2"/>
    <p:sldId id="1964" r:id="rId3"/>
    <p:sldId id="1969" r:id="rId4"/>
    <p:sldId id="1971" r:id="rId5"/>
    <p:sldId id="1975" r:id="rId6"/>
    <p:sldId id="1976" r:id="rId7"/>
    <p:sldId id="1977" r:id="rId8"/>
    <p:sldId id="1978" r:id="rId9"/>
    <p:sldId id="1979" r:id="rId10"/>
    <p:sldId id="1980" r:id="rId11"/>
    <p:sldId id="1981" r:id="rId12"/>
    <p:sldId id="1982" r:id="rId13"/>
    <p:sldId id="1983" r:id="rId14"/>
    <p:sldId id="1984" r:id="rId15"/>
    <p:sldId id="1985" r:id="rId16"/>
    <p:sldId id="1972" r:id="rId17"/>
    <p:sldId id="1986" r:id="rId18"/>
    <p:sldId id="1987" r:id="rId19"/>
    <p:sldId id="1988" r:id="rId20"/>
    <p:sldId id="1989" r:id="rId21"/>
    <p:sldId id="1990" r:id="rId22"/>
    <p:sldId id="1991" r:id="rId23"/>
    <p:sldId id="1992" r:id="rId24"/>
    <p:sldId id="1993" r:id="rId25"/>
    <p:sldId id="1965" r:id="rId26"/>
    <p:sldId id="1966" r:id="rId27"/>
    <p:sldId id="1967" r:id="rId28"/>
    <p:sldId id="1968" r:id="rId29"/>
    <p:sldId id="1994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72" autoAdjust="0"/>
    <p:restoredTop sz="94660"/>
  </p:normalViewPr>
  <p:slideViewPr>
    <p:cSldViewPr snapToGrid="0">
      <p:cViewPr>
        <p:scale>
          <a:sx n="66" d="100"/>
          <a:sy n="66" d="100"/>
        </p:scale>
        <p:origin x="1784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239273-1243-49A2-AB17-8EB01426E031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13E00-6006-44F6-98CA-77C56E5D34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680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766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13E00-6006-44F6-98CA-77C56E5D347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2277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44E2C-C5A9-5E2A-3B6A-F2912BA04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EA7EB6-B5B0-AEC3-EC2E-7962507A6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AC0891-6F72-A4B8-DB35-08088E9E2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05F244-ED70-B61F-4E22-3DF8E675E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13E00-6006-44F6-98CA-77C56E5D347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710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A02BD-BF64-B78C-58AD-73083D61B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9660B4-025D-759A-7E3D-9EEBD9DC31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0DF0E5-0360-4148-C87A-085B2518C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3F6F96-C3FC-21DC-ABEB-C87E2F3963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119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A3567A-ABBD-E2FB-3D23-34E4E8CBAA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8F2DF11-6979-7922-6B09-3E588C2DEB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99DF11-AC2B-B3B7-05C9-E74C60F27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29F3-614D-40BE-BC95-83EFF8CD1BAA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3E025B-E9A6-5289-9F48-3D6027F73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DF02F0-2991-EE9F-365F-0F09A1BB5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E1A0C-6489-4682-876F-1AD1F3A34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000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A1E0BE-7D9F-DC59-DB46-98095DE2F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A00355-6E93-C112-928C-2488FFD61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440FC1-9145-301A-849A-C84F674C1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29F3-614D-40BE-BC95-83EFF8CD1BAA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8E56B4-3EA1-291E-271F-7A6390A61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DCB81F-3726-333A-2983-6F2729746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E1A0C-6489-4682-876F-1AD1F3A34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84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E2DECA-4D04-BB73-F53D-396BB0E76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0331F2-AF2E-E538-AB3C-2F4A73235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A191CE-E5A0-49D0-D835-F68D64953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29F3-614D-40BE-BC95-83EFF8CD1BAA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836514-E823-7C55-2A5E-A85915D85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73E996-C765-7E4B-EAB1-35FA0B4EA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E1A0C-6489-4682-876F-1AD1F3A34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576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E084BA-C632-4C1C-1325-57D83160C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4CA073-0DBC-4A54-4D6C-347F0E347D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3B0B5C-AE00-FE5F-4BA9-001352C50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E4726A-F9E6-C62F-3E4D-8C84ACE91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29F3-614D-40BE-BC95-83EFF8CD1BAA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B5B5F1-81E8-3F8B-695E-E25189198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E9EF59-02D9-23C6-63C3-69A032412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E1A0C-6489-4682-876F-1AD1F3A34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342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2DDD4-70C9-ACC6-0731-75110ABC9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4277F9-1EA9-6412-52F1-8FC62F368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14F7DC-96C1-8FEF-DA61-63783DB7C1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77D4658-83F2-396E-2E09-5454BACEFF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A314542-32A0-79D2-9ED2-305B77435D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6875E25-92BA-6720-6CE7-D848FDE3E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29F3-614D-40BE-BC95-83EFF8CD1BAA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03BD63A-C9EB-EC3E-404E-6574D821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5C93DDC-D47F-0D01-E64D-96D50A4D7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E1A0C-6489-4682-876F-1AD1F3A34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285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71C45C-2EF4-67E5-CCCB-CDF4D6338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5A01CE7-99C5-02F1-0E8D-B9E7A06A8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29F3-614D-40BE-BC95-83EFF8CD1BAA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506837-C8FE-40AE-EB05-33E8B2A52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29C6AB0-E9F2-AA15-5D3B-971A4EC2D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E1A0C-6489-4682-876F-1AD1F3A34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942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E2710F3-DCA6-9DBC-4A1F-544A4B1EC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29F3-614D-40BE-BC95-83EFF8CD1BAA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5D02D06-CB69-3BED-B046-C919BCB01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AEDE6A-91F1-C8C6-C5A7-836BEC785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E1A0C-6489-4682-876F-1AD1F3A34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394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147F84-70CB-0496-6D4C-ACB2A0C59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3C1DFB-6503-B85A-97A1-A03CC071A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49824D-F670-ECEE-D36A-4A11A31EA9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E7ED64-29EC-D22C-F985-8046F905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29F3-614D-40BE-BC95-83EFF8CD1BAA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F58863-5670-DB27-888C-7CB2BACDA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949F4E-C3A2-72BF-624B-2318C26BE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E1A0C-6489-4682-876F-1AD1F3A34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804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CE6846-840D-D6D6-894A-73F26B393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39C61AB-EE02-D40F-0685-79DB22A11A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370D81-B1D9-C523-5994-A0369B66C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A84545-D584-C6CA-C534-5F7FEED3B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29F3-614D-40BE-BC95-83EFF8CD1BAA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ED4864-C87F-3066-0DC1-C3FBF3DE2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DD324E-8593-EEF0-DB38-9C7B8D67D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E1A0C-6489-4682-876F-1AD1F3A34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363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CF076F-924A-30B8-E6E7-EB2F975C2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7735F6-FDD8-E936-AFF3-F033C9A9B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F8049D-4EBB-CF49-0375-7822C93F0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29F3-614D-40BE-BC95-83EFF8CD1BAA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0F7DA3-D28E-3E0A-846A-9439A044B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9A4922-8377-2157-E7F5-DE228A069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E1A0C-6489-4682-876F-1AD1F3A34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501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5FAD0AE-10CA-F2A2-1A64-ED34B3C51E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E08F9D-9FEB-A2BF-4B4E-E4D66472B0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71C856-BB02-BA90-9752-AD78E481C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29F3-614D-40BE-BC95-83EFF8CD1BAA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18667F-1485-5AD9-1E42-3CF509317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738CB1-AFCC-F18D-A5DB-9209CF4B0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E1A0C-6489-4682-876F-1AD1F3A34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541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9EB84F1-7F31-6B35-C936-C0FBDD4D7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2841FE-4B5E-D93D-792E-CB094FE97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0BD569-ECB4-2EF6-EF94-6CFEE9785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529F3-614D-40BE-BC95-83EFF8CD1BAA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E82856-FAA1-842D-9924-7876723D6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0A23D4-4094-1B6E-1825-4C7DCA2CA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E1A0C-6489-4682-876F-1AD1F3A34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113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xactcorp.com/blog/news/AMD-EPYC-9005-announcement?utm_source=chatgpt.com" TargetMode="External"/><Relationship Id="rId2" Type="http://schemas.openxmlformats.org/officeDocument/2006/relationships/hyperlink" Target="https://en.wikichip.org/wiki/amd/epyc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tel.com/content/www/us/en/ark/products/series/595/intel-xeon-processors.html?utm_source=chatgpt.com" TargetMode="External"/><Relationship Id="rId5" Type="http://schemas.openxmlformats.org/officeDocument/2006/relationships/hyperlink" Target="https://kingservers24x7.com/blog/en/intel-vs-amd-server-cpu-comparison-2025/?utm_source=chatgpt.com" TargetMode="External"/><Relationship Id="rId4" Type="http://schemas.openxmlformats.org/officeDocument/2006/relationships/hyperlink" Target="https://de.wikipedia.org/wiki/AMD_Epyc?utm_source=chatgpt.com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tebookcheck.net/Apple-M3-Processor-Benchmarks-and-Specs.764609.0.html?utm_source=chatgpt.com" TargetMode="External"/><Relationship Id="rId2" Type="http://schemas.openxmlformats.org/officeDocument/2006/relationships/hyperlink" Target="https://lowendmac.com/1234/apple-silicon-m3-chip-specs/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pple.com/newsroom/2023/10/apple-unveils-m3-m3-pro-and-m3-max-the-most-advanced-chips-for-a-personal-computer/?utm_source=chatgpt.com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ple.com/newsroom/2023/10/apple-unveils-m3-m3-pro-and-m3-max-the-most-advanced-chips-for-a-personal-computer/?utm_source=chatgpt.com" TargetMode="External"/><Relationship Id="rId2" Type="http://schemas.openxmlformats.org/officeDocument/2006/relationships/hyperlink" Target="https://lowendmac.com/1234/apple-silicon-m3-chip-specs/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otebookcheck.net/Apple-M3-Processor-Benchmarks-and-Specs.764609.0.html?utm_source=chatgpt.com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omshardware.com/phones/snapdragon-8-elite-gen-5-shows-up-in-geekbench-with-a-score-of-3-831-upcoming-chip-catches-to-apples-just-launched-a19-pro-beats-desktop-chips-on-single-core-perf?utm_source=chatgpt.com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5">
            <a:extLst>
              <a:ext uri="{FF2B5EF4-FFF2-40B4-BE49-F238E27FC236}">
                <a16:creationId xmlns:a16="http://schemas.microsoft.com/office/drawing/2014/main" id="{EAEC00F2-B302-FD89-9404-7CEE18E2FA27}"/>
              </a:ext>
            </a:extLst>
          </p:cNvPr>
          <p:cNvSpPr txBox="1">
            <a:spLocks/>
          </p:cNvSpPr>
          <p:nvPr/>
        </p:nvSpPr>
        <p:spPr>
          <a:xfrm>
            <a:off x="0" y="1815243"/>
            <a:ext cx="12192000" cy="2134457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108000" numCol="1" rtlCol="0" anchor="ctr" anchorCtr="1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5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Machine-Level Programming I: Basics</a:t>
            </a:r>
          </a:p>
          <a:p>
            <a:pPr algn="ctr">
              <a:lnSpc>
                <a:spcPct val="150000"/>
              </a:lnSpc>
            </a:pPr>
            <a:r>
              <a:rPr lang="en-US" altLang="zh-CN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Discussion 1-1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2151A140-2537-5B09-85BB-03FB4283C25C}"/>
              </a:ext>
            </a:extLst>
          </p:cNvPr>
          <p:cNvSpPr txBox="1">
            <a:spLocks/>
          </p:cNvSpPr>
          <p:nvPr/>
        </p:nvSpPr>
        <p:spPr bwMode="auto">
          <a:xfrm>
            <a:off x="4636527" y="4496524"/>
            <a:ext cx="2918945" cy="111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曹思远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2025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年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</a:t>
            </a:r>
            <a:r>
              <a:rPr lang="en-US" altLang="zh-CN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zh-CN" alt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月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0372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318F1-B837-1194-FE7D-3619C42EE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D73B8F95-E3B1-1809-D722-FC3B5AFD2523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F3F01A1A-3DB7-87CE-5129-800E8059ACD0}"/>
              </a:ext>
            </a:extLst>
          </p:cNvPr>
          <p:cNvSpPr txBox="1">
            <a:spLocks/>
          </p:cNvSpPr>
          <p:nvPr/>
        </p:nvSpPr>
        <p:spPr bwMode="auto">
          <a:xfrm>
            <a:off x="325498" y="137735"/>
            <a:ext cx="6210056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研讨题（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9D8ACB-203F-F1C9-007E-9AE1BE7E0E1B}"/>
              </a:ext>
            </a:extLst>
          </p:cNvPr>
          <p:cNvSpPr txBox="1"/>
          <p:nvPr/>
        </p:nvSpPr>
        <p:spPr>
          <a:xfrm>
            <a:off x="325498" y="1203541"/>
            <a:ext cx="11529072" cy="4550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拓展研讨</a:t>
            </a:r>
            <a:r>
              <a:rPr lang="zh-CN" altLang="en-US" sz="2800" dirty="0"/>
              <a:t>：基于课件第</a:t>
            </a:r>
            <a:r>
              <a:rPr lang="en-US" altLang="zh-CN" sz="2800" dirty="0"/>
              <a:t>6</a:t>
            </a:r>
            <a:r>
              <a:rPr lang="zh-CN" altLang="en-US" sz="2800" dirty="0"/>
              <a:t>、</a:t>
            </a:r>
            <a:r>
              <a:rPr lang="en-US" altLang="zh-CN" sz="2800" dirty="0"/>
              <a:t>7</a:t>
            </a:r>
            <a:r>
              <a:rPr lang="zh-CN" altLang="en-US" sz="2800" dirty="0"/>
              <a:t>页的内容，调研当前市场主流的服务器、桌面个人计算机、笔记本电脑和智能手机的处理器芯片的体系结构、制造工作（</a:t>
            </a:r>
            <a:r>
              <a:rPr lang="en-US" altLang="zh-CN" sz="2800" dirty="0"/>
              <a:t>nm</a:t>
            </a:r>
            <a:r>
              <a:rPr lang="zh-CN" altLang="en-US" sz="2800" dirty="0"/>
              <a:t>）、主频（</a:t>
            </a:r>
            <a:r>
              <a:rPr lang="en-US" altLang="zh-CN" sz="2800" dirty="0"/>
              <a:t>GHz</a:t>
            </a:r>
            <a:r>
              <a:rPr lang="zh-CN" altLang="en-US" sz="2800" dirty="0"/>
              <a:t>）、 功耗（</a:t>
            </a:r>
            <a:r>
              <a:rPr lang="en-US" altLang="zh-CN" sz="2800" dirty="0"/>
              <a:t>W</a:t>
            </a:r>
            <a:r>
              <a:rPr lang="zh-CN" altLang="en-US" sz="2800" dirty="0"/>
              <a:t>）以及包含的核数。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        我感觉这个拓展研讨有点太高深了，有很多比较前沿的术语等，如果不花时间仔细研究，很难了解各种</a:t>
            </a:r>
            <a:r>
              <a:rPr lang="en-US" altLang="zh-CN" sz="2800" dirty="0"/>
              <a:t>CPU</a:t>
            </a:r>
            <a:r>
              <a:rPr lang="zh-CN" altLang="en-US" sz="2800" dirty="0"/>
              <a:t>的区别。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en-US" altLang="zh-CN" sz="2800" dirty="0"/>
              <a:t>        PPT</a:t>
            </a:r>
            <a:r>
              <a:rPr lang="zh-CN" altLang="en-US" sz="2800" dirty="0"/>
              <a:t>最后整理了一些算是答案吧，感兴趣的同学可以参考。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062533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B941D-83A7-A477-57E5-E8783E5D5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FB5C9AC-C71B-2BD6-4D3A-BE84B5E36C8E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DEE585BF-4335-3D1F-0832-3CE0555420C3}"/>
              </a:ext>
            </a:extLst>
          </p:cNvPr>
          <p:cNvSpPr txBox="1">
            <a:spLocks/>
          </p:cNvSpPr>
          <p:nvPr/>
        </p:nvSpPr>
        <p:spPr bwMode="auto">
          <a:xfrm>
            <a:off x="325498" y="137735"/>
            <a:ext cx="6210056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研讨题（</a:t>
            </a:r>
            <a:r>
              <a:rPr lang="en-US" altLang="zh-CN" sz="3600" b="1" dirty="0">
                <a:solidFill>
                  <a:sysClr val="windowText" lastClr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B81A6B4-88FB-BEBD-406C-2C25D3217815}"/>
              </a:ext>
            </a:extLst>
          </p:cNvPr>
          <p:cNvSpPr txBox="1"/>
          <p:nvPr/>
        </p:nvSpPr>
        <p:spPr>
          <a:xfrm>
            <a:off x="325498" y="1203541"/>
            <a:ext cx="11529072" cy="1965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        以课件第</a:t>
            </a:r>
            <a:r>
              <a:rPr lang="en-US" altLang="zh-CN" sz="2800" dirty="0"/>
              <a:t>13</a:t>
            </a:r>
            <a:r>
              <a:rPr lang="zh-CN" altLang="en-US" sz="2800" dirty="0"/>
              <a:t>页的图为主要依据，讲述</a:t>
            </a:r>
            <a:r>
              <a:rPr lang="en-US" altLang="zh-CN" sz="2800" dirty="0"/>
              <a:t>CPU</a:t>
            </a:r>
            <a:r>
              <a:rPr lang="zh-CN" altLang="en-US" sz="2800" dirty="0"/>
              <a:t>执行如下指令时的操作流程：</a:t>
            </a:r>
            <a:r>
              <a:rPr lang="en-US" altLang="zh-CN" sz="2800" dirty="0" err="1"/>
              <a:t>addq</a:t>
            </a:r>
            <a:r>
              <a:rPr lang="en-US" altLang="zh-CN" sz="2800" dirty="0"/>
              <a:t> %</a:t>
            </a:r>
            <a:r>
              <a:rPr lang="en-US" altLang="zh-CN" sz="2800" dirty="0" err="1"/>
              <a:t>rdx</a:t>
            </a:r>
            <a:r>
              <a:rPr lang="en-US" altLang="zh-CN" sz="2800" dirty="0"/>
              <a:t>, (%</a:t>
            </a:r>
            <a:r>
              <a:rPr lang="en-US" altLang="zh-CN" sz="2800" dirty="0" err="1"/>
              <a:t>rcx</a:t>
            </a:r>
            <a:r>
              <a:rPr lang="en-US" altLang="zh-CN" sz="2800" dirty="0"/>
              <a:t>)</a:t>
            </a:r>
            <a:r>
              <a:rPr lang="zh-CN" altLang="en-US" sz="2800" dirty="0"/>
              <a:t>。要把图中涉及的每个小框和连线的作用都讲到。注意还要结合第</a:t>
            </a:r>
            <a:r>
              <a:rPr lang="en-US" altLang="zh-CN" sz="2800" dirty="0"/>
              <a:t>2</a:t>
            </a:r>
            <a:r>
              <a:rPr lang="zh-CN" altLang="en-US" sz="2800" dirty="0"/>
              <a:t>讲的内容，分析两个整型数相加产生的进位会如何处理。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937537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91807-DB96-667B-4A2D-C99613AF4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604E847-8456-D974-C6B5-32D184F48E3B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57D76DAC-F05A-6B7A-0F1D-35089E5035F5}"/>
              </a:ext>
            </a:extLst>
          </p:cNvPr>
          <p:cNvSpPr txBox="1">
            <a:spLocks/>
          </p:cNvSpPr>
          <p:nvPr/>
        </p:nvSpPr>
        <p:spPr bwMode="auto">
          <a:xfrm>
            <a:off x="325498" y="137735"/>
            <a:ext cx="6210056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研讨题（</a:t>
            </a:r>
            <a:r>
              <a:rPr lang="en-US" altLang="zh-CN" sz="3600" b="1" dirty="0">
                <a:solidFill>
                  <a:sysClr val="windowText" lastClr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257B007-E455-B78E-5740-74FD179870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87" t="13426" r="8592" b="50833"/>
          <a:stretch>
            <a:fillRect/>
          </a:stretch>
        </p:blipFill>
        <p:spPr>
          <a:xfrm>
            <a:off x="406400" y="1153840"/>
            <a:ext cx="7505700" cy="24511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0E70750-ABA5-1016-E9DE-1FEE02EF580D}"/>
              </a:ext>
            </a:extLst>
          </p:cNvPr>
          <p:cNvSpPr txBox="1"/>
          <p:nvPr/>
        </p:nvSpPr>
        <p:spPr>
          <a:xfrm>
            <a:off x="768214" y="3899601"/>
            <a:ext cx="1078175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 err="1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addq</a:t>
            </a:r>
            <a:r>
              <a:rPr lang="en-US" altLang="zh-CN" sz="2800" dirty="0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 %</a:t>
            </a:r>
            <a:r>
              <a:rPr lang="en-US" altLang="zh-CN" sz="2800" dirty="0" err="1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rdx</a:t>
            </a:r>
            <a:r>
              <a:rPr lang="en-US" altLang="zh-CN" sz="2800" dirty="0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, (%</a:t>
            </a:r>
            <a:r>
              <a:rPr lang="en-US" altLang="zh-CN" sz="2800" dirty="0" err="1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rcx</a:t>
            </a:r>
            <a:r>
              <a:rPr lang="en-US" altLang="zh-CN" sz="2800" dirty="0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将寄存器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rdx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本身的值，加到以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rcx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的值为内存地址上去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保存了这条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addq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(%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指令在内存中的起始地址。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 dirty="0"/>
              <a:t>取指</a:t>
            </a:r>
            <a:r>
              <a:rPr lang="zh-CN" altLang="en-US" sz="2400" dirty="0"/>
              <a:t>：</a:t>
            </a:r>
          </a:p>
          <a:p>
            <a:r>
              <a:rPr lang="zh-CN" altLang="en-US" sz="2400" dirty="0"/>
              <a:t>控制单元把 </a:t>
            </a:r>
            <a:r>
              <a:rPr lang="en-US" altLang="zh-CN" sz="2400" dirty="0"/>
              <a:t>PC </a:t>
            </a:r>
            <a:r>
              <a:rPr lang="zh-CN" altLang="en-US" sz="2400" dirty="0"/>
              <a:t>的值送到 </a:t>
            </a:r>
            <a:r>
              <a:rPr lang="en-US" altLang="zh-CN" sz="2400" b="1" dirty="0"/>
              <a:t>Addresses</a:t>
            </a:r>
            <a:r>
              <a:rPr lang="en-US" altLang="zh-CN" sz="2400" dirty="0"/>
              <a:t> </a:t>
            </a:r>
            <a:r>
              <a:rPr lang="zh-CN" altLang="en-US" sz="2400" dirty="0"/>
              <a:t>总线，请求从内存的 </a:t>
            </a:r>
            <a:r>
              <a:rPr lang="en-US" altLang="zh-CN" sz="2400" dirty="0"/>
              <a:t>Code </a:t>
            </a:r>
            <a:r>
              <a:rPr lang="zh-CN" altLang="en-US" sz="2400" dirty="0"/>
              <a:t>段读出一条指令。</a:t>
            </a:r>
          </a:p>
          <a:p>
            <a:r>
              <a:rPr lang="zh-CN" altLang="en-US" sz="2400" dirty="0"/>
              <a:t>内存把指令字节经 </a:t>
            </a:r>
            <a:r>
              <a:rPr lang="en-US" altLang="zh-CN" sz="2400" b="1" dirty="0"/>
              <a:t>Instructions</a:t>
            </a:r>
            <a:r>
              <a:rPr lang="en-US" altLang="zh-CN" sz="2400" dirty="0"/>
              <a:t> </a:t>
            </a:r>
            <a:r>
              <a:rPr lang="zh-CN" altLang="en-US" sz="2400" dirty="0"/>
              <a:t>总线送回 </a:t>
            </a:r>
            <a:r>
              <a:rPr lang="en-US" altLang="zh-CN" sz="2400" dirty="0"/>
              <a:t>CPU</a:t>
            </a:r>
            <a:r>
              <a:rPr lang="zh-CN" altLang="en-US" sz="2400" dirty="0"/>
              <a:t>。</a:t>
            </a:r>
          </a:p>
          <a:p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连接符: 曲线 9">
            <a:extLst>
              <a:ext uri="{FF2B5EF4-FFF2-40B4-BE49-F238E27FC236}">
                <a16:creationId xmlns:a16="http://schemas.microsoft.com/office/drawing/2014/main" id="{C151300E-C67B-C059-17AF-B2D432ECA7C3}"/>
              </a:ext>
            </a:extLst>
          </p:cNvPr>
          <p:cNvCxnSpPr>
            <a:endCxn id="6" idx="1"/>
          </p:cNvCxnSpPr>
          <p:nvPr/>
        </p:nvCxnSpPr>
        <p:spPr>
          <a:xfrm rot="5400000">
            <a:off x="-543979" y="3984057"/>
            <a:ext cx="2874343" cy="249955"/>
          </a:xfrm>
          <a:prstGeom prst="curvedConnector4">
            <a:avLst>
              <a:gd name="adj1" fmla="val 21357"/>
              <a:gd name="adj2" fmla="val 191456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700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99252-0227-8ED4-239D-46F9E1ECB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F6B34E9-9DE9-CD3D-57CD-39B5BD002094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8F052F0F-71CA-8E7A-1F4A-F26744FACC30}"/>
              </a:ext>
            </a:extLst>
          </p:cNvPr>
          <p:cNvSpPr txBox="1">
            <a:spLocks/>
          </p:cNvSpPr>
          <p:nvPr/>
        </p:nvSpPr>
        <p:spPr bwMode="auto">
          <a:xfrm>
            <a:off x="325498" y="137735"/>
            <a:ext cx="6210056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研讨题（</a:t>
            </a:r>
            <a:r>
              <a:rPr lang="en-US" altLang="zh-CN" sz="3600" b="1" dirty="0">
                <a:solidFill>
                  <a:sysClr val="windowText" lastClr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C29D151-1137-E090-710E-B9C58FD1BB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87" t="13426" r="8592" b="50833"/>
          <a:stretch>
            <a:fillRect/>
          </a:stretch>
        </p:blipFill>
        <p:spPr>
          <a:xfrm>
            <a:off x="406400" y="1153840"/>
            <a:ext cx="7505700" cy="24511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AC15517-7EBE-F0FF-8750-CD10D610010D}"/>
              </a:ext>
            </a:extLst>
          </p:cNvPr>
          <p:cNvSpPr txBox="1"/>
          <p:nvPr/>
        </p:nvSpPr>
        <p:spPr>
          <a:xfrm>
            <a:off x="768214" y="3899601"/>
            <a:ext cx="10781759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Registers: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RDX</a:t>
            </a:r>
            <a:r>
              <a:rPr lang="zh-CN" altLang="en-US" sz="2400" dirty="0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：保存源操作数。</a:t>
            </a:r>
            <a:r>
              <a:rPr lang="en-US" altLang="zh-CN" sz="2400" dirty="0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RCX</a:t>
            </a:r>
            <a:r>
              <a:rPr lang="zh-CN" altLang="en-US" sz="2400" dirty="0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：保存目标内存单元的起始地址。其他通用寄存器此处不直接参与，但都在这个集合框中。</a:t>
            </a:r>
            <a:endParaRPr lang="en-US" altLang="zh-CN" sz="2400" dirty="0">
              <a:latin typeface="Times New Roman" panose="02020603050405020304" pitchFamily="18" charset="0"/>
              <a:ea typeface="Gadugi" panose="020B0502040204020203" pitchFamily="34" charset="0"/>
              <a:cs typeface="Times New Roman" panose="02020603050405020304" pitchFamily="18" charset="0"/>
            </a:endParaRPr>
          </a:p>
          <a:p>
            <a:r>
              <a:rPr lang="zh-CN" altLang="en-US" sz="2400" dirty="0"/>
              <a:t>解码单元识别出：源是寄存器 </a:t>
            </a:r>
            <a:r>
              <a:rPr lang="en-US" altLang="zh-CN" sz="2400" dirty="0"/>
              <a:t>RDX</a:t>
            </a:r>
            <a:r>
              <a:rPr lang="zh-CN" altLang="en-US" sz="2400" dirty="0"/>
              <a:t>；目的在内存，地址由 </a:t>
            </a:r>
            <a:r>
              <a:rPr lang="en-US" altLang="zh-CN" sz="2400" dirty="0"/>
              <a:t>RCX </a:t>
            </a:r>
            <a:r>
              <a:rPr lang="zh-CN" altLang="en-US" sz="2400" dirty="0"/>
              <a:t>给出。</a:t>
            </a:r>
          </a:p>
          <a:p>
            <a:r>
              <a:rPr lang="en-US" altLang="zh-CN" sz="2400" dirty="0"/>
              <a:t>CPU </a:t>
            </a:r>
            <a:r>
              <a:rPr lang="zh-CN" altLang="en-US" sz="2400" dirty="0"/>
              <a:t>把 </a:t>
            </a:r>
            <a:r>
              <a:rPr lang="en-US" altLang="zh-CN" sz="2400" dirty="0"/>
              <a:t>RCX </a:t>
            </a:r>
            <a:r>
              <a:rPr lang="zh-CN" altLang="en-US" sz="2400" dirty="0"/>
              <a:t>的值通过 </a:t>
            </a:r>
            <a:r>
              <a:rPr lang="en-US" altLang="zh-CN" sz="2400" b="1" dirty="0"/>
              <a:t>Addresses</a:t>
            </a:r>
            <a:r>
              <a:rPr lang="zh-CN" altLang="en-US" sz="2400" dirty="0"/>
              <a:t> 总线送到内存，请求读出 </a:t>
            </a:r>
            <a:r>
              <a:rPr lang="en-US" altLang="zh-CN" sz="2400" dirty="0"/>
              <a:t>8 </a:t>
            </a:r>
            <a:r>
              <a:rPr lang="zh-CN" altLang="en-US" sz="2400" dirty="0"/>
              <a:t>字节数据。</a:t>
            </a:r>
          </a:p>
          <a:p>
            <a:r>
              <a:rPr lang="zh-CN" altLang="en-US" sz="2400" dirty="0"/>
              <a:t>内存经 </a:t>
            </a:r>
            <a:r>
              <a:rPr lang="en-US" altLang="zh-CN" sz="2400" b="1" dirty="0"/>
              <a:t>Data</a:t>
            </a:r>
            <a:r>
              <a:rPr lang="zh-CN" altLang="en-US" sz="2400" dirty="0"/>
              <a:t> 总线返回该 </a:t>
            </a:r>
            <a:r>
              <a:rPr lang="en-US" altLang="zh-CN" sz="2400" dirty="0"/>
              <a:t>8 </a:t>
            </a:r>
            <a:r>
              <a:rPr lang="zh-CN" altLang="en-US" sz="2400" dirty="0"/>
              <a:t>字节数据。</a:t>
            </a:r>
          </a:p>
        </p:txBody>
      </p:sp>
      <p:cxnSp>
        <p:nvCxnSpPr>
          <p:cNvPr id="10" name="连接符: 曲线 9">
            <a:extLst>
              <a:ext uri="{FF2B5EF4-FFF2-40B4-BE49-F238E27FC236}">
                <a16:creationId xmlns:a16="http://schemas.microsoft.com/office/drawing/2014/main" id="{14E2BFA5-5A6D-4260-95F7-A2C199C3682F}"/>
              </a:ext>
            </a:extLst>
          </p:cNvPr>
          <p:cNvCxnSpPr>
            <a:cxnSpLocks/>
            <a:endCxn id="6" idx="1"/>
          </p:cNvCxnSpPr>
          <p:nvPr/>
        </p:nvCxnSpPr>
        <p:spPr>
          <a:xfrm rot="5400000">
            <a:off x="-30913" y="2920027"/>
            <a:ext cx="2963641" cy="1365386"/>
          </a:xfrm>
          <a:prstGeom prst="curvedConnector4">
            <a:avLst>
              <a:gd name="adj1" fmla="val 30009"/>
              <a:gd name="adj2" fmla="val 116743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054F0FD-5970-285D-C1F4-8501DDF7A737}"/>
              </a:ext>
            </a:extLst>
          </p:cNvPr>
          <p:cNvSpPr txBox="1"/>
          <p:nvPr/>
        </p:nvSpPr>
        <p:spPr>
          <a:xfrm>
            <a:off x="7827524" y="1323361"/>
            <a:ext cx="3476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addq</a:t>
            </a:r>
            <a:r>
              <a:rPr lang="en-US" altLang="zh-CN" sz="2400" dirty="0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 %</a:t>
            </a:r>
            <a:r>
              <a:rPr lang="en-US" altLang="zh-CN" sz="2400" dirty="0" err="1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rdx</a:t>
            </a:r>
            <a:r>
              <a:rPr lang="en-US" altLang="zh-CN" sz="2400" dirty="0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, (%</a:t>
            </a:r>
            <a:r>
              <a:rPr lang="en-US" altLang="zh-CN" sz="2400" dirty="0" err="1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rcx</a:t>
            </a:r>
            <a:r>
              <a:rPr lang="en-US" altLang="zh-CN" sz="2400" dirty="0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30943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3AE3D-456A-04FA-44E7-E02811B54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99EBAD8-0A84-ACBE-7041-091E17392684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C02220F1-D7DC-EF95-0405-892D581FFB52}"/>
              </a:ext>
            </a:extLst>
          </p:cNvPr>
          <p:cNvSpPr txBox="1">
            <a:spLocks/>
          </p:cNvSpPr>
          <p:nvPr/>
        </p:nvSpPr>
        <p:spPr bwMode="auto">
          <a:xfrm>
            <a:off x="325498" y="137735"/>
            <a:ext cx="6210056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研讨题（</a:t>
            </a:r>
            <a:r>
              <a:rPr lang="en-US" altLang="zh-CN" sz="3600" b="1" dirty="0">
                <a:solidFill>
                  <a:sysClr val="windowText" lastClr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3FBCC67-208F-4028-5783-E7ACD8C0C7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87" t="13426" r="8592" b="50833"/>
          <a:stretch>
            <a:fillRect/>
          </a:stretch>
        </p:blipFill>
        <p:spPr>
          <a:xfrm>
            <a:off x="406400" y="1153840"/>
            <a:ext cx="7505700" cy="24511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1EFB666-4B01-7E3F-470F-44661EFD2CF2}"/>
              </a:ext>
            </a:extLst>
          </p:cNvPr>
          <p:cNvSpPr txBox="1"/>
          <p:nvPr/>
        </p:nvSpPr>
        <p:spPr>
          <a:xfrm>
            <a:off x="768214" y="3899601"/>
            <a:ext cx="1078175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Condition Codes</a:t>
            </a:r>
            <a:r>
              <a:rPr lang="zh-CN" altLang="en-US" dirty="0"/>
              <a:t>这一部分保存算术逻辑运算后的标志位，如：</a:t>
            </a:r>
          </a:p>
          <a:p>
            <a:r>
              <a:rPr lang="en-US" altLang="zh-CN" dirty="0"/>
              <a:t>CF (Carry Flag)</a:t>
            </a:r>
            <a:r>
              <a:rPr lang="zh-CN" altLang="en-US" dirty="0"/>
              <a:t>：无符号加法（或减法）产生进位（或借位）时置 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OF (Overflow Flag)</a:t>
            </a:r>
            <a:r>
              <a:rPr lang="zh-CN" altLang="en-US" dirty="0"/>
              <a:t>：有符号加法溢出时置 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ZF (Zero Flag)</a:t>
            </a:r>
            <a:r>
              <a:rPr lang="zh-CN" altLang="en-US" dirty="0"/>
              <a:t>：结果为 </a:t>
            </a:r>
            <a:r>
              <a:rPr lang="en-US" altLang="zh-CN" dirty="0"/>
              <a:t>0 </a:t>
            </a:r>
            <a:r>
              <a:rPr lang="zh-CN" altLang="en-US" dirty="0"/>
              <a:t>时置 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SF (Sign Flag)</a:t>
            </a:r>
            <a:r>
              <a:rPr lang="zh-CN" altLang="en-US" dirty="0"/>
              <a:t>：结果为负时置 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</a:p>
          <a:p>
            <a:r>
              <a:rPr lang="en-US" altLang="zh-CN" dirty="0" err="1"/>
              <a:t>addq</a:t>
            </a:r>
            <a:r>
              <a:rPr lang="zh-CN" altLang="en-US" dirty="0"/>
              <a:t>执行完毕后会根据加法结果自动更新这些标志位。</a:t>
            </a:r>
          </a:p>
          <a:p>
            <a:r>
              <a:rPr lang="zh-CN" altLang="en-US" dirty="0"/>
              <a:t>对应整型数加法进位</a:t>
            </a:r>
            <a:r>
              <a:rPr lang="en-US" altLang="zh-CN" dirty="0"/>
              <a:t>/</a:t>
            </a:r>
            <a:r>
              <a:rPr lang="zh-CN" altLang="en-US" dirty="0"/>
              <a:t>溢出处理：</a:t>
            </a:r>
          </a:p>
          <a:p>
            <a:r>
              <a:rPr lang="zh-CN" altLang="en-US" dirty="0"/>
              <a:t>进位（</a:t>
            </a:r>
            <a:r>
              <a:rPr lang="en-US" altLang="zh-CN" dirty="0"/>
              <a:t>Carry</a:t>
            </a:r>
            <a:r>
              <a:rPr lang="zh-CN" altLang="en-US" dirty="0"/>
              <a:t>）对应无符号溢出，例如 </a:t>
            </a:r>
            <a:r>
              <a:rPr lang="en-US" altLang="zh-CN" sz="1200" dirty="0"/>
              <a:t>0xFFFFFFFFFFFFFFFF + 1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溢出（</a:t>
            </a:r>
            <a:r>
              <a:rPr lang="en-US" altLang="zh-CN" dirty="0"/>
              <a:t>Overflow</a:t>
            </a:r>
            <a:r>
              <a:rPr lang="zh-CN" altLang="en-US" dirty="0"/>
              <a:t>）对应有符号数超出表示范围，例如 </a:t>
            </a:r>
            <a:r>
              <a:rPr lang="en-US" altLang="zh-CN" sz="1200" dirty="0"/>
              <a:t>0x7FFFFFFFFFFFFFFF + 1</a:t>
            </a:r>
            <a:r>
              <a:rPr lang="zh-CN" altLang="en-US" dirty="0"/>
              <a:t>。</a:t>
            </a:r>
          </a:p>
        </p:txBody>
      </p:sp>
      <p:cxnSp>
        <p:nvCxnSpPr>
          <p:cNvPr id="10" name="连接符: 曲线 9">
            <a:extLst>
              <a:ext uri="{FF2B5EF4-FFF2-40B4-BE49-F238E27FC236}">
                <a16:creationId xmlns:a16="http://schemas.microsoft.com/office/drawing/2014/main" id="{3D16E56D-73C3-045A-7E6E-296448EF6D22}"/>
              </a:ext>
            </a:extLst>
          </p:cNvPr>
          <p:cNvCxnSpPr>
            <a:cxnSpLocks/>
            <a:endCxn id="6" idx="1"/>
          </p:cNvCxnSpPr>
          <p:nvPr/>
        </p:nvCxnSpPr>
        <p:spPr>
          <a:xfrm rot="5400000">
            <a:off x="305758" y="3351706"/>
            <a:ext cx="2303013" cy="1378100"/>
          </a:xfrm>
          <a:prstGeom prst="curvedConnector4">
            <a:avLst>
              <a:gd name="adj1" fmla="val 21935"/>
              <a:gd name="adj2" fmla="val 116588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87689F9-B9E1-877E-39E4-68F4B5D560D1}"/>
              </a:ext>
            </a:extLst>
          </p:cNvPr>
          <p:cNvSpPr txBox="1"/>
          <p:nvPr/>
        </p:nvSpPr>
        <p:spPr>
          <a:xfrm>
            <a:off x="7827524" y="1323361"/>
            <a:ext cx="3476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addq</a:t>
            </a:r>
            <a:r>
              <a:rPr lang="en-US" altLang="zh-CN" sz="2400" dirty="0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 %</a:t>
            </a:r>
            <a:r>
              <a:rPr lang="en-US" altLang="zh-CN" sz="2400" dirty="0" err="1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rdx</a:t>
            </a:r>
            <a:r>
              <a:rPr lang="en-US" altLang="zh-CN" sz="2400" dirty="0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, (%</a:t>
            </a:r>
            <a:r>
              <a:rPr lang="en-US" altLang="zh-CN" sz="2400" dirty="0" err="1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rcx</a:t>
            </a:r>
            <a:r>
              <a:rPr lang="en-US" altLang="zh-CN" sz="2400" dirty="0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7016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C923D-DE9F-1038-AC09-EE9C33C92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D7C8D028-97EE-65A6-42AC-33B49782D6EB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DBA0FD55-C8C3-D7F8-6EDE-A2A76A78FF20}"/>
              </a:ext>
            </a:extLst>
          </p:cNvPr>
          <p:cNvSpPr txBox="1">
            <a:spLocks/>
          </p:cNvSpPr>
          <p:nvPr/>
        </p:nvSpPr>
        <p:spPr bwMode="auto">
          <a:xfrm>
            <a:off x="325498" y="137735"/>
            <a:ext cx="6210056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研讨题（</a:t>
            </a:r>
            <a:r>
              <a:rPr lang="en-US" altLang="zh-CN" sz="3600" b="1" dirty="0">
                <a:solidFill>
                  <a:sysClr val="windowText" lastClr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785720-042D-74B1-73DB-072FB0789E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87" t="13426" r="8592" b="50833"/>
          <a:stretch>
            <a:fillRect/>
          </a:stretch>
        </p:blipFill>
        <p:spPr>
          <a:xfrm>
            <a:off x="406400" y="1153840"/>
            <a:ext cx="7505700" cy="2451100"/>
          </a:xfrm>
          <a:prstGeom prst="rect">
            <a:avLst/>
          </a:prstGeom>
        </p:spPr>
      </p:pic>
      <p:cxnSp>
        <p:nvCxnSpPr>
          <p:cNvPr id="10" name="连接符: 曲线 9">
            <a:extLst>
              <a:ext uri="{FF2B5EF4-FFF2-40B4-BE49-F238E27FC236}">
                <a16:creationId xmlns:a16="http://schemas.microsoft.com/office/drawing/2014/main" id="{6EC5D2A0-8643-F9EF-3EB0-0A5C318861CD}"/>
              </a:ext>
            </a:extLst>
          </p:cNvPr>
          <p:cNvCxnSpPr>
            <a:cxnSpLocks/>
          </p:cNvCxnSpPr>
          <p:nvPr/>
        </p:nvCxnSpPr>
        <p:spPr>
          <a:xfrm rot="10800000" flipV="1">
            <a:off x="5022832" y="3101618"/>
            <a:ext cx="1409718" cy="1290607"/>
          </a:xfrm>
          <a:prstGeom prst="curvedConnector3">
            <a:avLst>
              <a:gd name="adj1" fmla="val 1352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58B7431-8635-21A1-1C3F-A15D3146B9EB}"/>
              </a:ext>
            </a:extLst>
          </p:cNvPr>
          <p:cNvSpPr txBox="1"/>
          <p:nvPr/>
        </p:nvSpPr>
        <p:spPr>
          <a:xfrm>
            <a:off x="7827524" y="1323361"/>
            <a:ext cx="3476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addq</a:t>
            </a:r>
            <a:r>
              <a:rPr lang="en-US" altLang="zh-CN" sz="2400" dirty="0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 %</a:t>
            </a:r>
            <a:r>
              <a:rPr lang="en-US" altLang="zh-CN" sz="2400" dirty="0" err="1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rdx</a:t>
            </a:r>
            <a:r>
              <a:rPr lang="en-US" altLang="zh-CN" sz="2400" dirty="0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, (%</a:t>
            </a:r>
            <a:r>
              <a:rPr lang="en-US" altLang="zh-CN" sz="2400" dirty="0" err="1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rcx</a:t>
            </a:r>
            <a:r>
              <a:rPr lang="en-US" altLang="zh-CN" sz="2400" dirty="0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BD22090-0E78-B776-7693-D727DCBF943C}"/>
              </a:ext>
            </a:extLst>
          </p:cNvPr>
          <p:cNvSpPr txBox="1"/>
          <p:nvPr/>
        </p:nvSpPr>
        <p:spPr>
          <a:xfrm>
            <a:off x="3251200" y="3857943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高地址</a:t>
            </a:r>
          </a:p>
          <a:p>
            <a:r>
              <a:rPr lang="zh-CN" altLang="en-US" dirty="0"/>
              <a:t>┌─────┐</a:t>
            </a:r>
          </a:p>
          <a:p>
            <a:r>
              <a:rPr lang="zh-CN" altLang="en-US" dirty="0"/>
              <a:t>│     Stack     │   ← 向下生长</a:t>
            </a:r>
          </a:p>
          <a:p>
            <a:r>
              <a:rPr lang="zh-CN" altLang="en-US" dirty="0"/>
              <a:t>├─────┤</a:t>
            </a:r>
          </a:p>
          <a:p>
            <a:r>
              <a:rPr lang="zh-CN" altLang="en-US" dirty="0"/>
              <a:t>│   Heap       │   ← 向上增长</a:t>
            </a:r>
          </a:p>
          <a:p>
            <a:r>
              <a:rPr lang="zh-CN" altLang="en-US" dirty="0"/>
              <a:t>├─────┤</a:t>
            </a:r>
          </a:p>
          <a:p>
            <a:r>
              <a:rPr lang="zh-CN" altLang="en-US" dirty="0"/>
              <a:t>│   BSS/Data │</a:t>
            </a:r>
          </a:p>
          <a:p>
            <a:r>
              <a:rPr lang="zh-CN" altLang="en-US" dirty="0"/>
              <a:t>├─────┤</a:t>
            </a:r>
          </a:p>
          <a:p>
            <a:r>
              <a:rPr lang="zh-CN" altLang="en-US" dirty="0"/>
              <a:t>│ Code/Text │</a:t>
            </a:r>
          </a:p>
          <a:p>
            <a:r>
              <a:rPr lang="zh-CN" altLang="en-US" dirty="0"/>
              <a:t>低地址</a:t>
            </a:r>
          </a:p>
        </p:txBody>
      </p:sp>
    </p:spTree>
    <p:extLst>
      <p:ext uri="{BB962C8B-B14F-4D97-AF65-F5344CB8AC3E}">
        <p14:creationId xmlns:p14="http://schemas.microsoft.com/office/powerpoint/2010/main" val="3836094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04F2C-AE0F-8B3F-F6B4-62FA8F77D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3F8BEF0-7696-6433-896B-79EFAB6DBEEF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245F3A15-D2F4-0EB0-0C6F-3C2D5844D3C2}"/>
              </a:ext>
            </a:extLst>
          </p:cNvPr>
          <p:cNvSpPr txBox="1">
            <a:spLocks/>
          </p:cNvSpPr>
          <p:nvPr/>
        </p:nvSpPr>
        <p:spPr bwMode="auto">
          <a:xfrm>
            <a:off x="325498" y="137735"/>
            <a:ext cx="6210056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研讨题（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6029B1-FB7C-06A7-782E-953E5706CF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86"/>
          <a:stretch>
            <a:fillRect/>
          </a:stretch>
        </p:blipFill>
        <p:spPr>
          <a:xfrm>
            <a:off x="2120900" y="2484305"/>
            <a:ext cx="8572500" cy="397163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F01FEF4-7971-521B-6FC9-33B5DB5C1EF9}"/>
              </a:ext>
            </a:extLst>
          </p:cNvPr>
          <p:cNvSpPr txBox="1"/>
          <p:nvPr/>
        </p:nvSpPr>
        <p:spPr>
          <a:xfrm>
            <a:off x="325498" y="1164969"/>
            <a:ext cx="11529072" cy="1319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        根据课件第</a:t>
            </a:r>
            <a:r>
              <a:rPr lang="en-US" altLang="zh-CN" sz="2800" dirty="0"/>
              <a:t>14</a:t>
            </a:r>
            <a:r>
              <a:rPr lang="zh-CN" altLang="en-US" sz="2800" dirty="0"/>
              <a:t>页的流程图，讲述从</a:t>
            </a:r>
            <a:r>
              <a:rPr lang="en-US" altLang="zh-CN" sz="2800" dirty="0"/>
              <a:t>C</a:t>
            </a:r>
            <a:r>
              <a:rPr lang="zh-CN" altLang="en-US" sz="2800" dirty="0"/>
              <a:t>语言程序到二进制可执行文件的转换过程。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313619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B10FD-DAD5-FECB-0923-35DC0AF5B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D4A1B9E9-4EFD-EBF5-B2C1-6A7E19414F5A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6A978372-B766-3E9A-CB88-0AE9B6B5605B}"/>
              </a:ext>
            </a:extLst>
          </p:cNvPr>
          <p:cNvSpPr txBox="1">
            <a:spLocks/>
          </p:cNvSpPr>
          <p:nvPr/>
        </p:nvSpPr>
        <p:spPr bwMode="auto">
          <a:xfrm>
            <a:off x="325498" y="137735"/>
            <a:ext cx="6210056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研讨题（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460FC5F-693E-B201-5EA6-7AFD1C03D2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86"/>
          <a:stretch>
            <a:fillRect/>
          </a:stretch>
        </p:blipFill>
        <p:spPr>
          <a:xfrm>
            <a:off x="88900" y="1239705"/>
            <a:ext cx="8572500" cy="397163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0A223D7-3EC0-FAFC-19A1-D4BB689FB43D}"/>
              </a:ext>
            </a:extLst>
          </p:cNvPr>
          <p:cNvSpPr txBox="1"/>
          <p:nvPr/>
        </p:nvSpPr>
        <p:spPr>
          <a:xfrm>
            <a:off x="7397696" y="1419743"/>
            <a:ext cx="48184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预处理与编译 </a:t>
            </a:r>
            <a:r>
              <a:rPr lang="en-US" altLang="zh-CN" sz="2400" dirty="0"/>
              <a:t>(Compilation)</a:t>
            </a:r>
          </a:p>
          <a:p>
            <a:r>
              <a:rPr lang="zh-CN" altLang="en-US" dirty="0"/>
              <a:t>高级语言到低级语言</a:t>
            </a:r>
            <a:endParaRPr lang="en-US" altLang="zh-CN" dirty="0"/>
          </a:p>
          <a:p>
            <a:r>
              <a:rPr lang="zh-CN" altLang="en-US" dirty="0"/>
              <a:t>没办法执行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C4168B-F85D-C0A9-AC6E-C2C7017DF2CA}"/>
              </a:ext>
            </a:extLst>
          </p:cNvPr>
          <p:cNvSpPr txBox="1"/>
          <p:nvPr/>
        </p:nvSpPr>
        <p:spPr>
          <a:xfrm>
            <a:off x="7397696" y="2826449"/>
            <a:ext cx="48184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汇编 </a:t>
            </a:r>
            <a:r>
              <a:rPr lang="en-US" altLang="zh-CN" sz="2400" dirty="0"/>
              <a:t>(Assembly)</a:t>
            </a:r>
          </a:p>
          <a:p>
            <a:r>
              <a:rPr lang="zh-CN" altLang="en-US" dirty="0"/>
              <a:t>低级语言到机器码，但互相是独立的，还有一  </a:t>
            </a:r>
            <a:endParaRPr lang="en-US" altLang="zh-CN" dirty="0"/>
          </a:p>
          <a:p>
            <a:r>
              <a:rPr lang="en-US" altLang="zh-CN" dirty="0"/>
              <a:t>                    </a:t>
            </a:r>
            <a:r>
              <a:rPr lang="zh-CN" altLang="en-US" dirty="0"/>
              <a:t>些</a:t>
            </a:r>
            <a:r>
              <a:rPr lang="en-US" altLang="zh-CN" dirty="0"/>
              <a:t>#include…… </a:t>
            </a:r>
            <a:r>
              <a:rPr lang="zh-CN" altLang="en-US" dirty="0"/>
              <a:t>没有放进来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08552C-1568-AA09-637F-073FAAB41708}"/>
              </a:ext>
            </a:extLst>
          </p:cNvPr>
          <p:cNvSpPr txBox="1"/>
          <p:nvPr/>
        </p:nvSpPr>
        <p:spPr>
          <a:xfrm>
            <a:off x="7496782" y="4431137"/>
            <a:ext cx="390403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链接 </a:t>
            </a:r>
            <a:r>
              <a:rPr lang="en-US" altLang="zh-CN" sz="2400" dirty="0"/>
              <a:t>(Linking)</a:t>
            </a:r>
            <a:br>
              <a:rPr lang="en-US" altLang="zh-CN" sz="2400" dirty="0"/>
            </a:br>
            <a:r>
              <a:rPr lang="zh-CN" altLang="en-US" dirty="0"/>
              <a:t>顾名思义，链接</a:t>
            </a:r>
          </a:p>
        </p:txBody>
      </p:sp>
    </p:spTree>
    <p:extLst>
      <p:ext uri="{BB962C8B-B14F-4D97-AF65-F5344CB8AC3E}">
        <p14:creationId xmlns:p14="http://schemas.microsoft.com/office/powerpoint/2010/main" val="2735232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CACB7-F56F-8F03-3917-BC6AC2E18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73F918D-092B-FEBD-0A6C-9F7C493222DD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51550AB3-F910-2CF1-F6FC-3B2618625395}"/>
              </a:ext>
            </a:extLst>
          </p:cNvPr>
          <p:cNvSpPr txBox="1">
            <a:spLocks/>
          </p:cNvSpPr>
          <p:nvPr/>
        </p:nvSpPr>
        <p:spPr bwMode="auto">
          <a:xfrm>
            <a:off x="325498" y="137735"/>
            <a:ext cx="6210056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研讨题（</a:t>
            </a:r>
            <a:r>
              <a:rPr lang="en-US" altLang="zh-CN" sz="3600" b="1" dirty="0">
                <a:solidFill>
                  <a:sysClr val="windowText" lastClr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4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7B6271-664A-D9EB-5139-8866BA93FAD2}"/>
              </a:ext>
            </a:extLst>
          </p:cNvPr>
          <p:cNvSpPr txBox="1"/>
          <p:nvPr/>
        </p:nvSpPr>
        <p:spPr>
          <a:xfrm>
            <a:off x="468361" y="1290961"/>
            <a:ext cx="1098577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        根据课件第</a:t>
            </a:r>
            <a:r>
              <a:rPr lang="en-US" altLang="zh-CN" sz="2800" dirty="0"/>
              <a:t>15</a:t>
            </a:r>
            <a:r>
              <a:rPr lang="zh-CN" altLang="en-US" sz="2800" dirty="0"/>
              <a:t>页的指导，在自己电脑上将</a:t>
            </a:r>
            <a:r>
              <a:rPr lang="en-US" altLang="zh-CN" sz="2800" dirty="0" err="1"/>
              <a:t>sum.c</a:t>
            </a:r>
            <a:r>
              <a:rPr lang="zh-CN" altLang="en-US" sz="2800" dirty="0"/>
              <a:t>转换成汇编代码</a:t>
            </a:r>
            <a:r>
              <a:rPr lang="en-US" altLang="zh-CN" sz="2800" dirty="0" err="1"/>
              <a:t>sum.s</a:t>
            </a:r>
            <a:r>
              <a:rPr lang="zh-CN" altLang="en-US" sz="2800" dirty="0"/>
              <a:t>并展示，再 结合课件第</a:t>
            </a:r>
            <a:r>
              <a:rPr lang="en-US" altLang="zh-CN" sz="2800" dirty="0"/>
              <a:t>16</a:t>
            </a:r>
            <a:r>
              <a:rPr lang="zh-CN" altLang="en-US" sz="2800" dirty="0"/>
              <a:t>、</a:t>
            </a:r>
            <a:r>
              <a:rPr lang="en-US" altLang="zh-CN" sz="2800" dirty="0"/>
              <a:t>17</a:t>
            </a:r>
            <a:r>
              <a:rPr lang="zh-CN" altLang="en-US" sz="2800" dirty="0"/>
              <a:t>页的指导，去除那些目前“不重要”的代码，再和课件第</a:t>
            </a:r>
            <a:r>
              <a:rPr lang="en-US" altLang="zh-CN" sz="2800" dirty="0"/>
              <a:t>15</a:t>
            </a:r>
            <a:r>
              <a:rPr lang="zh-CN" altLang="en-US" sz="2800" dirty="0"/>
              <a:t>页上</a:t>
            </a:r>
            <a:r>
              <a:rPr lang="en-US" altLang="zh-CN" sz="2800" dirty="0" err="1"/>
              <a:t>sumstore</a:t>
            </a:r>
            <a:r>
              <a:rPr lang="en-US" altLang="zh-CN" sz="2800" dirty="0"/>
              <a:t> </a:t>
            </a:r>
            <a:r>
              <a:rPr lang="zh-CN" altLang="en-US" sz="2800" dirty="0"/>
              <a:t>标识的汇编代码做简要对比异同。</a:t>
            </a:r>
          </a:p>
        </p:txBody>
      </p:sp>
    </p:spTree>
    <p:extLst>
      <p:ext uri="{BB962C8B-B14F-4D97-AF65-F5344CB8AC3E}">
        <p14:creationId xmlns:p14="http://schemas.microsoft.com/office/powerpoint/2010/main" val="2302957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A9C5E-8478-55B1-0BD7-5F62C0254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A3B9626-D367-0258-9DF6-D0709ECD449F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A7F941A3-5C04-AF67-F590-37F3E5C30750}"/>
              </a:ext>
            </a:extLst>
          </p:cNvPr>
          <p:cNvSpPr txBox="1">
            <a:spLocks/>
          </p:cNvSpPr>
          <p:nvPr/>
        </p:nvSpPr>
        <p:spPr bwMode="auto">
          <a:xfrm>
            <a:off x="325498" y="137735"/>
            <a:ext cx="6210056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研讨题（</a:t>
            </a:r>
            <a:r>
              <a:rPr lang="en-US" altLang="zh-CN" sz="3600" b="1" dirty="0">
                <a:solidFill>
                  <a:sysClr val="windowText" lastClr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4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5200CA6-8EEC-D34B-958F-82F6DE971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64" y="1246018"/>
            <a:ext cx="3504074" cy="519809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3EC8C73-7960-0977-27F9-B0B224CE32BA}"/>
              </a:ext>
            </a:extLst>
          </p:cNvPr>
          <p:cNvSpPr txBox="1"/>
          <p:nvPr/>
        </p:nvSpPr>
        <p:spPr>
          <a:xfrm>
            <a:off x="4280835" y="1379439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 ← 汇编代码 </a:t>
            </a:r>
            <a:r>
              <a:rPr lang="en-US" altLang="zh-CN" sz="2800" dirty="0" err="1"/>
              <a:t>sum.s</a:t>
            </a:r>
            <a:endParaRPr lang="zh-CN" altLang="en-US" sz="2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7457921-4001-D667-8DFA-5998AF7298EF}"/>
              </a:ext>
            </a:extLst>
          </p:cNvPr>
          <p:cNvSpPr txBox="1"/>
          <p:nvPr/>
        </p:nvSpPr>
        <p:spPr>
          <a:xfrm>
            <a:off x="5395762" y="3187779"/>
            <a:ext cx="675533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pushq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%rbx</a:t>
            </a:r>
          </a:p>
          <a:p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movq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%rdx, %rbx</a:t>
            </a:r>
          </a:p>
          <a:p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call	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plus@PLT</a:t>
            </a:r>
          </a:p>
          <a:p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movq	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%rax, (%rbx)</a:t>
            </a:r>
          </a:p>
          <a:p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popq	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%rbx</a:t>
            </a:r>
          </a:p>
          <a:p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ret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147348-0472-1296-207C-969E42F94265}"/>
              </a:ext>
            </a:extLst>
          </p:cNvPr>
          <p:cNvSpPr txBox="1"/>
          <p:nvPr/>
        </p:nvSpPr>
        <p:spPr>
          <a:xfrm>
            <a:off x="6535554" y="5982449"/>
            <a:ext cx="33904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删除掉“不重要代码”后</a:t>
            </a:r>
          </a:p>
        </p:txBody>
      </p:sp>
    </p:spTree>
    <p:extLst>
      <p:ext uri="{BB962C8B-B14F-4D97-AF65-F5344CB8AC3E}">
        <p14:creationId xmlns:p14="http://schemas.microsoft.com/office/powerpoint/2010/main" val="2809616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7F919-A270-9DF6-5B2E-7BDA37814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F193B40-42D1-B305-0D56-A0605C24189A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1796971F-5448-5A38-2065-007810F5A8A5}"/>
              </a:ext>
            </a:extLst>
          </p:cNvPr>
          <p:cNvSpPr txBox="1">
            <a:spLocks/>
          </p:cNvSpPr>
          <p:nvPr/>
        </p:nvSpPr>
        <p:spPr bwMode="auto">
          <a:xfrm>
            <a:off x="325498" y="137735"/>
            <a:ext cx="6210056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研讨题（</a:t>
            </a:r>
            <a:r>
              <a:rPr lang="en-US" altLang="zh-CN" sz="3600" b="1" dirty="0">
                <a:solidFill>
                  <a:sysClr val="windowText" lastClr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4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D6BA3F3-769F-C101-405A-676AF6619746}"/>
              </a:ext>
            </a:extLst>
          </p:cNvPr>
          <p:cNvSpPr txBox="1"/>
          <p:nvPr/>
        </p:nvSpPr>
        <p:spPr>
          <a:xfrm>
            <a:off x="-100263" y="2388882"/>
            <a:ext cx="675533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pushq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%rbx</a:t>
            </a:r>
          </a:p>
          <a:p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movq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%rdx, %rbx</a:t>
            </a:r>
          </a:p>
          <a:p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call	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plus@PLT</a:t>
            </a:r>
          </a:p>
          <a:p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movq	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%rax, (%rbx)</a:t>
            </a:r>
          </a:p>
          <a:p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popq	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%rbx</a:t>
            </a:r>
          </a:p>
          <a:p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ret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F5D2CD-5B81-7A59-3B52-BDE60D81971A}"/>
              </a:ext>
            </a:extLst>
          </p:cNvPr>
          <p:cNvSpPr txBox="1"/>
          <p:nvPr/>
        </p:nvSpPr>
        <p:spPr>
          <a:xfrm>
            <a:off x="2021305" y="5270180"/>
            <a:ext cx="33904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我的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85AD673-67DB-CED7-3C06-4659DF7BF9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9" r="2923" b="3553"/>
          <a:stretch>
            <a:fillRect/>
          </a:stretch>
        </p:blipFill>
        <p:spPr>
          <a:xfrm>
            <a:off x="6182627" y="2095147"/>
            <a:ext cx="5053263" cy="297139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25747D1-8890-F982-699B-AFC0B2777CF9}"/>
              </a:ext>
            </a:extLst>
          </p:cNvPr>
          <p:cNvSpPr txBox="1"/>
          <p:nvPr/>
        </p:nvSpPr>
        <p:spPr>
          <a:xfrm>
            <a:off x="7969718" y="5270179"/>
            <a:ext cx="33904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PPT</a:t>
            </a:r>
            <a:r>
              <a:rPr lang="zh-CN" altLang="en-US" sz="2400" dirty="0"/>
              <a:t>上的</a:t>
            </a:r>
          </a:p>
        </p:txBody>
      </p:sp>
    </p:spTree>
    <p:extLst>
      <p:ext uri="{BB962C8B-B14F-4D97-AF65-F5344CB8AC3E}">
        <p14:creationId xmlns:p14="http://schemas.microsoft.com/office/powerpoint/2010/main" val="1618434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E5EC6-FACD-1489-D366-E624F477F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8D3D9AA-78CE-8330-2F10-2E2E3DD94C02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F4C1F997-D5B5-0CD2-63D0-3E45692E1C57}"/>
              </a:ext>
            </a:extLst>
          </p:cNvPr>
          <p:cNvSpPr txBox="1">
            <a:spLocks/>
          </p:cNvSpPr>
          <p:nvPr/>
        </p:nvSpPr>
        <p:spPr bwMode="auto">
          <a:xfrm>
            <a:off x="325498" y="137735"/>
            <a:ext cx="6210056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研讨题（</a:t>
            </a:r>
            <a:r>
              <a:rPr lang="en-US" altLang="zh-CN" sz="3600" b="1" dirty="0">
                <a:solidFill>
                  <a:sysClr val="windowText" lastClr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4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9BB7892-F609-A6EB-C448-6C3243C9E6A1}"/>
              </a:ext>
            </a:extLst>
          </p:cNvPr>
          <p:cNvSpPr txBox="1"/>
          <p:nvPr/>
        </p:nvSpPr>
        <p:spPr>
          <a:xfrm>
            <a:off x="-100263" y="2388882"/>
            <a:ext cx="675533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pushq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%rbx</a:t>
            </a:r>
          </a:p>
          <a:p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movq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%rdx, %rbx</a:t>
            </a:r>
          </a:p>
          <a:p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call	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plus@PLT</a:t>
            </a:r>
          </a:p>
          <a:p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movq	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%rax, (%rbx)</a:t>
            </a:r>
          </a:p>
          <a:p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popq	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%rbx</a:t>
            </a:r>
          </a:p>
          <a:p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ret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4C9D0C0-019B-B008-3CE6-19738275E34E}"/>
              </a:ext>
            </a:extLst>
          </p:cNvPr>
          <p:cNvSpPr txBox="1"/>
          <p:nvPr/>
        </p:nvSpPr>
        <p:spPr>
          <a:xfrm>
            <a:off x="2021305" y="5270180"/>
            <a:ext cx="33904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我的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DF16C72-F58F-22A6-4843-47F3EDADA9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9" r="2923" b="3553"/>
          <a:stretch>
            <a:fillRect/>
          </a:stretch>
        </p:blipFill>
        <p:spPr>
          <a:xfrm>
            <a:off x="6182627" y="2095147"/>
            <a:ext cx="5053263" cy="297139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1733999-B205-0D8A-3080-9EBA3D028D36}"/>
              </a:ext>
            </a:extLst>
          </p:cNvPr>
          <p:cNvSpPr txBox="1"/>
          <p:nvPr/>
        </p:nvSpPr>
        <p:spPr>
          <a:xfrm>
            <a:off x="7969718" y="5270179"/>
            <a:ext cx="33904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PPT</a:t>
            </a:r>
            <a:r>
              <a:rPr lang="zh-CN" altLang="en-US" sz="2400" dirty="0"/>
              <a:t>上的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36B9D8-D9C4-E056-44C2-DBF89A62649C}"/>
              </a:ext>
            </a:extLst>
          </p:cNvPr>
          <p:cNvSpPr/>
          <p:nvPr/>
        </p:nvSpPr>
        <p:spPr>
          <a:xfrm>
            <a:off x="712269" y="3320716"/>
            <a:ext cx="3696102" cy="4427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43A5DA-5AB2-DC69-7586-654191DB3ACB}"/>
              </a:ext>
            </a:extLst>
          </p:cNvPr>
          <p:cNvSpPr/>
          <p:nvPr/>
        </p:nvSpPr>
        <p:spPr>
          <a:xfrm>
            <a:off x="6535554" y="3580597"/>
            <a:ext cx="2762450" cy="3684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539EEF8-A652-5B22-BDA4-AB74E578B14C}"/>
              </a:ext>
            </a:extLst>
          </p:cNvPr>
          <p:cNvSpPr txBox="1"/>
          <p:nvPr/>
        </p:nvSpPr>
        <p:spPr>
          <a:xfrm>
            <a:off x="2021304" y="5998372"/>
            <a:ext cx="33904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和动态链接有关</a:t>
            </a:r>
          </a:p>
        </p:txBody>
      </p:sp>
    </p:spTree>
    <p:extLst>
      <p:ext uri="{BB962C8B-B14F-4D97-AF65-F5344CB8AC3E}">
        <p14:creationId xmlns:p14="http://schemas.microsoft.com/office/powerpoint/2010/main" val="3740346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D4807-1AF5-3106-69CB-AFC7490E3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62990CF-FBD6-BF03-D28D-C886371F71C9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A91D6B38-24DA-B414-8215-8DDDF63A1E20}"/>
              </a:ext>
            </a:extLst>
          </p:cNvPr>
          <p:cNvSpPr txBox="1">
            <a:spLocks/>
          </p:cNvSpPr>
          <p:nvPr/>
        </p:nvSpPr>
        <p:spPr bwMode="auto">
          <a:xfrm>
            <a:off x="325498" y="137735"/>
            <a:ext cx="6210056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研讨题（</a:t>
            </a:r>
            <a:r>
              <a:rPr lang="en-US" altLang="zh-CN" sz="3600" b="1" dirty="0">
                <a:solidFill>
                  <a:sysClr val="windowText" lastClr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4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7BA3835-7AA9-9F4D-0C4D-A8F9D4EA9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33" y="1347030"/>
            <a:ext cx="7354326" cy="221963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40E70D1-418B-80EA-05B4-88D6B6E3F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98" y="4066473"/>
            <a:ext cx="7019193" cy="2546498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10A6313-985F-E86F-43A2-F232006B3B93}"/>
              </a:ext>
            </a:extLst>
          </p:cNvPr>
          <p:cNvSpPr txBox="1"/>
          <p:nvPr/>
        </p:nvSpPr>
        <p:spPr>
          <a:xfrm>
            <a:off x="8583237" y="1419874"/>
            <a:ext cx="33904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做如左修改，在同一个文件中为函数</a:t>
            </a:r>
            <a:r>
              <a:rPr lang="en-US" altLang="zh-CN" sz="2400" dirty="0"/>
              <a:t>plus()</a:t>
            </a:r>
            <a:r>
              <a:rPr lang="zh-CN" altLang="en-US" sz="2400" dirty="0"/>
              <a:t>定义</a:t>
            </a:r>
            <a:endParaRPr lang="en-US" altLang="zh-CN" sz="2400" dirty="0"/>
          </a:p>
          <a:p>
            <a:r>
              <a:rPr lang="en-US" altLang="zh-CN" sz="2400" dirty="0"/>
              <a:t>@PLT</a:t>
            </a:r>
            <a:r>
              <a:rPr lang="zh-CN" altLang="en-US" sz="2400" dirty="0"/>
              <a:t>消失</a:t>
            </a:r>
            <a:endParaRPr lang="en-US" altLang="zh-CN" sz="24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C56F665-07AC-12A0-4563-F5FEBB88A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473" y="3169411"/>
            <a:ext cx="3176029" cy="360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48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E298-E151-7AA5-AFE3-A40DF301E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F82839C0-D125-515B-8E75-A1D3354C7890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0279A878-F42D-0D19-66D2-122FF8807A79}"/>
              </a:ext>
            </a:extLst>
          </p:cNvPr>
          <p:cNvSpPr txBox="1">
            <a:spLocks/>
          </p:cNvSpPr>
          <p:nvPr/>
        </p:nvSpPr>
        <p:spPr bwMode="auto">
          <a:xfrm>
            <a:off x="325498" y="137735"/>
            <a:ext cx="6210056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研讨题（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5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4C6785-F979-D3BC-8135-7CE17FFFEA30}"/>
              </a:ext>
            </a:extLst>
          </p:cNvPr>
          <p:cNvSpPr txBox="1"/>
          <p:nvPr/>
        </p:nvSpPr>
        <p:spPr>
          <a:xfrm>
            <a:off x="565484" y="1260191"/>
            <a:ext cx="954104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根据课件第</a:t>
            </a:r>
            <a:r>
              <a:rPr lang="en-US" altLang="zh-CN" sz="2800" dirty="0"/>
              <a:t>19</a:t>
            </a:r>
            <a:r>
              <a:rPr lang="zh-CN" altLang="en-US" sz="2800" dirty="0"/>
              <a:t>页，为每种类别找出至少一个汇编指令样例，优先从本课件的代码示 例中找，个别找不到的另行查找</a:t>
            </a:r>
          </a:p>
        </p:txBody>
      </p:sp>
    </p:spTree>
    <p:extLst>
      <p:ext uri="{BB962C8B-B14F-4D97-AF65-F5344CB8AC3E}">
        <p14:creationId xmlns:p14="http://schemas.microsoft.com/office/powerpoint/2010/main" val="2213967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D7CAF0E-9589-7279-4416-0AD212BE3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224" y="0"/>
            <a:ext cx="91615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833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46B82-98EC-8507-D801-4508C6268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9B3194F-CCBE-BFA3-6844-D6B30AF551BA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44D8D768-F9E6-1525-1D01-33FC45E3E67A}"/>
              </a:ext>
            </a:extLst>
          </p:cNvPr>
          <p:cNvSpPr txBox="1">
            <a:spLocks/>
          </p:cNvSpPr>
          <p:nvPr/>
        </p:nvSpPr>
        <p:spPr bwMode="auto">
          <a:xfrm>
            <a:off x="325498" y="137735"/>
            <a:ext cx="6210056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研讨题（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5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7D511B-2BB0-683E-70A7-31772717F902}"/>
              </a:ext>
            </a:extLst>
          </p:cNvPr>
          <p:cNvSpPr txBox="1"/>
          <p:nvPr/>
        </p:nvSpPr>
        <p:spPr>
          <a:xfrm>
            <a:off x="325498" y="1308049"/>
            <a:ext cx="11272944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Load data from memory into register</a:t>
            </a:r>
            <a:r>
              <a:rPr lang="zh-CN" altLang="en-US" sz="2800" dirty="0"/>
              <a:t>：把内存中的数据加载到 </a:t>
            </a:r>
            <a:r>
              <a:rPr lang="en-US" altLang="zh-CN" sz="2800" dirty="0"/>
              <a:t>CPU </a:t>
            </a:r>
            <a:r>
              <a:rPr lang="zh-CN" altLang="en-US" sz="2800" dirty="0"/>
              <a:t>寄存器中。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movq</a:t>
            </a:r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(%</a:t>
            </a:r>
            <a:r>
              <a:rPr lang="en-US" altLang="zh-CN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rcx</a:t>
            </a:r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%</a:t>
            </a:r>
            <a:r>
              <a:rPr lang="en-US" altLang="zh-CN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rdx</a:t>
            </a:r>
            <a:endParaRPr lang="en-US" altLang="zh-CN" sz="2800" dirty="0"/>
          </a:p>
          <a:p>
            <a:r>
              <a:rPr lang="zh-CN" altLang="en-US" sz="2800" dirty="0"/>
              <a:t>意思是“把内存地址</a:t>
            </a:r>
            <a:r>
              <a:rPr lang="zh-CN" altLang="en-US" sz="3200" dirty="0"/>
              <a:t> </a:t>
            </a:r>
            <a:r>
              <a:rPr lang="en-US" altLang="zh-CN" sz="3200" dirty="0" err="1"/>
              <a:t>rcx</a:t>
            </a:r>
            <a:r>
              <a:rPr lang="zh-CN" altLang="en-US" sz="3200" dirty="0"/>
              <a:t> </a:t>
            </a:r>
            <a:r>
              <a:rPr lang="zh-CN" altLang="en-US" sz="2800" dirty="0"/>
              <a:t>指向的数据，读到寄存器</a:t>
            </a:r>
            <a:r>
              <a:rPr lang="zh-CN" altLang="en-US" sz="4000" dirty="0"/>
              <a:t> </a:t>
            </a:r>
            <a:r>
              <a:rPr lang="en-US" altLang="zh-CN" sz="2800" dirty="0" err="1"/>
              <a:t>rdx</a:t>
            </a:r>
            <a:r>
              <a:rPr lang="zh-CN" altLang="en-US" sz="4000" dirty="0"/>
              <a:t> </a:t>
            </a:r>
            <a:r>
              <a:rPr lang="zh-CN" altLang="en-US" sz="2800" dirty="0"/>
              <a:t>中”。</a:t>
            </a:r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b="1" dirty="0"/>
              <a:t>Store register data into memory</a:t>
            </a:r>
            <a:r>
              <a:rPr lang="zh-CN" altLang="en-US" sz="2800" dirty="0"/>
              <a:t>：把寄存器中的数据写回内存。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 err="1"/>
              <a:t>movq</a:t>
            </a:r>
            <a:r>
              <a:rPr lang="en-US" altLang="zh-CN" sz="2800" dirty="0"/>
              <a:t> %</a:t>
            </a:r>
            <a:r>
              <a:rPr lang="en-US" altLang="zh-CN" sz="2800" dirty="0" err="1"/>
              <a:t>rdx</a:t>
            </a:r>
            <a:r>
              <a:rPr lang="en-US" altLang="zh-CN" sz="2800" dirty="0"/>
              <a:t>, (%</a:t>
            </a:r>
            <a:r>
              <a:rPr lang="en-US" altLang="zh-CN" sz="2800" dirty="0" err="1"/>
              <a:t>rcx</a:t>
            </a:r>
            <a:r>
              <a:rPr lang="en-US" altLang="zh-CN" sz="2800" dirty="0"/>
              <a:t>)</a:t>
            </a:r>
          </a:p>
          <a:p>
            <a:r>
              <a:rPr lang="zh-CN" altLang="en-US" sz="2800" dirty="0"/>
              <a:t>意思是“把寄存器</a:t>
            </a:r>
            <a:r>
              <a:rPr lang="zh-CN" altLang="en-US" sz="4000" dirty="0"/>
              <a:t> </a:t>
            </a:r>
            <a:r>
              <a:rPr lang="en-US" altLang="zh-CN" sz="2800" dirty="0" err="1"/>
              <a:t>rdx</a:t>
            </a:r>
            <a:r>
              <a:rPr lang="en-US" altLang="zh-CN" sz="4000" dirty="0"/>
              <a:t> </a:t>
            </a:r>
            <a:r>
              <a:rPr lang="zh-CN" altLang="en-US" sz="2800" dirty="0"/>
              <a:t>的值存到</a:t>
            </a:r>
            <a:r>
              <a:rPr lang="zh-CN" altLang="en-US" sz="4000" dirty="0"/>
              <a:t> </a:t>
            </a:r>
            <a:r>
              <a:rPr lang="en-US" altLang="zh-CN" sz="2800" dirty="0" err="1"/>
              <a:t>rcx</a:t>
            </a:r>
            <a:r>
              <a:rPr lang="en-US" altLang="zh-CN" sz="4000" dirty="0"/>
              <a:t> </a:t>
            </a:r>
            <a:r>
              <a:rPr lang="zh-CN" altLang="en-US" sz="2800" dirty="0"/>
              <a:t>指向的内存中”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078962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D92D2-484D-5DD1-610E-30AD38BCD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9D4151D-BF82-EBB5-5243-F2A3DE436AD5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23C9B307-0CEE-F030-B922-6911E66F4604}"/>
              </a:ext>
            </a:extLst>
          </p:cNvPr>
          <p:cNvSpPr txBox="1">
            <a:spLocks/>
          </p:cNvSpPr>
          <p:nvPr/>
        </p:nvSpPr>
        <p:spPr bwMode="auto">
          <a:xfrm>
            <a:off x="325498" y="137735"/>
            <a:ext cx="6210056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研讨题（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5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231A906-BF03-380D-1F62-39605A0A1AF9}"/>
              </a:ext>
            </a:extLst>
          </p:cNvPr>
          <p:cNvSpPr txBox="1"/>
          <p:nvPr/>
        </p:nvSpPr>
        <p:spPr>
          <a:xfrm>
            <a:off x="325498" y="1308049"/>
            <a:ext cx="112729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Perform arithmetic function on register or memory data</a:t>
            </a:r>
          </a:p>
          <a:p>
            <a:r>
              <a:rPr lang="zh-CN" altLang="en-US" sz="2800" dirty="0"/>
              <a:t>对寄存器或内存数据做算术</a:t>
            </a:r>
            <a:r>
              <a:rPr lang="en-US" altLang="zh-CN" sz="2800" dirty="0"/>
              <a:t>/</a:t>
            </a:r>
            <a:r>
              <a:rPr lang="zh-CN" altLang="en-US" sz="2800" dirty="0"/>
              <a:t>逻辑运算</a:t>
            </a:r>
            <a:endParaRPr lang="en-US" altLang="zh-CN" sz="2800" dirty="0"/>
          </a:p>
          <a:p>
            <a:r>
              <a:rPr lang="en-US" altLang="zh-CN" sz="2800" dirty="0" err="1"/>
              <a:t>addq</a:t>
            </a:r>
            <a:r>
              <a:rPr lang="en-US" altLang="zh-CN" sz="2800" dirty="0"/>
              <a:t> %</a:t>
            </a:r>
            <a:r>
              <a:rPr lang="en-US" altLang="zh-CN" sz="2800" dirty="0" err="1"/>
              <a:t>rdx</a:t>
            </a:r>
            <a:r>
              <a:rPr lang="en-US" altLang="zh-CN" sz="2800" dirty="0"/>
              <a:t>, %</a:t>
            </a:r>
            <a:r>
              <a:rPr lang="en-US" altLang="zh-CN" sz="2800" dirty="0" err="1"/>
              <a:t>rcx</a:t>
            </a:r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20742116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A28F7-1B3C-EBA6-F8A2-207898973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2047B01-A8D3-0F05-6F1B-FA978D165025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24DA51E2-80C2-1F92-BDDD-878179D7C1DB}"/>
              </a:ext>
            </a:extLst>
          </p:cNvPr>
          <p:cNvSpPr txBox="1">
            <a:spLocks/>
          </p:cNvSpPr>
          <p:nvPr/>
        </p:nvSpPr>
        <p:spPr bwMode="auto">
          <a:xfrm>
            <a:off x="325498" y="137735"/>
            <a:ext cx="6210056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研讨题（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5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4852602-9709-204E-BD7F-346B515A053D}"/>
              </a:ext>
            </a:extLst>
          </p:cNvPr>
          <p:cNvSpPr txBox="1"/>
          <p:nvPr/>
        </p:nvSpPr>
        <p:spPr>
          <a:xfrm>
            <a:off x="325498" y="1308049"/>
            <a:ext cx="11272944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Transfer control</a:t>
            </a:r>
          </a:p>
          <a:p>
            <a:r>
              <a:rPr lang="zh-CN" altLang="en-US" sz="2800" b="1" dirty="0"/>
              <a:t>程序控制转移</a:t>
            </a:r>
            <a:br>
              <a:rPr lang="zh-CN" altLang="en-US" sz="2800" dirty="0"/>
            </a:br>
            <a:r>
              <a:rPr lang="zh-CN" altLang="en-US" sz="2800" dirty="0"/>
              <a:t>即改变指令执行的顺序，使程序跳到别的地方继续执行。</a:t>
            </a:r>
            <a:endParaRPr lang="en-US" altLang="zh-CN" sz="2800" dirty="0"/>
          </a:p>
          <a:p>
            <a:endParaRPr lang="zh-CN" altLang="en-US" sz="2800" dirty="0"/>
          </a:p>
          <a:p>
            <a:r>
              <a:rPr lang="en-US" altLang="zh-CN" sz="2800" b="1" dirty="0"/>
              <a:t>Unconditional jumps to/from procedures</a:t>
            </a:r>
            <a:r>
              <a:rPr lang="zh-CN" altLang="en-US" sz="2800" dirty="0"/>
              <a:t>：无条件跳转，如调用函数 </a:t>
            </a:r>
            <a:r>
              <a:rPr lang="en-US" altLang="zh-CN" sz="3200" dirty="0"/>
              <a:t>call</a:t>
            </a:r>
            <a:r>
              <a:rPr lang="zh-CN" altLang="en-US" sz="2800" dirty="0"/>
              <a:t>、从函数返回 </a:t>
            </a:r>
            <a:r>
              <a:rPr lang="en-US" altLang="zh-CN" sz="3200" dirty="0"/>
              <a:t>ret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endParaRPr lang="zh-CN" altLang="en-US" sz="2800" dirty="0"/>
          </a:p>
          <a:p>
            <a:r>
              <a:rPr lang="en-US" altLang="zh-CN" sz="2800" b="1" dirty="0"/>
              <a:t>Conditional branches</a:t>
            </a:r>
            <a:r>
              <a:rPr lang="zh-CN" altLang="en-US" sz="2800" dirty="0"/>
              <a:t>：条件跳转，比如 </a:t>
            </a:r>
            <a:r>
              <a:rPr lang="en-US" altLang="zh-CN" sz="3200" dirty="0"/>
              <a:t>je</a:t>
            </a:r>
            <a:r>
              <a:rPr lang="zh-CN" altLang="en-US" sz="2800" dirty="0"/>
              <a:t>（等于时跳转）、</a:t>
            </a:r>
            <a:r>
              <a:rPr lang="en-US" altLang="zh-CN" sz="3200" dirty="0" err="1"/>
              <a:t>jne</a:t>
            </a:r>
            <a:r>
              <a:rPr lang="zh-CN" altLang="en-US" sz="2800" dirty="0"/>
              <a:t>（不等于时跳转）。</a:t>
            </a:r>
            <a:endParaRPr lang="en-US" altLang="zh-CN" sz="2800" dirty="0"/>
          </a:p>
          <a:p>
            <a:endParaRPr lang="zh-CN" altLang="en-US" sz="2800" dirty="0"/>
          </a:p>
          <a:p>
            <a:r>
              <a:rPr lang="en-US" altLang="zh-CN" sz="2800" b="1" dirty="0"/>
              <a:t>Indirect branches</a:t>
            </a:r>
            <a:r>
              <a:rPr lang="zh-CN" altLang="en-US" sz="2800" dirty="0"/>
              <a:t>：间接跳转，跳转的目的地址由寄存器或内存决定，比如 </a:t>
            </a:r>
            <a:r>
              <a:rPr lang="en-US" altLang="zh-CN" sz="3200" dirty="0" err="1"/>
              <a:t>jmp</a:t>
            </a:r>
            <a:r>
              <a:rPr lang="en-US" altLang="zh-CN" sz="3200" dirty="0"/>
              <a:t> *%</a:t>
            </a:r>
            <a:r>
              <a:rPr lang="en-US" altLang="zh-CN" sz="3200" dirty="0" err="1"/>
              <a:t>rax</a:t>
            </a:r>
            <a:r>
              <a:rPr lang="zh-CN" altLang="en-US" sz="28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86904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0F24C-1B93-07CA-41A8-D88602ABA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9AFDBC6-0ABC-BA5F-AA6B-2CED7E27C99F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B14F9DD5-60EE-5870-BEC3-A233F7D43790}"/>
              </a:ext>
            </a:extLst>
          </p:cNvPr>
          <p:cNvSpPr txBox="1">
            <a:spLocks/>
          </p:cNvSpPr>
          <p:nvPr/>
        </p:nvSpPr>
        <p:spPr bwMode="auto">
          <a:xfrm>
            <a:off x="325498" y="137735"/>
            <a:ext cx="6210056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研讨题（</a:t>
            </a:r>
            <a:r>
              <a:rPr lang="en-US" altLang="zh-CN" sz="3600" b="1" dirty="0">
                <a:solidFill>
                  <a:sysClr val="windowText" lastClr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6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6A1A1F-D3A6-3B12-BF23-1E10AB8A2F3A}"/>
              </a:ext>
            </a:extLst>
          </p:cNvPr>
          <p:cNvSpPr txBox="1"/>
          <p:nvPr/>
        </p:nvSpPr>
        <p:spPr>
          <a:xfrm>
            <a:off x="565483" y="1260191"/>
            <a:ext cx="106768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在课件第</a:t>
            </a:r>
            <a:r>
              <a:rPr lang="en-US" altLang="zh-CN" sz="2800" dirty="0"/>
              <a:t>22</a:t>
            </a:r>
            <a:r>
              <a:rPr lang="zh-CN" altLang="en-US" sz="2800" dirty="0"/>
              <a:t>页，逐行解释方框中反汇编后的内容都是什么含义。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5917B0-CE59-42EE-1214-697722F26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83" y="2193037"/>
            <a:ext cx="10898121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379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878F2-5A9F-54F4-660B-FC7A2DD00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F0E0D723-E346-5FCF-922E-8D0056CFE034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67761F24-90DD-7BF9-8CC6-4A74BC1E97DD}"/>
              </a:ext>
            </a:extLst>
          </p:cNvPr>
          <p:cNvSpPr txBox="1">
            <a:spLocks/>
          </p:cNvSpPr>
          <p:nvPr/>
        </p:nvSpPr>
        <p:spPr bwMode="auto">
          <a:xfrm>
            <a:off x="325498" y="137735"/>
            <a:ext cx="6210056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研讨题（</a:t>
            </a:r>
            <a:r>
              <a:rPr lang="en-US" altLang="zh-CN" sz="3600" b="1" dirty="0">
                <a:solidFill>
                  <a:sysClr val="windowText" lastClr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6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84A577-0F03-E9AE-FA45-3DD3FA9C6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21" y="1173295"/>
            <a:ext cx="10898121" cy="387721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CD7837E-5D08-2588-F659-D9E1A1FE77D1}"/>
              </a:ext>
            </a:extLst>
          </p:cNvPr>
          <p:cNvSpPr txBox="1"/>
          <p:nvPr/>
        </p:nvSpPr>
        <p:spPr>
          <a:xfrm>
            <a:off x="1028700" y="5271955"/>
            <a:ext cx="97917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 err="1"/>
              <a:t>rdi</a:t>
            </a:r>
            <a:r>
              <a:rPr lang="en-US" altLang="zh-CN" sz="2000" dirty="0"/>
              <a:t>=x, </a:t>
            </a:r>
            <a:r>
              <a:rPr lang="en-US" altLang="zh-CN" sz="2000" dirty="0" err="1"/>
              <a:t>rsi</a:t>
            </a:r>
            <a:r>
              <a:rPr lang="en-US" altLang="zh-CN" sz="2000" dirty="0"/>
              <a:t>=y, </a:t>
            </a:r>
            <a:r>
              <a:rPr lang="en-US" altLang="zh-CN" sz="2000" dirty="0" err="1"/>
              <a:t>rdx</a:t>
            </a:r>
            <a:r>
              <a:rPr lang="en-US" altLang="zh-CN" sz="2000" dirty="0"/>
              <a:t>=</a:t>
            </a:r>
            <a:r>
              <a:rPr lang="en-US" altLang="zh-CN" sz="2000" dirty="0" err="1"/>
              <a:t>dest</a:t>
            </a:r>
            <a:endParaRPr lang="en-US" altLang="zh-CN" sz="2000" dirty="0">
              <a:latin typeface="Courier New" panose="02070309020205020404" pitchFamily="49" charset="0"/>
            </a:endParaRPr>
          </a:p>
          <a:p>
            <a:r>
              <a:rPr lang="en-US" altLang="zh-CN" sz="2000" dirty="0" err="1">
                <a:latin typeface="Courier New" panose="02070309020205020404" pitchFamily="49" charset="0"/>
              </a:rPr>
              <a:t>rdx</a:t>
            </a:r>
            <a:r>
              <a:rPr lang="en-US" altLang="zh-CN" sz="2000" dirty="0"/>
              <a:t> </a:t>
            </a:r>
            <a:r>
              <a:rPr lang="zh-CN" altLang="en-US" sz="2000" dirty="0"/>
              <a:t>是 </a:t>
            </a:r>
            <a:r>
              <a:rPr lang="en-US" altLang="zh-CN" sz="2000" b="1" dirty="0"/>
              <a:t>caller-saved</a:t>
            </a:r>
            <a:r>
              <a:rPr lang="zh-CN" altLang="en-US" sz="2000" dirty="0"/>
              <a:t>，一会儿 </a:t>
            </a:r>
            <a:r>
              <a:rPr lang="en-US" altLang="zh-CN" sz="2000" dirty="0">
                <a:latin typeface="Courier New" panose="02070309020205020404" pitchFamily="49" charset="0"/>
              </a:rPr>
              <a:t>call plus</a:t>
            </a:r>
            <a:r>
              <a:rPr lang="en-US" altLang="zh-CN" sz="2000" dirty="0"/>
              <a:t> </a:t>
            </a:r>
            <a:r>
              <a:rPr lang="zh-CN" altLang="en-US" sz="2000" dirty="0"/>
              <a:t>可能会改；而 </a:t>
            </a:r>
            <a:r>
              <a:rPr lang="en-US" altLang="zh-CN" sz="2000" dirty="0" err="1">
                <a:latin typeface="Courier New" panose="02070309020205020404" pitchFamily="49" charset="0"/>
              </a:rPr>
              <a:t>rbx</a:t>
            </a:r>
            <a:r>
              <a:rPr lang="en-US" altLang="zh-CN" sz="2000" dirty="0"/>
              <a:t> </a:t>
            </a:r>
            <a:r>
              <a:rPr lang="zh-CN" altLang="en-US" sz="2000" dirty="0"/>
              <a:t>是 </a:t>
            </a:r>
            <a:r>
              <a:rPr lang="en-US" altLang="zh-CN" sz="2000" b="1" dirty="0"/>
              <a:t>callee-saved</a:t>
            </a:r>
            <a:r>
              <a:rPr lang="zh-CN" altLang="en-US" sz="2000" dirty="0"/>
              <a:t>，安全。</a:t>
            </a:r>
            <a:br>
              <a:rPr lang="zh-CN" altLang="en-US" sz="2000" dirty="0"/>
            </a:br>
            <a:r>
              <a:rPr lang="zh-CN" altLang="en-US" sz="2000" dirty="0"/>
              <a:t>之后我们要把 </a:t>
            </a:r>
            <a:r>
              <a:rPr lang="en-US" altLang="zh-CN" sz="2000" dirty="0">
                <a:latin typeface="Courier New" panose="02070309020205020404" pitchFamily="49" charset="0"/>
              </a:rPr>
              <a:t>plus</a:t>
            </a:r>
            <a:r>
              <a:rPr lang="en-US" altLang="zh-CN" sz="2000" dirty="0"/>
              <a:t> </a:t>
            </a:r>
            <a:r>
              <a:rPr lang="zh-CN" altLang="en-US" sz="2000" dirty="0"/>
              <a:t>的返回值存到 </a:t>
            </a:r>
            <a:r>
              <a:rPr lang="zh-CN" altLang="en-US" sz="2000" dirty="0">
                <a:latin typeface="Courier New" panose="02070309020205020404" pitchFamily="49" charset="0"/>
              </a:rPr>
              <a:t>*</a:t>
            </a:r>
            <a:r>
              <a:rPr lang="en-US" altLang="zh-CN" sz="2000" dirty="0" err="1">
                <a:latin typeface="Courier New" panose="02070309020205020404" pitchFamily="49" charset="0"/>
              </a:rPr>
              <a:t>dest</a:t>
            </a:r>
            <a:r>
              <a:rPr lang="zh-CN" altLang="en-US" sz="2000" dirty="0"/>
              <a:t>，所以用 </a:t>
            </a:r>
            <a:r>
              <a:rPr lang="en-US" altLang="zh-CN" sz="2000" dirty="0" err="1">
                <a:latin typeface="Courier New" panose="02070309020205020404" pitchFamily="49" charset="0"/>
              </a:rPr>
              <a:t>rbx</a:t>
            </a:r>
            <a:r>
              <a:rPr lang="en-US" altLang="zh-CN" sz="2000" dirty="0"/>
              <a:t> </a:t>
            </a:r>
            <a:r>
              <a:rPr lang="zh-CN" altLang="en-US" sz="2000" dirty="0"/>
              <a:t>留着这个地址。</a:t>
            </a:r>
          </a:p>
        </p:txBody>
      </p:sp>
    </p:spTree>
    <p:extLst>
      <p:ext uri="{BB962C8B-B14F-4D97-AF65-F5344CB8AC3E}">
        <p14:creationId xmlns:p14="http://schemas.microsoft.com/office/powerpoint/2010/main" val="35889934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38E7E-FAF8-7327-8BC3-2929B361C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D842767-05EC-46EB-D76B-86EF685B0EAF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6BD5A3DA-E1A4-8746-BC43-A96C28DDD098}"/>
              </a:ext>
            </a:extLst>
          </p:cNvPr>
          <p:cNvSpPr txBox="1">
            <a:spLocks/>
          </p:cNvSpPr>
          <p:nvPr/>
        </p:nvSpPr>
        <p:spPr bwMode="auto">
          <a:xfrm>
            <a:off x="325498" y="137735"/>
            <a:ext cx="6210056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研讨题（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7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AB8D4E-6202-2A75-6CC1-65B54A285A2C}"/>
              </a:ext>
            </a:extLst>
          </p:cNvPr>
          <p:cNvSpPr txBox="1"/>
          <p:nvPr/>
        </p:nvSpPr>
        <p:spPr>
          <a:xfrm>
            <a:off x="1804804" y="1173295"/>
            <a:ext cx="94615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用课件第</a:t>
            </a:r>
            <a:r>
              <a:rPr lang="en-US" altLang="zh-CN" sz="2800" dirty="0"/>
              <a:t>22</a:t>
            </a:r>
            <a:r>
              <a:rPr lang="zh-CN" altLang="en-US" sz="2800" dirty="0"/>
              <a:t>、</a:t>
            </a:r>
            <a:r>
              <a:rPr lang="en-US" altLang="zh-CN" sz="2800" dirty="0"/>
              <a:t>23</a:t>
            </a:r>
            <a:r>
              <a:rPr lang="zh-CN" altLang="en-US" sz="2800" dirty="0"/>
              <a:t>页介绍的方法，在自己电脑上先将</a:t>
            </a:r>
            <a:r>
              <a:rPr lang="en-US" altLang="zh-CN" sz="2800" dirty="0" err="1"/>
              <a:t>sum.c</a:t>
            </a:r>
            <a:r>
              <a:rPr lang="zh-CN" altLang="en-US" sz="2800" dirty="0"/>
              <a:t>编译成机器语言代码，再 反汇编，展示结果并和课件上的反汇编结果对比异同。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E0B3B72-91D6-F954-7DE6-0C3D01D639B9}"/>
              </a:ext>
            </a:extLst>
          </p:cNvPr>
          <p:cNvSpPr txBox="1"/>
          <p:nvPr/>
        </p:nvSpPr>
        <p:spPr>
          <a:xfrm>
            <a:off x="325498" y="2702885"/>
            <a:ext cx="709130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Disassembly of section .text:</a:t>
            </a:r>
          </a:p>
          <a:p>
            <a:endParaRPr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0000000000000000 &lt;sumstore&gt;:</a:t>
            </a:r>
          </a:p>
          <a:p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  0:   f3 0f 1e fa            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endbr64</a:t>
            </a:r>
          </a:p>
          <a:p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  4:   53                     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push   %rbx</a:t>
            </a:r>
          </a:p>
          <a:p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  5:   48 89 d3               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mov    %rdx,%rbx</a:t>
            </a:r>
          </a:p>
          <a:p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  8:   e8 00 00 00 00         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call   d &lt;sumstore+0xd&gt;</a:t>
            </a:r>
          </a:p>
          <a:p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  d:   48 89 03               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mov    %rax,(%rbx)</a:t>
            </a:r>
          </a:p>
          <a:p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 10:   5b                     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pop    %rbx</a:t>
            </a:r>
          </a:p>
          <a:p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 11:   c3                     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ret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2F99DF5-1A24-D11B-5CE8-ABA37FB34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668" y="2493418"/>
            <a:ext cx="6022834" cy="173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629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E9B3F-D495-FE6A-B622-2AE7DB17A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341A1A1-D9FC-65D9-5882-BA552495FBBD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5F24A348-B3B1-664B-79E8-1D4BA36458E4}"/>
              </a:ext>
            </a:extLst>
          </p:cNvPr>
          <p:cNvSpPr txBox="1">
            <a:spLocks/>
          </p:cNvSpPr>
          <p:nvPr/>
        </p:nvSpPr>
        <p:spPr bwMode="auto">
          <a:xfrm>
            <a:off x="325498" y="137735"/>
            <a:ext cx="6210056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研讨题（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7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5AE3635-0DE9-53F7-E6C9-DE1094ED77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339187"/>
              </p:ext>
            </p:extLst>
          </p:nvPr>
        </p:nvGraphicFramePr>
        <p:xfrm>
          <a:off x="838200" y="1736884"/>
          <a:ext cx="10515600" cy="2011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17868277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678883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83322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项目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教材示例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我机器上 </a:t>
                      </a:r>
                      <a:r>
                        <a:rPr lang="en-US" dirty="0" err="1"/>
                        <a:t>objdump</a:t>
                      </a:r>
                      <a:r>
                        <a:rPr lang="en-US" dirty="0"/>
                        <a:t> </a:t>
                      </a:r>
                      <a:r>
                        <a:rPr lang="zh-CN" altLang="en-US" dirty="0"/>
                        <a:t>结果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191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地址基准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0000000000400595</a:t>
                      </a:r>
                      <a:r>
                        <a:rPr lang="zh-CN" altLang="en-US"/>
                        <a:t> 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0000000000000000</a:t>
                      </a:r>
                      <a:r>
                        <a:rPr lang="zh-CN" altLang="en-US"/>
                        <a:t> 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062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首条指令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push %rbx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endbr64（f3 0f 1e fa），</a:t>
                      </a:r>
                      <a:r>
                        <a:rPr lang="zh-CN" altLang="en-US" dirty="0"/>
                        <a:t>然后才是 </a:t>
                      </a:r>
                      <a:r>
                        <a:rPr lang="en-US" dirty="0"/>
                        <a:t>push %</a:t>
                      </a:r>
                      <a:r>
                        <a:rPr lang="en-US" dirty="0" err="1"/>
                        <a:t>rbx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345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call </a:t>
                      </a:r>
                      <a:r>
                        <a:rPr lang="zh-CN" altLang="en-US"/>
                        <a:t>指令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callq 400590 &lt;plus&gt;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call d &lt;sumstore+0xd&gt;（</a:t>
                      </a:r>
                      <a:r>
                        <a:rPr lang="zh-CN" altLang="en-US" dirty="0"/>
                        <a:t>还没重定位，所以立即数是 </a:t>
                      </a:r>
                      <a:r>
                        <a:rPr lang="en-US" altLang="zh-CN" dirty="0"/>
                        <a:t>0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6771689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2258E136-1BBF-B7AA-67CA-4FF7E4D452D7}"/>
              </a:ext>
            </a:extLst>
          </p:cNvPr>
          <p:cNvSpPr txBox="1"/>
          <p:nvPr/>
        </p:nvSpPr>
        <p:spPr>
          <a:xfrm>
            <a:off x="838200" y="4226520"/>
            <a:ext cx="107886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这是 </a:t>
            </a:r>
            <a:r>
              <a:rPr lang="en-US" altLang="zh-CN" b="1" dirty="0"/>
              <a:t>Intel CET</a:t>
            </a:r>
            <a:r>
              <a:rPr lang="zh-CN" altLang="en-US" b="1" dirty="0"/>
              <a:t>（</a:t>
            </a:r>
            <a:r>
              <a:rPr lang="en-US" altLang="zh-CN" b="1" dirty="0"/>
              <a:t>Control-flow Enforcement Technology</a:t>
            </a:r>
            <a:r>
              <a:rPr lang="zh-CN" altLang="en-US" b="1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的入口指令，用来配合 </a:t>
            </a:r>
            <a:r>
              <a:rPr lang="en-US" altLang="zh-CN" b="1" dirty="0"/>
              <a:t>indirect branch tracking (IBT)</a:t>
            </a:r>
            <a:r>
              <a:rPr lang="en-US" altLang="zh-CN" dirty="0"/>
              <a:t> </a:t>
            </a:r>
            <a:r>
              <a:rPr lang="zh-CN" altLang="en-US" dirty="0"/>
              <a:t>保护程序免受某些控制流攻击。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objdump</a:t>
            </a:r>
            <a:r>
              <a:rPr lang="zh-CN" altLang="en-US" dirty="0"/>
              <a:t> 直接反汇编了未重定位的目标文件 </a:t>
            </a:r>
            <a:r>
              <a:rPr lang="en-US" altLang="zh-CN" dirty="0"/>
              <a:t>.o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04838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70FE4-B083-027C-8433-BB54508BF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1D6E17A-62BA-FD3C-759D-310F34C5E3F7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F414494D-C204-61C4-72F6-F8332F32C341}"/>
              </a:ext>
            </a:extLst>
          </p:cNvPr>
          <p:cNvSpPr txBox="1">
            <a:spLocks/>
          </p:cNvSpPr>
          <p:nvPr/>
        </p:nvSpPr>
        <p:spPr bwMode="auto">
          <a:xfrm>
            <a:off x="325498" y="137735"/>
            <a:ext cx="6210056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研讨题（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7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A8FFB5-2AD9-8B1D-024C-CDC1E0E68EAB}"/>
              </a:ext>
            </a:extLst>
          </p:cNvPr>
          <p:cNvSpPr txBox="1"/>
          <p:nvPr/>
        </p:nvSpPr>
        <p:spPr>
          <a:xfrm>
            <a:off x="615950" y="133933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gcc -O2  sum.c plus.c -o sum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补充了一个</a:t>
            </a:r>
            <a:r>
              <a:rPr lang="en-US" altLang="zh-CN" dirty="0"/>
              <a:t>plus</a:t>
            </a:r>
            <a:r>
              <a:rPr lang="zh-CN" altLang="en-US" dirty="0"/>
              <a:t>的定义之后：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87D275-2566-9A51-4FC8-550181CE0334}"/>
              </a:ext>
            </a:extLst>
          </p:cNvPr>
          <p:cNvSpPr txBox="1"/>
          <p:nvPr/>
        </p:nvSpPr>
        <p:spPr>
          <a:xfrm>
            <a:off x="419100" y="3224590"/>
            <a:ext cx="88582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0000000000001140 &lt;sumstore&gt;:</a:t>
            </a:r>
          </a:p>
          <a:p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  1140:       f3 0f 1e fa          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endbr64</a:t>
            </a:r>
          </a:p>
          <a:p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  1144:       53                   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push   %rbx</a:t>
            </a:r>
          </a:p>
          <a:p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  1145:       48 89 d3             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mov    %rdx,%rbx</a:t>
            </a:r>
          </a:p>
          <a:p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  1148:       e8 13 00 00 00    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call   1160 &lt;plus&gt;</a:t>
            </a:r>
          </a:p>
          <a:p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  114d:       48 89 03           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  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mov    %rax,(%rbx)</a:t>
            </a:r>
          </a:p>
          <a:p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  1150:       5b                     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pop    %rbx</a:t>
            </a:r>
          </a:p>
          <a:p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  1151:       c3                     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ret</a:t>
            </a:r>
          </a:p>
          <a:p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  1152:       66 2e 0f 1f 84 00 00   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cs nopw 0x0(%rax,%rax,1)</a:t>
            </a:r>
          </a:p>
          <a:p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  1159:       00 00 00</a:t>
            </a:r>
          </a:p>
          <a:p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  115c:       0f 1f 40 00            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nopl   0x0(%rax)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6B67845-10D7-06B0-0E09-605C4CF05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216" y="1610768"/>
            <a:ext cx="6022834" cy="173905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99CDB6C-7210-B649-B298-F8353F89E9E5}"/>
              </a:ext>
            </a:extLst>
          </p:cNvPr>
          <p:cNvSpPr/>
          <p:nvPr/>
        </p:nvSpPr>
        <p:spPr>
          <a:xfrm>
            <a:off x="615950" y="5473094"/>
            <a:ext cx="6661150" cy="8140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D5ABCC88-CFEE-399B-8CB6-DC7073288E6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59302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>
                        <a:latin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67358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11BA53C-7186-D0B8-7710-616586DDE8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896095"/>
              </p:ext>
            </p:extLst>
          </p:nvPr>
        </p:nvGraphicFramePr>
        <p:xfrm>
          <a:off x="7639050" y="5560059"/>
          <a:ext cx="4483100" cy="640080"/>
        </p:xfrm>
        <a:graphic>
          <a:graphicData uri="http://schemas.openxmlformats.org/drawingml/2006/table">
            <a:tbl>
              <a:tblPr/>
              <a:tblGrid>
                <a:gridCol w="4483100">
                  <a:extLst>
                    <a:ext uri="{9D8B030D-6E8A-4147-A177-3AD203B41FA5}">
                      <a16:colId xmlns:a16="http://schemas.microsoft.com/office/drawing/2014/main" val="421625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现代 </a:t>
                      </a:r>
                      <a:r>
                        <a:rPr lang="en-US" altLang="zh-CN" dirty="0"/>
                        <a:t>GCC </a:t>
                      </a:r>
                      <a:r>
                        <a:rPr lang="zh-CN" altLang="en-US" dirty="0"/>
                        <a:t>为了 </a:t>
                      </a:r>
                      <a:r>
                        <a:rPr lang="en-US" altLang="zh-CN" b="1" dirty="0"/>
                        <a:t>16 </a:t>
                      </a:r>
                      <a:r>
                        <a:rPr lang="zh-CN" altLang="en-US" b="1" dirty="0"/>
                        <a:t>字节函数对齐</a:t>
                      </a:r>
                      <a:r>
                        <a:rPr lang="zh-CN" altLang="en-US" dirty="0"/>
                        <a:t> 自动插入无操作指令（</a:t>
                      </a:r>
                      <a:r>
                        <a:rPr lang="en-US" altLang="zh-CN" dirty="0"/>
                        <a:t>NOP</a:t>
                      </a:r>
                      <a:r>
                        <a:rPr lang="zh-CN" altLang="en-US" dirty="0"/>
                        <a:t>），便于指令缓存预取。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373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4085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D79AA-EDDA-4174-9667-EA52FBCA9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D25437E-9BF8-3D5A-AF9C-7F56FE0BC70E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B9E1FC23-8018-615B-C4F4-99915F1E90F4}"/>
              </a:ext>
            </a:extLst>
          </p:cNvPr>
          <p:cNvSpPr txBox="1">
            <a:spLocks/>
          </p:cNvSpPr>
          <p:nvPr/>
        </p:nvSpPr>
        <p:spPr bwMode="auto">
          <a:xfrm>
            <a:off x="325498" y="137735"/>
            <a:ext cx="759930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1" hangingPunct="1">
              <a:buNone/>
              <a:defRPr/>
            </a:pPr>
            <a:r>
              <a:rPr lang="en-US" altLang="zh-CN" sz="3600" dirty="0"/>
              <a:t>1. </a:t>
            </a:r>
            <a:r>
              <a:rPr lang="zh-CN" altLang="en-US" sz="3600" dirty="0"/>
              <a:t>服务器处理器 </a:t>
            </a:r>
            <a:r>
              <a:rPr lang="en-US" altLang="zh-CN" sz="3600" dirty="0"/>
              <a:t>(Server CPUs)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51A9E03-4288-BDB6-7297-68B4DD921CF6}"/>
              </a:ext>
            </a:extLst>
          </p:cNvPr>
          <p:cNvGraphicFramePr>
            <a:graphicFrameLocks noGrp="1"/>
          </p:cNvGraphicFramePr>
          <p:nvPr/>
        </p:nvGraphicFramePr>
        <p:xfrm>
          <a:off x="325498" y="2105025"/>
          <a:ext cx="11356072" cy="364807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22296">
                  <a:extLst>
                    <a:ext uri="{9D8B030D-6E8A-4147-A177-3AD203B41FA5}">
                      <a16:colId xmlns:a16="http://schemas.microsoft.com/office/drawing/2014/main" val="778618497"/>
                    </a:ext>
                  </a:extLst>
                </a:gridCol>
                <a:gridCol w="1622296">
                  <a:extLst>
                    <a:ext uri="{9D8B030D-6E8A-4147-A177-3AD203B41FA5}">
                      <a16:colId xmlns:a16="http://schemas.microsoft.com/office/drawing/2014/main" val="1925643205"/>
                    </a:ext>
                  </a:extLst>
                </a:gridCol>
                <a:gridCol w="1622296">
                  <a:extLst>
                    <a:ext uri="{9D8B030D-6E8A-4147-A177-3AD203B41FA5}">
                      <a16:colId xmlns:a16="http://schemas.microsoft.com/office/drawing/2014/main" val="4290083679"/>
                    </a:ext>
                  </a:extLst>
                </a:gridCol>
                <a:gridCol w="1622296">
                  <a:extLst>
                    <a:ext uri="{9D8B030D-6E8A-4147-A177-3AD203B41FA5}">
                      <a16:colId xmlns:a16="http://schemas.microsoft.com/office/drawing/2014/main" val="3712928412"/>
                    </a:ext>
                  </a:extLst>
                </a:gridCol>
                <a:gridCol w="1622296">
                  <a:extLst>
                    <a:ext uri="{9D8B030D-6E8A-4147-A177-3AD203B41FA5}">
                      <a16:colId xmlns:a16="http://schemas.microsoft.com/office/drawing/2014/main" val="1263907238"/>
                    </a:ext>
                  </a:extLst>
                </a:gridCol>
                <a:gridCol w="1622296">
                  <a:extLst>
                    <a:ext uri="{9D8B030D-6E8A-4147-A177-3AD203B41FA5}">
                      <a16:colId xmlns:a16="http://schemas.microsoft.com/office/drawing/2014/main" val="2288191073"/>
                    </a:ext>
                  </a:extLst>
                </a:gridCol>
                <a:gridCol w="1622296">
                  <a:extLst>
                    <a:ext uri="{9D8B030D-6E8A-4147-A177-3AD203B41FA5}">
                      <a16:colId xmlns:a16="http://schemas.microsoft.com/office/drawing/2014/main" val="2449928732"/>
                    </a:ext>
                  </a:extLst>
                </a:gridCol>
              </a:tblGrid>
              <a:tr h="486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/>
                        <a:t>型号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系列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/>
                        <a:t>架构类型 </a:t>
                      </a:r>
                      <a:r>
                        <a:rPr lang="en-US" altLang="zh-CN" sz="1100"/>
                        <a:t>/ </a:t>
                      </a:r>
                      <a:r>
                        <a:rPr lang="zh-CN" altLang="en-US" sz="1100"/>
                        <a:t>核心设计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/>
                        <a:t>制造工艺 </a:t>
                      </a:r>
                      <a:r>
                        <a:rPr lang="en-US" altLang="zh-CN" sz="1100"/>
                        <a:t>/ </a:t>
                      </a:r>
                      <a:r>
                        <a:rPr lang="zh-CN" altLang="en-US" sz="1100"/>
                        <a:t>节点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/>
                        <a:t>核心数（线程数）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/>
                        <a:t>主频 </a:t>
                      </a:r>
                      <a:r>
                        <a:rPr lang="en-US" altLang="zh-CN" sz="1100"/>
                        <a:t>/ </a:t>
                      </a:r>
                      <a:r>
                        <a:rPr lang="zh-CN" altLang="en-US" sz="1100"/>
                        <a:t>加速频率范围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/>
                        <a:t>功耗 </a:t>
                      </a:r>
                      <a:r>
                        <a:rPr lang="en-US" altLang="zh-CN" sz="1100"/>
                        <a:t>/ TDP /</a:t>
                      </a:r>
                      <a:r>
                        <a:rPr lang="zh-CN" altLang="en-US" sz="1100"/>
                        <a:t>服务器功耗级别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/>
                        <a:t>备注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14242253"/>
                  </a:ext>
                </a:extLst>
              </a:tr>
              <a:tr h="1507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AMD EPYC 9005 (Turin / Turin Dense)</a:t>
                      </a:r>
                      <a:endParaRPr lang="en-US" sz="11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x86-64, Zen 5 </a:t>
                      </a:r>
                      <a:r>
                        <a:rPr lang="zh-CN" altLang="en-US" sz="1100"/>
                        <a:t>或 </a:t>
                      </a:r>
                      <a:r>
                        <a:rPr lang="en-US" sz="1100"/>
                        <a:t>Zen5c（</a:t>
                      </a:r>
                      <a:r>
                        <a:rPr lang="zh-CN" altLang="en-US" sz="1100"/>
                        <a:t>密度优化核心） </a:t>
                      </a:r>
                      <a:r>
                        <a:rPr lang="en-US" altLang="zh-CN" sz="1100"/>
                        <a:t>(</a:t>
                      </a:r>
                      <a:r>
                        <a:rPr lang="en-US" sz="1100">
                          <a:hlinkClick r:id="rId2" tooltip="EPYC - AMD"/>
                        </a:rPr>
                        <a:t>en.wikichip.org</a:t>
                      </a:r>
                      <a:r>
                        <a:rPr lang="en-US" sz="1100"/>
                        <a:t>)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/>
                        <a:t>混合：标准 </a:t>
                      </a:r>
                      <a:r>
                        <a:rPr lang="en-US" sz="1100"/>
                        <a:t>Zen5 </a:t>
                      </a:r>
                      <a:r>
                        <a:rPr lang="zh-CN" altLang="en-US" sz="1100"/>
                        <a:t>核心使用 </a:t>
                      </a:r>
                      <a:r>
                        <a:rPr lang="en-US" altLang="zh-CN" sz="1100"/>
                        <a:t>~ </a:t>
                      </a:r>
                      <a:r>
                        <a:rPr lang="en-US" altLang="zh-CN" sz="1100" b="1"/>
                        <a:t>4</a:t>
                      </a:r>
                      <a:r>
                        <a:rPr lang="en-US" sz="1100" b="1"/>
                        <a:t>nm</a:t>
                      </a:r>
                      <a:r>
                        <a:rPr lang="en-US" sz="1100"/>
                        <a:t>，Zen5c </a:t>
                      </a:r>
                      <a:r>
                        <a:rPr lang="zh-CN" altLang="en-US" sz="1100"/>
                        <a:t>核心使用 </a:t>
                      </a:r>
                      <a:r>
                        <a:rPr lang="en-US" altLang="zh-CN" sz="1100"/>
                        <a:t>~ </a:t>
                      </a:r>
                      <a:r>
                        <a:rPr lang="en-US" altLang="zh-CN" sz="1100" b="1"/>
                        <a:t>3</a:t>
                      </a:r>
                      <a:r>
                        <a:rPr lang="en-US" sz="1100" b="1"/>
                        <a:t>nm</a:t>
                      </a:r>
                      <a:r>
                        <a:rPr lang="en-US" sz="1100"/>
                        <a:t> </a:t>
                      </a:r>
                      <a:r>
                        <a:rPr lang="zh-CN" altLang="en-US" sz="1100"/>
                        <a:t>制程 </a:t>
                      </a:r>
                      <a:r>
                        <a:rPr lang="en-US" altLang="zh-CN" sz="1100"/>
                        <a:t>(</a:t>
                      </a:r>
                      <a:r>
                        <a:rPr lang="en-US" sz="1100">
                          <a:hlinkClick r:id="rId2" tooltip="EPYC - AMD"/>
                        </a:rPr>
                        <a:t>en.wikichip.org</a:t>
                      </a:r>
                      <a:r>
                        <a:rPr lang="en-US" sz="1100"/>
                        <a:t>)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/>
                        <a:t>至多 </a:t>
                      </a:r>
                      <a:r>
                        <a:rPr lang="en-US" altLang="zh-CN" sz="1100" b="1"/>
                        <a:t>192</a:t>
                      </a:r>
                      <a:r>
                        <a:rPr lang="zh-CN" altLang="en-US" sz="1100"/>
                        <a:t> 核 </a:t>
                      </a:r>
                      <a:r>
                        <a:rPr lang="en-US" altLang="zh-CN" sz="1100"/>
                        <a:t>/ 384 </a:t>
                      </a:r>
                      <a:r>
                        <a:rPr lang="zh-CN" altLang="en-US" sz="1100"/>
                        <a:t>线程（</a:t>
                      </a:r>
                      <a:r>
                        <a:rPr lang="en-US" sz="1100"/>
                        <a:t>Turin Dense）(</a:t>
                      </a:r>
                      <a:r>
                        <a:rPr lang="en-US" sz="1100">
                          <a:hlinkClick r:id="rId2" tooltip="EPYC - AMD"/>
                        </a:rPr>
                        <a:t>en.wikichip.org</a:t>
                      </a:r>
                      <a:r>
                        <a:rPr lang="en-US" sz="1100"/>
                        <a:t>)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dirty="0"/>
                        <a:t>部分型号加速频率可达 </a:t>
                      </a:r>
                      <a:r>
                        <a:rPr lang="en-US" altLang="zh-CN" sz="1100" dirty="0"/>
                        <a:t>~ </a:t>
                      </a:r>
                      <a:r>
                        <a:rPr lang="en-US" altLang="zh-CN" sz="1100" b="1" dirty="0"/>
                        <a:t>4.5 GHz</a:t>
                      </a:r>
                      <a:r>
                        <a:rPr lang="zh-CN" altLang="en-US" sz="1100" dirty="0"/>
                        <a:t> 左右；也有低频型在 </a:t>
                      </a:r>
                      <a:r>
                        <a:rPr lang="en-US" altLang="zh-CN" sz="1100" dirty="0"/>
                        <a:t>2-3 GHz </a:t>
                      </a:r>
                      <a:r>
                        <a:rPr lang="zh-CN" altLang="en-US" sz="1100" dirty="0"/>
                        <a:t>区间用于密集／高核数用途 </a:t>
                      </a:r>
                      <a:r>
                        <a:rPr lang="en-US" altLang="zh-CN" sz="1100" dirty="0"/>
                        <a:t>(</a:t>
                      </a:r>
                      <a:r>
                        <a:rPr lang="en-US" altLang="zh-CN" sz="1100" dirty="0">
                          <a:hlinkClick r:id="rId3" tooltip="AMD EPYC 9005 - 128 Zen 5 Cores, 192 Zen 5c Cores"/>
                        </a:rPr>
                        <a:t>exxactcorp.com</a:t>
                      </a:r>
                      <a:r>
                        <a:rPr lang="en-US" altLang="zh-CN" sz="1100" dirty="0"/>
                        <a:t>)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/>
                        <a:t>高功耗型号可能达到 </a:t>
                      </a:r>
                      <a:r>
                        <a:rPr lang="en-US" altLang="zh-CN" sz="1100" b="1"/>
                        <a:t>300-400 W</a:t>
                      </a:r>
                      <a:r>
                        <a:rPr lang="zh-CN" altLang="en-US" sz="1100"/>
                        <a:t> 级别（大核心数，高频型号）</a:t>
                      </a:r>
                      <a:r>
                        <a:rPr lang="en-US" altLang="zh-CN" sz="1100"/>
                        <a:t>(</a:t>
                      </a:r>
                      <a:r>
                        <a:rPr lang="zh-CN" altLang="en-US" sz="1100">
                          <a:hlinkClick r:id="rId4" tooltip="AMD Epyc"/>
                        </a:rPr>
                        <a:t>维基百科</a:t>
                      </a:r>
                      <a:r>
                        <a:rPr lang="en-US" altLang="zh-CN" sz="1100"/>
                        <a:t>)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/>
                        <a:t>高密度、云 </a:t>
                      </a:r>
                      <a:r>
                        <a:rPr lang="en-US" altLang="zh-CN" sz="1100"/>
                        <a:t>/ AI /</a:t>
                      </a:r>
                      <a:r>
                        <a:rPr lang="zh-CN" altLang="en-US" sz="1100"/>
                        <a:t>虚拟机用途；大核心数但单核或高频性能可能比桌面核心稍有折中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865247067"/>
                  </a:ext>
                </a:extLst>
              </a:tr>
              <a:tr h="1653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1"/>
                        <a:t>Intel Xeon 最新 Scalable 系列</a:t>
                      </a:r>
                      <a:endParaRPr lang="es-ES" sz="11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/>
                        <a:t>x86-64, </a:t>
                      </a:r>
                      <a:r>
                        <a:rPr lang="zh-CN" altLang="en-US" sz="1100"/>
                        <a:t>最近为 </a:t>
                      </a:r>
                      <a:r>
                        <a:rPr lang="en-US" altLang="zh-CN" sz="1100"/>
                        <a:t>Intel </a:t>
                      </a:r>
                      <a:r>
                        <a:rPr lang="zh-CN" altLang="en-US" sz="1100"/>
                        <a:t>的高级核心设计 </a:t>
                      </a:r>
                      <a:r>
                        <a:rPr lang="en-US" altLang="zh-CN" sz="1100"/>
                        <a:t>+ AVX-512 /</a:t>
                      </a:r>
                      <a:r>
                        <a:rPr lang="zh-CN" altLang="en-US" sz="1100"/>
                        <a:t>向量扩展等（具体型号差异）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dirty="0"/>
                        <a:t>多数为 </a:t>
                      </a:r>
                      <a:r>
                        <a:rPr lang="en-US" sz="1100" dirty="0"/>
                        <a:t>Intel </a:t>
                      </a:r>
                      <a:r>
                        <a:rPr lang="zh-CN" altLang="en-US" sz="1100" dirty="0"/>
                        <a:t>的强化 </a:t>
                      </a:r>
                      <a:r>
                        <a:rPr lang="en-US" altLang="zh-CN" sz="1100" dirty="0"/>
                        <a:t>/</a:t>
                      </a:r>
                      <a:r>
                        <a:rPr lang="zh-CN" altLang="en-US" sz="1100" dirty="0"/>
                        <a:t>最新节点，但具体制程（例如 </a:t>
                      </a:r>
                      <a:r>
                        <a:rPr lang="en-US" sz="1100" dirty="0"/>
                        <a:t>Intel 7／Intel 4／</a:t>
                      </a:r>
                      <a:r>
                        <a:rPr lang="zh-CN" altLang="en-US" sz="1100" dirty="0"/>
                        <a:t>或 </a:t>
                      </a:r>
                      <a:r>
                        <a:rPr lang="en-US" sz="1100" dirty="0"/>
                        <a:t>Intel 20A/ 18A）</a:t>
                      </a:r>
                      <a:r>
                        <a:rPr lang="zh-CN" altLang="en-US" sz="1100" dirty="0"/>
                        <a:t>取决型号；有些资料未公开完全精确数值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dirty="0"/>
                        <a:t>核心数范围广，从几十核（比如 </a:t>
                      </a:r>
                      <a:r>
                        <a:rPr lang="en-US" altLang="zh-CN" sz="1100" dirty="0"/>
                        <a:t>40-60 </a:t>
                      </a:r>
                      <a:r>
                        <a:rPr lang="zh-CN" altLang="en-US" sz="1100" dirty="0"/>
                        <a:t>核）到更高（某些型号为“效率核心”更多）</a:t>
                      </a:r>
                      <a:r>
                        <a:rPr lang="en-US" altLang="zh-CN" sz="1100" dirty="0"/>
                        <a:t>(</a:t>
                      </a:r>
                      <a:r>
                        <a:rPr lang="en-US" sz="1100" dirty="0">
                          <a:hlinkClick r:id="rId5" tooltip="Intel vs. AMD: How to Choose the Right Server CPU in 2025"/>
                        </a:rPr>
                        <a:t>King Servers |</a:t>
                      </a:r>
                      <a:r>
                        <a:rPr lang="en-US" sz="1100" dirty="0"/>
                        <a:t>)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/>
                        <a:t>基础频率＋提升频率（</a:t>
                      </a:r>
                      <a:r>
                        <a:rPr lang="en-US" altLang="zh-CN" sz="1100"/>
                        <a:t>boost</a:t>
                      </a:r>
                      <a:r>
                        <a:rPr lang="zh-CN" altLang="en-US" sz="1100"/>
                        <a:t>）差异大；典型 </a:t>
                      </a:r>
                      <a:r>
                        <a:rPr lang="en-US" altLang="zh-CN" sz="1100"/>
                        <a:t>boost </a:t>
                      </a:r>
                      <a:r>
                        <a:rPr lang="zh-CN" altLang="en-US" sz="1100"/>
                        <a:t>可达 </a:t>
                      </a:r>
                      <a:r>
                        <a:rPr lang="en-US" altLang="zh-CN" sz="1100"/>
                        <a:t>~3.5-4.0GHz </a:t>
                      </a:r>
                      <a:r>
                        <a:rPr lang="zh-CN" altLang="en-US" sz="1100"/>
                        <a:t>或以上，但高核心数型号在全负载下频率较低 </a:t>
                      </a:r>
                      <a:r>
                        <a:rPr lang="en-US" altLang="zh-CN" sz="1100"/>
                        <a:t>(</a:t>
                      </a:r>
                      <a:r>
                        <a:rPr lang="en-US" altLang="zh-CN" sz="1100">
                          <a:hlinkClick r:id="rId6" tooltip="Intel® Xeon® Processors"/>
                        </a:rPr>
                        <a:t>Intel</a:t>
                      </a:r>
                      <a:r>
                        <a:rPr lang="en-US" altLang="zh-CN" sz="1100"/>
                        <a:t>)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TDP／</a:t>
                      </a:r>
                      <a:r>
                        <a:rPr lang="zh-CN" altLang="en-US" sz="1100"/>
                        <a:t>功耗高；大型型号在 </a:t>
                      </a:r>
                      <a:r>
                        <a:rPr lang="en-US" altLang="zh-CN" sz="1100"/>
                        <a:t>250-500 </a:t>
                      </a:r>
                      <a:r>
                        <a:rPr lang="en-US" sz="1100"/>
                        <a:t>W </a:t>
                      </a:r>
                      <a:r>
                        <a:rPr lang="zh-CN" altLang="en-US" sz="1100"/>
                        <a:t>区间，有些型号为 </a:t>
                      </a:r>
                      <a:r>
                        <a:rPr lang="en-US" altLang="zh-CN" sz="1100"/>
                        <a:t>300+ </a:t>
                      </a:r>
                      <a:r>
                        <a:rPr lang="en-US" sz="1100"/>
                        <a:t>W </a:t>
                      </a:r>
                      <a:r>
                        <a:rPr lang="zh-CN" altLang="en-US" sz="1100"/>
                        <a:t>或 </a:t>
                      </a:r>
                      <a:r>
                        <a:rPr lang="en-US" altLang="zh-CN" sz="1100"/>
                        <a:t>400 </a:t>
                      </a:r>
                      <a:r>
                        <a:rPr lang="en-US" sz="1100"/>
                        <a:t>W；</a:t>
                      </a:r>
                      <a:r>
                        <a:rPr lang="zh-CN" altLang="en-US" sz="1100"/>
                        <a:t>中等核心数／较低功耗版本可能在 </a:t>
                      </a:r>
                      <a:r>
                        <a:rPr lang="en-US" altLang="zh-CN" sz="1100"/>
                        <a:t>~100-200 </a:t>
                      </a:r>
                      <a:r>
                        <a:rPr lang="en-US" sz="1100"/>
                        <a:t>W </a:t>
                      </a:r>
                      <a:r>
                        <a:rPr lang="zh-CN" altLang="en-US" sz="1100"/>
                        <a:t>区间</a:t>
                      </a:r>
                      <a:r>
                        <a:rPr lang="en-US" altLang="zh-CN" sz="1100"/>
                        <a:t>(</a:t>
                      </a:r>
                      <a:r>
                        <a:rPr lang="en-US" sz="1100">
                          <a:hlinkClick r:id="rId6" tooltip="Intel® Xeon® Processors"/>
                        </a:rPr>
                        <a:t>Intel</a:t>
                      </a:r>
                      <a:r>
                        <a:rPr lang="en-US" sz="1100"/>
                        <a:t>)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dirty="0"/>
                        <a:t>用于数据中心、</a:t>
                      </a:r>
                      <a:r>
                        <a:rPr lang="en-US" sz="1100" dirty="0"/>
                        <a:t>AI／HPC </a:t>
                      </a:r>
                      <a:r>
                        <a:rPr lang="zh-CN" altLang="en-US" sz="1100" dirty="0"/>
                        <a:t>任务，高内存带宽与 </a:t>
                      </a:r>
                      <a:r>
                        <a:rPr lang="en-US" sz="1100" dirty="0"/>
                        <a:t>I/O </a:t>
                      </a:r>
                      <a:r>
                        <a:rPr lang="zh-CN" altLang="en-US" sz="1100" dirty="0"/>
                        <a:t>通道要求高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546609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7140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0C34E-ED2A-8B44-75E6-1E1B18BCC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316C8D4-C4F2-384D-E101-AB15643C99E3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80305DCE-100B-CA01-4B3E-9275FE4F67BC}"/>
              </a:ext>
            </a:extLst>
          </p:cNvPr>
          <p:cNvSpPr txBox="1">
            <a:spLocks/>
          </p:cNvSpPr>
          <p:nvPr/>
        </p:nvSpPr>
        <p:spPr bwMode="auto">
          <a:xfrm>
            <a:off x="325498" y="137735"/>
            <a:ext cx="1151725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1" hangingPunct="1">
              <a:buNone/>
              <a:defRPr/>
            </a:pPr>
            <a:r>
              <a:rPr lang="en-US" altLang="zh-CN" sz="3600" dirty="0"/>
              <a:t>2.</a:t>
            </a:r>
            <a:r>
              <a:rPr lang="zh-CN" altLang="en-US" sz="3600" dirty="0"/>
              <a:t>桌面／工作站 </a:t>
            </a:r>
            <a:r>
              <a:rPr lang="en-US" altLang="zh-CN" sz="3600" dirty="0"/>
              <a:t>CPU (Desktop / Workstation CPUs)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355F380-08CC-85CF-BDA2-47C8150A5E7E}"/>
              </a:ext>
            </a:extLst>
          </p:cNvPr>
          <p:cNvGraphicFramePr>
            <a:graphicFrameLocks noGrp="1"/>
          </p:cNvGraphicFramePr>
          <p:nvPr/>
        </p:nvGraphicFramePr>
        <p:xfrm>
          <a:off x="219898" y="1814222"/>
          <a:ext cx="11728451" cy="435133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75493">
                  <a:extLst>
                    <a:ext uri="{9D8B030D-6E8A-4147-A177-3AD203B41FA5}">
                      <a16:colId xmlns:a16="http://schemas.microsoft.com/office/drawing/2014/main" val="4143406634"/>
                    </a:ext>
                  </a:extLst>
                </a:gridCol>
                <a:gridCol w="1675493">
                  <a:extLst>
                    <a:ext uri="{9D8B030D-6E8A-4147-A177-3AD203B41FA5}">
                      <a16:colId xmlns:a16="http://schemas.microsoft.com/office/drawing/2014/main" val="1586903022"/>
                    </a:ext>
                  </a:extLst>
                </a:gridCol>
                <a:gridCol w="1675493">
                  <a:extLst>
                    <a:ext uri="{9D8B030D-6E8A-4147-A177-3AD203B41FA5}">
                      <a16:colId xmlns:a16="http://schemas.microsoft.com/office/drawing/2014/main" val="704039460"/>
                    </a:ext>
                  </a:extLst>
                </a:gridCol>
                <a:gridCol w="1675493">
                  <a:extLst>
                    <a:ext uri="{9D8B030D-6E8A-4147-A177-3AD203B41FA5}">
                      <a16:colId xmlns:a16="http://schemas.microsoft.com/office/drawing/2014/main" val="26929017"/>
                    </a:ext>
                  </a:extLst>
                </a:gridCol>
                <a:gridCol w="1675493">
                  <a:extLst>
                    <a:ext uri="{9D8B030D-6E8A-4147-A177-3AD203B41FA5}">
                      <a16:colId xmlns:a16="http://schemas.microsoft.com/office/drawing/2014/main" val="3530721382"/>
                    </a:ext>
                  </a:extLst>
                </a:gridCol>
                <a:gridCol w="1675493">
                  <a:extLst>
                    <a:ext uri="{9D8B030D-6E8A-4147-A177-3AD203B41FA5}">
                      <a16:colId xmlns:a16="http://schemas.microsoft.com/office/drawing/2014/main" val="474582274"/>
                    </a:ext>
                  </a:extLst>
                </a:gridCol>
                <a:gridCol w="1675493">
                  <a:extLst>
                    <a:ext uri="{9D8B030D-6E8A-4147-A177-3AD203B41FA5}">
                      <a16:colId xmlns:a16="http://schemas.microsoft.com/office/drawing/2014/main" val="34732621"/>
                    </a:ext>
                  </a:extLst>
                </a:gridCol>
              </a:tblGrid>
              <a:tr h="483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型号</a:t>
                      </a:r>
                      <a:r>
                        <a:rPr lang="en-US" altLang="zh-CN" sz="1000"/>
                        <a:t>/</a:t>
                      </a:r>
                      <a:r>
                        <a:rPr lang="zh-CN" altLang="en-US" sz="1000"/>
                        <a:t>系列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架构 </a:t>
                      </a:r>
                      <a:r>
                        <a:rPr lang="en-US" altLang="zh-CN" sz="1000"/>
                        <a:t>/ </a:t>
                      </a:r>
                      <a:r>
                        <a:rPr lang="zh-CN" altLang="en-US" sz="1000"/>
                        <a:t>微结构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制程节点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核心 </a:t>
                      </a:r>
                      <a:r>
                        <a:rPr lang="en-US" altLang="zh-CN" sz="1000"/>
                        <a:t>/</a:t>
                      </a:r>
                      <a:r>
                        <a:rPr lang="zh-CN" altLang="en-US" sz="1000"/>
                        <a:t>线程数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主频（基础／最高 </a:t>
                      </a:r>
                      <a:r>
                        <a:rPr lang="en-US" sz="1000"/>
                        <a:t>boost）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功耗 </a:t>
                      </a:r>
                      <a:r>
                        <a:rPr lang="en-US" altLang="zh-CN" sz="1000"/>
                        <a:t>/ </a:t>
                      </a:r>
                      <a:r>
                        <a:rPr lang="en-US" sz="1000"/>
                        <a:t>TDP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代表用途 </a:t>
                      </a:r>
                      <a:r>
                        <a:rPr lang="en-US" altLang="zh-CN" sz="1000"/>
                        <a:t>/ </a:t>
                      </a:r>
                      <a:r>
                        <a:rPr lang="zh-CN" altLang="en-US" sz="1000"/>
                        <a:t>备注</a:t>
                      </a:r>
                    </a:p>
                  </a:txBody>
                  <a:tcPr marL="48348" marR="48348" marT="24174" marB="24174" anchor="ctr"/>
                </a:tc>
                <a:extLst>
                  <a:ext uri="{0D108BD9-81ED-4DB2-BD59-A6C34878D82A}">
                    <a16:rowId xmlns:a16="http://schemas.microsoft.com/office/drawing/2014/main" val="1021428742"/>
                  </a:ext>
                </a:extLst>
              </a:tr>
              <a:tr h="2369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Apple M3 / M3 Max / Pro（</a:t>
                      </a:r>
                      <a:r>
                        <a:rPr lang="zh-CN" altLang="en-US" sz="1000" b="1"/>
                        <a:t>用于 </a:t>
                      </a:r>
                      <a:r>
                        <a:rPr lang="en-US" sz="1000" b="1"/>
                        <a:t>Mac </a:t>
                      </a:r>
                      <a:r>
                        <a:rPr lang="zh-CN" altLang="en-US" sz="1000" b="1"/>
                        <a:t>工作站／桌面）</a:t>
                      </a:r>
                      <a:endParaRPr lang="zh-CN" altLang="en-US" sz="1000"/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Apple </a:t>
                      </a:r>
                      <a:r>
                        <a:rPr lang="zh-CN" altLang="en-US" sz="1000"/>
                        <a:t>自家 </a:t>
                      </a:r>
                      <a:r>
                        <a:rPr lang="en-US" sz="1000"/>
                        <a:t>ARM </a:t>
                      </a:r>
                      <a:r>
                        <a:rPr lang="zh-CN" altLang="en-US" sz="1000"/>
                        <a:t>架构 </a:t>
                      </a:r>
                      <a:r>
                        <a:rPr lang="en-US" altLang="zh-CN" sz="1000"/>
                        <a:t>+ </a:t>
                      </a:r>
                      <a:r>
                        <a:rPr lang="en-US" sz="1000"/>
                        <a:t>P-</a:t>
                      </a:r>
                      <a:r>
                        <a:rPr lang="zh-CN" altLang="en-US" sz="1000"/>
                        <a:t>核 </a:t>
                      </a:r>
                      <a:r>
                        <a:rPr lang="en-US" altLang="zh-CN" sz="1000"/>
                        <a:t>/ </a:t>
                      </a:r>
                      <a:r>
                        <a:rPr lang="en-US" sz="1000"/>
                        <a:t>E-</a:t>
                      </a:r>
                      <a:r>
                        <a:rPr lang="zh-CN" altLang="en-US" sz="1000"/>
                        <a:t>核混合设计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3nm（Apple M3 </a:t>
                      </a:r>
                      <a:r>
                        <a:rPr lang="zh-CN" altLang="en-US" sz="1000"/>
                        <a:t>使用 </a:t>
                      </a:r>
                      <a:r>
                        <a:rPr lang="en-US" sz="1000"/>
                        <a:t>TSMC </a:t>
                      </a:r>
                      <a:r>
                        <a:rPr lang="zh-CN" altLang="en-US" sz="1000"/>
                        <a:t>的 </a:t>
                      </a:r>
                      <a:r>
                        <a:rPr lang="en-US" altLang="zh-CN" sz="1000"/>
                        <a:t>3</a:t>
                      </a:r>
                      <a:r>
                        <a:rPr lang="en-US" sz="1000"/>
                        <a:t>nm-B </a:t>
                      </a:r>
                      <a:r>
                        <a:rPr lang="zh-CN" altLang="en-US" sz="1000"/>
                        <a:t>工艺）</a:t>
                      </a:r>
                      <a:r>
                        <a:rPr lang="en-US" altLang="zh-CN" sz="1000"/>
                        <a:t>(</a:t>
                      </a:r>
                      <a:r>
                        <a:rPr lang="en-US" sz="1000">
                          <a:hlinkClick r:id="rId2" tooltip="Apple Silicon - M3 chip specs"/>
                        </a:rPr>
                        <a:t>Low End Mac</a:t>
                      </a:r>
                      <a:r>
                        <a:rPr lang="en-US" sz="1000"/>
                        <a:t>)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M3：8 </a:t>
                      </a:r>
                      <a:r>
                        <a:rPr lang="zh-CN" altLang="en-US" sz="1000"/>
                        <a:t>核（</a:t>
                      </a:r>
                      <a:r>
                        <a:rPr lang="en-US" altLang="zh-CN" sz="1000"/>
                        <a:t>4 </a:t>
                      </a:r>
                      <a:r>
                        <a:rPr lang="en-US" sz="1000"/>
                        <a:t>P + 4 E）(</a:t>
                      </a:r>
                      <a:r>
                        <a:rPr lang="en-US" sz="1000">
                          <a:hlinkClick r:id="rId3" tooltip="Apple M3 Processor - Benchmarks and Specs"/>
                        </a:rPr>
                        <a:t>Notebookcheck</a:t>
                      </a:r>
                      <a:r>
                        <a:rPr lang="en-US" sz="1000"/>
                        <a:t>)；M3 Max / Pro </a:t>
                      </a:r>
                      <a:r>
                        <a:rPr lang="zh-CN" altLang="en-US" sz="1000"/>
                        <a:t>的 </a:t>
                      </a:r>
                      <a:r>
                        <a:rPr lang="en-US" sz="1000"/>
                        <a:t>P/E </a:t>
                      </a:r>
                      <a:r>
                        <a:rPr lang="zh-CN" altLang="en-US" sz="1000"/>
                        <a:t>核 </a:t>
                      </a:r>
                      <a:r>
                        <a:rPr lang="en-US" altLang="zh-CN" sz="1000"/>
                        <a:t>+ </a:t>
                      </a:r>
                      <a:r>
                        <a:rPr lang="en-US" sz="1000"/>
                        <a:t>GPU </a:t>
                      </a:r>
                      <a:r>
                        <a:rPr lang="zh-CN" altLang="en-US" sz="1000"/>
                        <a:t>核更多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Performance </a:t>
                      </a:r>
                      <a:r>
                        <a:rPr lang="zh-CN" altLang="en-US" sz="1000"/>
                        <a:t>核最高 </a:t>
                      </a:r>
                      <a:r>
                        <a:rPr lang="en-US" altLang="zh-CN" sz="1000"/>
                        <a:t>~ </a:t>
                      </a:r>
                      <a:r>
                        <a:rPr lang="en-US" altLang="zh-CN" sz="1000" b="1"/>
                        <a:t>4.05 </a:t>
                      </a:r>
                      <a:r>
                        <a:rPr lang="en-US" sz="1000" b="1"/>
                        <a:t>GHz</a:t>
                      </a:r>
                      <a:r>
                        <a:rPr lang="en-US" sz="1000"/>
                        <a:t>，</a:t>
                      </a:r>
                      <a:r>
                        <a:rPr lang="zh-CN" altLang="en-US" sz="1000"/>
                        <a:t>效率核 </a:t>
                      </a:r>
                      <a:r>
                        <a:rPr lang="en-US" altLang="zh-CN" sz="1000"/>
                        <a:t>~ </a:t>
                      </a:r>
                      <a:r>
                        <a:rPr lang="en-US" altLang="zh-CN" sz="1000" b="1"/>
                        <a:t>2.75 </a:t>
                      </a:r>
                      <a:r>
                        <a:rPr lang="en-US" sz="1000" b="1"/>
                        <a:t>GHz</a:t>
                      </a:r>
                      <a:r>
                        <a:rPr lang="en-US" sz="1000"/>
                        <a:t> (</a:t>
                      </a:r>
                      <a:r>
                        <a:rPr lang="en-US" sz="1000">
                          <a:hlinkClick r:id="rId3" tooltip="Apple M3 Processor - Benchmarks and Specs"/>
                        </a:rPr>
                        <a:t>Notebookcheck</a:t>
                      </a:r>
                      <a:r>
                        <a:rPr lang="en-US" sz="1000"/>
                        <a:t>)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功耗</a:t>
                      </a:r>
                      <a:r>
                        <a:rPr lang="en-US" altLang="zh-CN" sz="1000"/>
                        <a:t>/</a:t>
                      </a:r>
                      <a:r>
                        <a:rPr lang="zh-CN" altLang="en-US" sz="1000"/>
                        <a:t>热设计功率因为是 </a:t>
                      </a:r>
                      <a:r>
                        <a:rPr lang="en-US" sz="1000"/>
                        <a:t>SoC + Apple </a:t>
                      </a:r>
                      <a:r>
                        <a:rPr lang="zh-CN" altLang="en-US" sz="1000"/>
                        <a:t>的功耗优化，机型</a:t>
                      </a:r>
                      <a:r>
                        <a:rPr lang="en-US" altLang="zh-CN" sz="1000"/>
                        <a:t>/</a:t>
                      </a:r>
                      <a:r>
                        <a:rPr lang="zh-CN" altLang="en-US" sz="1000"/>
                        <a:t>负载不同，但典型笔记本／桌面版本在几十瓦到百多瓦区间；</a:t>
                      </a:r>
                      <a:r>
                        <a:rPr lang="en-US" sz="1000"/>
                        <a:t>MacBook Pro </a:t>
                      </a:r>
                      <a:r>
                        <a:rPr lang="zh-CN" altLang="en-US" sz="1000"/>
                        <a:t>各型号有不同限制（不是完全公开桌面 </a:t>
                      </a:r>
                      <a:r>
                        <a:rPr lang="en-US" sz="1000"/>
                        <a:t>TDP）(</a:t>
                      </a:r>
                      <a:r>
                        <a:rPr lang="en-US" sz="1000">
                          <a:hlinkClick r:id="rId4" tooltip="Apple unveils M3, M3 Pro, and M3 Max, the most advanced ..."/>
                        </a:rPr>
                        <a:t>Apple</a:t>
                      </a:r>
                      <a:r>
                        <a:rPr lang="en-US" sz="1000"/>
                        <a:t>)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高能效＋高性能，尤其单核／多媒体／</a:t>
                      </a:r>
                      <a:r>
                        <a:rPr lang="en-US" altLang="zh-CN" sz="1000"/>
                        <a:t>AI </a:t>
                      </a:r>
                      <a:r>
                        <a:rPr lang="zh-CN" altLang="en-US" sz="1000"/>
                        <a:t>辅助任务表现强</a:t>
                      </a:r>
                    </a:p>
                  </a:txBody>
                  <a:tcPr marL="48348" marR="48348" marT="24174" marB="24174" anchor="ctr"/>
                </a:tc>
                <a:extLst>
                  <a:ext uri="{0D108BD9-81ED-4DB2-BD59-A6C34878D82A}">
                    <a16:rowId xmlns:a16="http://schemas.microsoft.com/office/drawing/2014/main" val="1680901297"/>
                  </a:ext>
                </a:extLst>
              </a:tr>
              <a:tr h="1498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/>
                        <a:t>高端桌面 </a:t>
                      </a:r>
                      <a:r>
                        <a:rPr lang="en-US" sz="1000" b="1"/>
                        <a:t>CPU（</a:t>
                      </a:r>
                      <a:r>
                        <a:rPr lang="zh-CN" altLang="en-US" sz="1000" b="1"/>
                        <a:t>比如 </a:t>
                      </a:r>
                      <a:r>
                        <a:rPr lang="en-US" sz="1000" b="1"/>
                        <a:t>AMD Ryzen / Intel Core </a:t>
                      </a:r>
                      <a:r>
                        <a:rPr lang="zh-CN" altLang="en-US" sz="1000" b="1"/>
                        <a:t>系列旗舰型号）</a:t>
                      </a:r>
                      <a:endParaRPr lang="zh-CN" altLang="en-US" sz="1000"/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x86-64 </a:t>
                      </a:r>
                      <a:r>
                        <a:rPr lang="zh-CN" altLang="en-US" sz="1000"/>
                        <a:t>架构 </a:t>
                      </a:r>
                      <a:r>
                        <a:rPr lang="en-US" altLang="zh-CN" sz="1000"/>
                        <a:t>+ </a:t>
                      </a:r>
                      <a:r>
                        <a:rPr lang="zh-CN" altLang="en-US" sz="1000"/>
                        <a:t>多线程 </a:t>
                      </a:r>
                      <a:r>
                        <a:rPr lang="en-US" altLang="zh-CN" sz="1000"/>
                        <a:t>+</a:t>
                      </a:r>
                      <a:r>
                        <a:rPr lang="zh-CN" altLang="en-US" sz="1000"/>
                        <a:t>大缓存 </a:t>
                      </a:r>
                      <a:r>
                        <a:rPr lang="en-US" altLang="zh-CN" sz="1000"/>
                        <a:t>+</a:t>
                      </a:r>
                      <a:r>
                        <a:rPr lang="zh-CN" altLang="en-US" sz="1000"/>
                        <a:t>主频 </a:t>
                      </a:r>
                      <a:r>
                        <a:rPr lang="en-US" sz="1000"/>
                        <a:t>boost </a:t>
                      </a:r>
                      <a:r>
                        <a:rPr lang="zh-CN" altLang="en-US" sz="1000"/>
                        <a:t>特性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通常在 </a:t>
                      </a:r>
                      <a:r>
                        <a:rPr lang="en-US" altLang="zh-CN" sz="1000"/>
                        <a:t>5</a:t>
                      </a:r>
                      <a:r>
                        <a:rPr lang="en-US" sz="1000"/>
                        <a:t>nm ~ 7nm </a:t>
                      </a:r>
                      <a:r>
                        <a:rPr lang="zh-CN" altLang="en-US" sz="1000"/>
                        <a:t>节点（对于最新型号）或 </a:t>
                      </a:r>
                      <a:r>
                        <a:rPr lang="en-US" sz="1000"/>
                        <a:t>Intel </a:t>
                      </a:r>
                      <a:r>
                        <a:rPr lang="zh-CN" altLang="en-US" sz="1000"/>
                        <a:t>对应节点（</a:t>
                      </a:r>
                      <a:r>
                        <a:rPr lang="en-US" sz="1000"/>
                        <a:t>Intel 4 / Intel 7 </a:t>
                      </a:r>
                      <a:r>
                        <a:rPr lang="zh-CN" altLang="en-US" sz="1000"/>
                        <a:t>等）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核数范围常见 </a:t>
                      </a:r>
                      <a:r>
                        <a:rPr lang="en-US" altLang="zh-CN" sz="1000"/>
                        <a:t>8-24 </a:t>
                      </a:r>
                      <a:r>
                        <a:rPr lang="zh-CN" altLang="en-US" sz="1000"/>
                        <a:t>核；</a:t>
                      </a:r>
                      <a:r>
                        <a:rPr lang="en-US" altLang="zh-CN" sz="1000"/>
                        <a:t>Threadripper</a:t>
                      </a:r>
                      <a:r>
                        <a:rPr lang="zh-CN" altLang="en-US" sz="1000"/>
                        <a:t>／类似型号核数更高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 dirty="0"/>
                        <a:t>Boost </a:t>
                      </a:r>
                      <a:r>
                        <a:rPr lang="zh-CN" altLang="en-US" sz="1000" dirty="0"/>
                        <a:t>频率可达 </a:t>
                      </a:r>
                      <a:r>
                        <a:rPr lang="en-US" altLang="zh-CN" sz="1000" dirty="0"/>
                        <a:t>~ </a:t>
                      </a:r>
                      <a:r>
                        <a:rPr lang="en-US" altLang="zh-CN" sz="1000" b="1" dirty="0"/>
                        <a:t>5.0-5.5 GHz</a:t>
                      </a:r>
                      <a:r>
                        <a:rPr lang="zh-CN" altLang="en-US" sz="1000" dirty="0"/>
                        <a:t> 或更高但一般是短时性能；基础频率一般较低以控制功耗 </a:t>
                      </a:r>
                      <a:r>
                        <a:rPr lang="en-US" altLang="zh-CN" sz="1000" dirty="0"/>
                        <a:t>/</a:t>
                      </a:r>
                      <a:r>
                        <a:rPr lang="zh-CN" altLang="en-US" sz="1000" dirty="0"/>
                        <a:t>发热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/>
                        <a:t>功耗（</a:t>
                      </a:r>
                      <a:r>
                        <a:rPr lang="en-US" sz="1000" dirty="0"/>
                        <a:t>TDP）</a:t>
                      </a:r>
                      <a:r>
                        <a:rPr lang="zh-CN" altLang="en-US" sz="1000" dirty="0"/>
                        <a:t>从 </a:t>
                      </a:r>
                      <a:r>
                        <a:rPr lang="en-US" altLang="zh-CN" sz="1000" dirty="0"/>
                        <a:t>~65-125 </a:t>
                      </a:r>
                      <a:r>
                        <a:rPr lang="en-US" sz="1000" dirty="0"/>
                        <a:t>W </a:t>
                      </a:r>
                      <a:r>
                        <a:rPr lang="zh-CN" altLang="en-US" sz="1000" dirty="0"/>
                        <a:t>对于主流型号，高端桌面／工作站可达 </a:t>
                      </a:r>
                      <a:r>
                        <a:rPr lang="en-US" altLang="zh-CN" sz="1000" dirty="0"/>
                        <a:t>200-300 </a:t>
                      </a:r>
                      <a:r>
                        <a:rPr lang="en-US" sz="1000" dirty="0"/>
                        <a:t>W </a:t>
                      </a:r>
                      <a:r>
                        <a:rPr lang="zh-CN" altLang="en-US" sz="1000" dirty="0"/>
                        <a:t>或更高，视冷却方案与是否被节流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/>
                        <a:t>用于游戏、内容创作、</a:t>
                      </a:r>
                      <a:r>
                        <a:rPr lang="en-US" altLang="zh-CN" sz="1000" dirty="0"/>
                        <a:t>CAD</a:t>
                      </a:r>
                      <a:r>
                        <a:rPr lang="zh-CN" altLang="en-US" sz="1000" dirty="0"/>
                        <a:t>／图形／视频编辑等，需要高单核和多核并存的场景</a:t>
                      </a:r>
                    </a:p>
                  </a:txBody>
                  <a:tcPr marL="48348" marR="48348" marT="24174" marB="24174" anchor="ctr"/>
                </a:tc>
                <a:extLst>
                  <a:ext uri="{0D108BD9-81ED-4DB2-BD59-A6C34878D82A}">
                    <a16:rowId xmlns:a16="http://schemas.microsoft.com/office/drawing/2014/main" val="2038817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94730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F39EE-14FE-25A6-94F7-CD30D8E1B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492B2C-1A81-33C8-3626-2378B597062C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704A6AB9-81C9-9E9E-430F-748A022CB5CC}"/>
              </a:ext>
            </a:extLst>
          </p:cNvPr>
          <p:cNvSpPr txBox="1">
            <a:spLocks/>
          </p:cNvSpPr>
          <p:nvPr/>
        </p:nvSpPr>
        <p:spPr bwMode="auto">
          <a:xfrm>
            <a:off x="71498" y="175835"/>
            <a:ext cx="1235545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1" hangingPunct="1">
              <a:buNone/>
              <a:defRPr/>
            </a:pPr>
            <a:r>
              <a:rPr lang="en-US" altLang="zh-CN" sz="3600" dirty="0"/>
              <a:t>3. </a:t>
            </a:r>
            <a:r>
              <a:rPr lang="zh-CN" altLang="en-US" sz="3600" dirty="0"/>
              <a:t>笔记本电脑处理器 </a:t>
            </a:r>
            <a:r>
              <a:rPr lang="en-US" altLang="zh-CN" sz="3600" dirty="0"/>
              <a:t>(Laptop / Mobile</a:t>
            </a:r>
            <a:r>
              <a:rPr lang="zh-CN" altLang="en-US" sz="3600" dirty="0"/>
              <a:t>／</a:t>
            </a:r>
            <a:r>
              <a:rPr lang="en-US" altLang="zh-CN" sz="3600" dirty="0"/>
              <a:t>Notebook CPUs)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C429495-EB84-81FD-01EB-5CF14C885558}"/>
              </a:ext>
            </a:extLst>
          </p:cNvPr>
          <p:cNvGraphicFramePr>
            <a:graphicFrameLocks noGrp="1"/>
          </p:cNvGraphicFramePr>
          <p:nvPr/>
        </p:nvGraphicFramePr>
        <p:xfrm>
          <a:off x="485552" y="1870075"/>
          <a:ext cx="11220895" cy="435133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02985">
                  <a:extLst>
                    <a:ext uri="{9D8B030D-6E8A-4147-A177-3AD203B41FA5}">
                      <a16:colId xmlns:a16="http://schemas.microsoft.com/office/drawing/2014/main" val="3264743905"/>
                    </a:ext>
                  </a:extLst>
                </a:gridCol>
                <a:gridCol w="1602985">
                  <a:extLst>
                    <a:ext uri="{9D8B030D-6E8A-4147-A177-3AD203B41FA5}">
                      <a16:colId xmlns:a16="http://schemas.microsoft.com/office/drawing/2014/main" val="2848373992"/>
                    </a:ext>
                  </a:extLst>
                </a:gridCol>
                <a:gridCol w="1602985">
                  <a:extLst>
                    <a:ext uri="{9D8B030D-6E8A-4147-A177-3AD203B41FA5}">
                      <a16:colId xmlns:a16="http://schemas.microsoft.com/office/drawing/2014/main" val="2178900219"/>
                    </a:ext>
                  </a:extLst>
                </a:gridCol>
                <a:gridCol w="1602985">
                  <a:extLst>
                    <a:ext uri="{9D8B030D-6E8A-4147-A177-3AD203B41FA5}">
                      <a16:colId xmlns:a16="http://schemas.microsoft.com/office/drawing/2014/main" val="1221767426"/>
                    </a:ext>
                  </a:extLst>
                </a:gridCol>
                <a:gridCol w="1602985">
                  <a:extLst>
                    <a:ext uri="{9D8B030D-6E8A-4147-A177-3AD203B41FA5}">
                      <a16:colId xmlns:a16="http://schemas.microsoft.com/office/drawing/2014/main" val="430257416"/>
                    </a:ext>
                  </a:extLst>
                </a:gridCol>
                <a:gridCol w="1602985">
                  <a:extLst>
                    <a:ext uri="{9D8B030D-6E8A-4147-A177-3AD203B41FA5}">
                      <a16:colId xmlns:a16="http://schemas.microsoft.com/office/drawing/2014/main" val="2528008271"/>
                    </a:ext>
                  </a:extLst>
                </a:gridCol>
                <a:gridCol w="1602985">
                  <a:extLst>
                    <a:ext uri="{9D8B030D-6E8A-4147-A177-3AD203B41FA5}">
                      <a16:colId xmlns:a16="http://schemas.microsoft.com/office/drawing/2014/main" val="218847237"/>
                    </a:ext>
                  </a:extLst>
                </a:gridCol>
              </a:tblGrid>
              <a:tr h="673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型号</a:t>
                      </a:r>
                      <a:r>
                        <a:rPr lang="en-US" altLang="zh-CN" sz="1000"/>
                        <a:t>/</a:t>
                      </a:r>
                      <a:r>
                        <a:rPr lang="zh-CN" altLang="en-US" sz="1000"/>
                        <a:t>系列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/>
                        <a:t>架构设计（</a:t>
                      </a:r>
                      <a:r>
                        <a:rPr lang="en-US" sz="1000" dirty="0"/>
                        <a:t>P/E </a:t>
                      </a:r>
                      <a:r>
                        <a:rPr lang="zh-CN" altLang="en-US" sz="1000" dirty="0"/>
                        <a:t>核 </a:t>
                      </a:r>
                      <a:r>
                        <a:rPr lang="en-US" altLang="zh-CN" sz="1000" dirty="0"/>
                        <a:t>/ </a:t>
                      </a:r>
                      <a:r>
                        <a:rPr lang="zh-CN" altLang="en-US" sz="1000" dirty="0"/>
                        <a:t>混合 </a:t>
                      </a:r>
                      <a:r>
                        <a:rPr lang="en-US" altLang="zh-CN" sz="1000" dirty="0"/>
                        <a:t>/</a:t>
                      </a:r>
                      <a:r>
                        <a:rPr lang="zh-CN" altLang="en-US" sz="1000" dirty="0"/>
                        <a:t>纯性能）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制造工艺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核／线程数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主频范围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功耗 </a:t>
                      </a:r>
                      <a:r>
                        <a:rPr lang="en-US" altLang="zh-CN" sz="1000"/>
                        <a:t>/ </a:t>
                      </a:r>
                      <a:r>
                        <a:rPr lang="zh-CN" altLang="en-US" sz="1000"/>
                        <a:t>功率预算 </a:t>
                      </a:r>
                      <a:r>
                        <a:rPr lang="en-US" altLang="zh-CN" sz="1000"/>
                        <a:t>/ </a:t>
                      </a:r>
                      <a:r>
                        <a:rPr lang="zh-CN" altLang="en-US" sz="1000"/>
                        <a:t>热设计功率 </a:t>
                      </a:r>
                      <a:r>
                        <a:rPr lang="en-US" altLang="zh-CN" sz="1000"/>
                        <a:t>(PL / TDP</a:t>
                      </a:r>
                      <a:r>
                        <a:rPr lang="zh-CN" altLang="en-US" sz="1000"/>
                        <a:t>／</a:t>
                      </a:r>
                      <a:r>
                        <a:rPr lang="en-US" altLang="zh-CN" sz="1000"/>
                        <a:t>cTDP)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代表用途 </a:t>
                      </a:r>
                      <a:r>
                        <a:rPr lang="en-US" altLang="zh-CN" sz="1000"/>
                        <a:t>/</a:t>
                      </a:r>
                      <a:r>
                        <a:rPr lang="zh-CN" altLang="en-US" sz="1000"/>
                        <a:t>出货机种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668091545"/>
                  </a:ext>
                </a:extLst>
              </a:tr>
              <a:tr h="2227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Apple M3 </a:t>
                      </a:r>
                      <a:r>
                        <a:rPr lang="zh-CN" altLang="en-US" sz="1000" b="1"/>
                        <a:t>系列在笔记本</a:t>
                      </a:r>
                      <a:r>
                        <a:rPr lang="zh-CN" altLang="en-US" sz="1000"/>
                        <a:t>（</a:t>
                      </a:r>
                      <a:r>
                        <a:rPr lang="en-US" sz="1000"/>
                        <a:t>MacBook Air / Pro）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混合 </a:t>
                      </a:r>
                      <a:r>
                        <a:rPr lang="en-US" sz="1000"/>
                        <a:t>P + E </a:t>
                      </a:r>
                      <a:r>
                        <a:rPr lang="zh-CN" altLang="en-US" sz="1000"/>
                        <a:t>核设计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3nm </a:t>
                      </a:r>
                      <a:r>
                        <a:rPr lang="zh-CN" altLang="en-US" sz="1000"/>
                        <a:t>工艺 </a:t>
                      </a:r>
                      <a:r>
                        <a:rPr lang="en-US" altLang="zh-CN" sz="1000"/>
                        <a:t>(</a:t>
                      </a:r>
                      <a:r>
                        <a:rPr lang="en-US" sz="1000">
                          <a:hlinkClick r:id="rId2" tooltip="Apple Silicon - M3 chip specs"/>
                        </a:rPr>
                        <a:t>Low End Mac</a:t>
                      </a:r>
                      <a:r>
                        <a:rPr lang="en-US" sz="1000"/>
                        <a:t>)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/>
                        <a:t>8 </a:t>
                      </a:r>
                      <a:r>
                        <a:rPr lang="zh-CN" altLang="en-US" sz="1000"/>
                        <a:t>核（</a:t>
                      </a:r>
                      <a:r>
                        <a:rPr lang="en-US" altLang="zh-CN" sz="1000"/>
                        <a:t>4P + 4E</a:t>
                      </a:r>
                      <a:r>
                        <a:rPr lang="zh-CN" altLang="en-US" sz="1000"/>
                        <a:t>）为基础型号；高端型号 </a:t>
                      </a:r>
                      <a:r>
                        <a:rPr lang="en-US" altLang="zh-CN" sz="1000"/>
                        <a:t>P </a:t>
                      </a:r>
                      <a:r>
                        <a:rPr lang="zh-CN" altLang="en-US" sz="1000"/>
                        <a:t>核、</a:t>
                      </a:r>
                      <a:r>
                        <a:rPr lang="en-US" altLang="zh-CN" sz="1000"/>
                        <a:t>E </a:t>
                      </a:r>
                      <a:r>
                        <a:rPr lang="zh-CN" altLang="en-US" sz="1000"/>
                        <a:t>核更多 </a:t>
                      </a:r>
                      <a:r>
                        <a:rPr lang="en-US" altLang="zh-CN" sz="1000"/>
                        <a:t>(</a:t>
                      </a:r>
                      <a:r>
                        <a:rPr lang="en-US" altLang="zh-CN" sz="1000">
                          <a:hlinkClick r:id="rId3" tooltip="Apple unveils M3, M3 Pro, and M3 Max, the most advanced ..."/>
                        </a:rPr>
                        <a:t>Apple</a:t>
                      </a:r>
                      <a:r>
                        <a:rPr lang="en-US" altLang="zh-CN" sz="1000"/>
                        <a:t>)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P </a:t>
                      </a:r>
                      <a:r>
                        <a:rPr lang="zh-CN" altLang="en-US" sz="1000"/>
                        <a:t>核 </a:t>
                      </a:r>
                      <a:r>
                        <a:rPr lang="en-US" altLang="zh-CN" sz="1000"/>
                        <a:t>~4.0-4.05 </a:t>
                      </a:r>
                      <a:r>
                        <a:rPr lang="en-US" sz="1000"/>
                        <a:t>GHz；E </a:t>
                      </a:r>
                      <a:r>
                        <a:rPr lang="zh-CN" altLang="en-US" sz="1000"/>
                        <a:t>核 </a:t>
                      </a:r>
                      <a:r>
                        <a:rPr lang="en-US" altLang="zh-CN" sz="1000"/>
                        <a:t>~2.7-2.8 </a:t>
                      </a:r>
                      <a:r>
                        <a:rPr lang="en-US" sz="1000"/>
                        <a:t>GHz (</a:t>
                      </a:r>
                      <a:r>
                        <a:rPr lang="en-US" sz="1000">
                          <a:hlinkClick r:id="rId4" tooltip="Apple M3 Processor - Benchmarks and Specs"/>
                        </a:rPr>
                        <a:t>Notebookcheck</a:t>
                      </a:r>
                      <a:r>
                        <a:rPr lang="en-US" sz="1000"/>
                        <a:t>)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功耗随着机型重量散热不同，例如 </a:t>
                      </a:r>
                      <a:r>
                        <a:rPr lang="en-US" altLang="zh-CN" sz="1000"/>
                        <a:t>MacBook Air </a:t>
                      </a:r>
                      <a:r>
                        <a:rPr lang="zh-CN" altLang="en-US" sz="1000"/>
                        <a:t>的散热受限，持续负载频率与功耗被调低；</a:t>
                      </a:r>
                      <a:r>
                        <a:rPr lang="en-US" altLang="zh-CN" sz="1000"/>
                        <a:t>TDP </a:t>
                      </a:r>
                      <a:r>
                        <a:rPr lang="zh-CN" altLang="en-US" sz="1000"/>
                        <a:t>等效在几十瓦（例如 </a:t>
                      </a:r>
                      <a:r>
                        <a:rPr lang="en-US" altLang="zh-CN" sz="1000"/>
                        <a:t>30-60 W</a:t>
                      </a:r>
                      <a:r>
                        <a:rPr lang="zh-CN" altLang="en-US" sz="1000"/>
                        <a:t>）区间，</a:t>
                      </a:r>
                      <a:r>
                        <a:rPr lang="en-US" altLang="zh-CN" sz="1000"/>
                        <a:t>Pro</a:t>
                      </a:r>
                      <a:r>
                        <a:rPr lang="zh-CN" altLang="en-US" sz="1000"/>
                        <a:t>／</a:t>
                      </a:r>
                      <a:r>
                        <a:rPr lang="en-US" altLang="zh-CN" sz="1000"/>
                        <a:t>Max </a:t>
                      </a:r>
                      <a:r>
                        <a:rPr lang="zh-CN" altLang="en-US" sz="1000"/>
                        <a:t>型号更高一些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强调续航 </a:t>
                      </a:r>
                      <a:r>
                        <a:rPr lang="en-US" altLang="zh-CN" sz="1000"/>
                        <a:t>+ </a:t>
                      </a:r>
                      <a:r>
                        <a:rPr lang="zh-CN" altLang="en-US" sz="1000"/>
                        <a:t>良好的性能 </a:t>
                      </a:r>
                      <a:r>
                        <a:rPr lang="en-US" altLang="zh-CN" sz="1000"/>
                        <a:t>/</a:t>
                      </a:r>
                      <a:r>
                        <a:rPr lang="zh-CN" altLang="en-US" sz="1000"/>
                        <a:t>低噪音 </a:t>
                      </a:r>
                      <a:r>
                        <a:rPr lang="en-US" altLang="zh-CN" sz="1000"/>
                        <a:t>/</a:t>
                      </a:r>
                      <a:r>
                        <a:rPr lang="zh-CN" altLang="en-US" sz="1000"/>
                        <a:t>热控性能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070489792"/>
                  </a:ext>
                </a:extLst>
              </a:tr>
              <a:tr h="14504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Intel / AMD </a:t>
                      </a:r>
                      <a:r>
                        <a:rPr lang="zh-CN" altLang="en-US" sz="1000" b="1"/>
                        <a:t>在轻薄与游戏本</a:t>
                      </a:r>
                      <a:endParaRPr lang="zh-CN" altLang="en-US" sz="1000"/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混合核或纯性能核（</a:t>
                      </a:r>
                      <a:r>
                        <a:rPr lang="en-US" sz="1000"/>
                        <a:t>Intel </a:t>
                      </a:r>
                      <a:r>
                        <a:rPr lang="zh-CN" altLang="en-US" sz="1000"/>
                        <a:t>最新混合架构 </a:t>
                      </a:r>
                      <a:r>
                        <a:rPr lang="en-US" sz="1000"/>
                        <a:t>P/E、AMD </a:t>
                      </a:r>
                      <a:r>
                        <a:rPr lang="zh-CN" altLang="en-US" sz="1000"/>
                        <a:t>也在“节能核”上做布局）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多数为 </a:t>
                      </a:r>
                      <a:r>
                        <a:rPr lang="en-US" altLang="zh-CN" sz="1000"/>
                        <a:t>4nm-7nm </a:t>
                      </a:r>
                      <a:r>
                        <a:rPr lang="zh-CN" altLang="en-US" sz="1000"/>
                        <a:t>节点或 </a:t>
                      </a:r>
                      <a:r>
                        <a:rPr lang="en-US" altLang="zh-CN" sz="1000"/>
                        <a:t>Intel </a:t>
                      </a:r>
                      <a:r>
                        <a:rPr lang="zh-CN" altLang="en-US" sz="1000"/>
                        <a:t>对应工艺节点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核数从 </a:t>
                      </a:r>
                      <a:r>
                        <a:rPr lang="en-US" altLang="zh-CN" sz="1000"/>
                        <a:t>4 </a:t>
                      </a:r>
                      <a:r>
                        <a:rPr lang="zh-CN" altLang="en-US" sz="1000"/>
                        <a:t>核／</a:t>
                      </a:r>
                      <a:r>
                        <a:rPr lang="en-US" altLang="zh-CN" sz="1000"/>
                        <a:t>6 </a:t>
                      </a:r>
                      <a:r>
                        <a:rPr lang="zh-CN" altLang="en-US" sz="1000"/>
                        <a:t>核／</a:t>
                      </a:r>
                      <a:r>
                        <a:rPr lang="en-US" altLang="zh-CN" sz="1000"/>
                        <a:t>8 </a:t>
                      </a:r>
                      <a:r>
                        <a:rPr lang="zh-CN" altLang="en-US" sz="1000"/>
                        <a:t>核（轻薄本）到 </a:t>
                      </a:r>
                      <a:r>
                        <a:rPr lang="en-US" altLang="zh-CN" sz="1000"/>
                        <a:t>14-16 </a:t>
                      </a:r>
                      <a:r>
                        <a:rPr lang="zh-CN" altLang="en-US" sz="1000"/>
                        <a:t>核以上（游戏本或工作站型笔记本）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/>
                        <a:t>Boost</a:t>
                      </a:r>
                      <a:r>
                        <a:rPr lang="zh-CN" altLang="en-US" sz="1000"/>
                        <a:t>／</a:t>
                      </a:r>
                      <a:r>
                        <a:rPr lang="en-US" altLang="zh-CN" sz="1000"/>
                        <a:t>Turbo </a:t>
                      </a:r>
                      <a:r>
                        <a:rPr lang="zh-CN" altLang="en-US" sz="1000"/>
                        <a:t>高时可到 </a:t>
                      </a:r>
                      <a:r>
                        <a:rPr lang="en-US" altLang="zh-CN" sz="1000"/>
                        <a:t>~ 4.5-5.0 GHz</a:t>
                      </a:r>
                      <a:r>
                        <a:rPr lang="zh-CN" altLang="en-US" sz="1000"/>
                        <a:t>，但在满载或长时间负载下，因为功率／散热限制会降频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/>
                        <a:t>功耗预算 </a:t>
                      </a:r>
                      <a:r>
                        <a:rPr lang="en-US" sz="1000" dirty="0"/>
                        <a:t>PL1／PL2 </a:t>
                      </a:r>
                      <a:r>
                        <a:rPr lang="zh-CN" altLang="en-US" sz="1000" dirty="0"/>
                        <a:t>范围通常 </a:t>
                      </a:r>
                      <a:r>
                        <a:rPr lang="en-US" altLang="zh-CN" sz="1000" dirty="0"/>
                        <a:t>15-45 </a:t>
                      </a:r>
                      <a:r>
                        <a:rPr lang="en-US" sz="1000" dirty="0"/>
                        <a:t>W（</a:t>
                      </a:r>
                      <a:r>
                        <a:rPr lang="zh-CN" altLang="en-US" sz="1000" dirty="0"/>
                        <a:t>轻薄本），游戏本可能 </a:t>
                      </a:r>
                      <a:r>
                        <a:rPr lang="en-US" altLang="zh-CN" sz="1000" dirty="0"/>
                        <a:t>80-150 </a:t>
                      </a:r>
                      <a:r>
                        <a:rPr lang="en-US" sz="1000" dirty="0"/>
                        <a:t>W </a:t>
                      </a:r>
                      <a:r>
                        <a:rPr lang="zh-CN" altLang="en-US" sz="1000" dirty="0"/>
                        <a:t>或更高（外加 </a:t>
                      </a:r>
                      <a:r>
                        <a:rPr lang="en-US" sz="1000" dirty="0"/>
                        <a:t>GPU）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/>
                        <a:t>用途非常多样，从办公／浏览／视频为主，到游戏／</a:t>
                      </a:r>
                      <a:r>
                        <a:rPr lang="en-US" altLang="zh-CN" sz="1000" dirty="0"/>
                        <a:t>3D </a:t>
                      </a:r>
                      <a:r>
                        <a:rPr lang="zh-CN" altLang="en-US" sz="1000" dirty="0"/>
                        <a:t>渲染／机器学习等重载任务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1115159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91135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2E73A-940C-68F5-F2A6-256B8E8A8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AE8C631-65F7-4AE2-8FDF-4E48D4FC09B9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2F30A217-4125-AA75-F466-6C702D0B4A9C}"/>
              </a:ext>
            </a:extLst>
          </p:cNvPr>
          <p:cNvSpPr txBox="1">
            <a:spLocks/>
          </p:cNvSpPr>
          <p:nvPr/>
        </p:nvSpPr>
        <p:spPr bwMode="auto">
          <a:xfrm>
            <a:off x="71498" y="175835"/>
            <a:ext cx="1235545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1" hangingPunct="1">
              <a:buNone/>
              <a:defRPr/>
            </a:pPr>
            <a:r>
              <a:rPr lang="en-US" altLang="zh-CN" sz="3600" dirty="0"/>
              <a:t>4. </a:t>
            </a:r>
            <a:r>
              <a:rPr lang="zh-CN" altLang="en-US" sz="3600" dirty="0"/>
              <a:t>智能手机 </a:t>
            </a:r>
            <a:r>
              <a:rPr lang="en-US" altLang="zh-CN" sz="3600" dirty="0"/>
              <a:t>SoC (System on Chip)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28E88E1-9355-EB74-C41D-E4872AD91CDC}"/>
              </a:ext>
            </a:extLst>
          </p:cNvPr>
          <p:cNvGraphicFramePr>
            <a:graphicFrameLocks noGrp="1"/>
          </p:cNvGraphicFramePr>
          <p:nvPr/>
        </p:nvGraphicFramePr>
        <p:xfrm>
          <a:off x="254000" y="2317750"/>
          <a:ext cx="11842754" cy="343362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91822">
                  <a:extLst>
                    <a:ext uri="{9D8B030D-6E8A-4147-A177-3AD203B41FA5}">
                      <a16:colId xmlns:a16="http://schemas.microsoft.com/office/drawing/2014/main" val="1762557508"/>
                    </a:ext>
                  </a:extLst>
                </a:gridCol>
                <a:gridCol w="1691822">
                  <a:extLst>
                    <a:ext uri="{9D8B030D-6E8A-4147-A177-3AD203B41FA5}">
                      <a16:colId xmlns:a16="http://schemas.microsoft.com/office/drawing/2014/main" val="3517123395"/>
                    </a:ext>
                  </a:extLst>
                </a:gridCol>
                <a:gridCol w="1691822">
                  <a:extLst>
                    <a:ext uri="{9D8B030D-6E8A-4147-A177-3AD203B41FA5}">
                      <a16:colId xmlns:a16="http://schemas.microsoft.com/office/drawing/2014/main" val="873813408"/>
                    </a:ext>
                  </a:extLst>
                </a:gridCol>
                <a:gridCol w="1691822">
                  <a:extLst>
                    <a:ext uri="{9D8B030D-6E8A-4147-A177-3AD203B41FA5}">
                      <a16:colId xmlns:a16="http://schemas.microsoft.com/office/drawing/2014/main" val="290550240"/>
                    </a:ext>
                  </a:extLst>
                </a:gridCol>
                <a:gridCol w="1691822">
                  <a:extLst>
                    <a:ext uri="{9D8B030D-6E8A-4147-A177-3AD203B41FA5}">
                      <a16:colId xmlns:a16="http://schemas.microsoft.com/office/drawing/2014/main" val="3908995542"/>
                    </a:ext>
                  </a:extLst>
                </a:gridCol>
                <a:gridCol w="1691822">
                  <a:extLst>
                    <a:ext uri="{9D8B030D-6E8A-4147-A177-3AD203B41FA5}">
                      <a16:colId xmlns:a16="http://schemas.microsoft.com/office/drawing/2014/main" val="3938441044"/>
                    </a:ext>
                  </a:extLst>
                </a:gridCol>
                <a:gridCol w="1691822">
                  <a:extLst>
                    <a:ext uri="{9D8B030D-6E8A-4147-A177-3AD203B41FA5}">
                      <a16:colId xmlns:a16="http://schemas.microsoft.com/office/drawing/2014/main" val="4104934769"/>
                    </a:ext>
                  </a:extLst>
                </a:gridCol>
              </a:tblGrid>
              <a:tr h="326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型号</a:t>
                      </a:r>
                      <a:r>
                        <a:rPr lang="en-US" altLang="zh-CN" sz="1200"/>
                        <a:t>/</a:t>
                      </a:r>
                      <a:r>
                        <a:rPr lang="zh-CN" altLang="en-US" sz="1200"/>
                        <a:t>系列 </a:t>
                      </a:r>
                      <a:r>
                        <a:rPr lang="en-US" altLang="zh-CN" sz="1200"/>
                        <a:t>/ </a:t>
                      </a:r>
                      <a:r>
                        <a:rPr lang="zh-CN" altLang="en-US" sz="1200"/>
                        <a:t>厂商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架构 </a:t>
                      </a:r>
                      <a:r>
                        <a:rPr lang="en-US" altLang="zh-CN" sz="1200"/>
                        <a:t>(</a:t>
                      </a:r>
                      <a:r>
                        <a:rPr lang="zh-CN" altLang="en-US" sz="1200"/>
                        <a:t>核心组合</a:t>
                      </a:r>
                      <a:r>
                        <a:rPr lang="en-US" altLang="zh-CN" sz="1200"/>
                        <a:t>)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制造工艺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核心数 </a:t>
                      </a:r>
                      <a:r>
                        <a:rPr lang="en-US" altLang="zh-CN" sz="1200"/>
                        <a:t>/ </a:t>
                      </a:r>
                      <a:r>
                        <a:rPr lang="zh-CN" altLang="en-US" sz="1200"/>
                        <a:t>核心类型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主频 </a:t>
                      </a:r>
                      <a:r>
                        <a:rPr lang="en-US" altLang="zh-CN" sz="1200"/>
                        <a:t>/ </a:t>
                      </a:r>
                      <a:r>
                        <a:rPr lang="zh-CN" altLang="en-US" sz="1200"/>
                        <a:t>加速频率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功耗 </a:t>
                      </a:r>
                      <a:r>
                        <a:rPr lang="en-US" altLang="zh-CN" sz="1200"/>
                        <a:t>/ </a:t>
                      </a:r>
                      <a:r>
                        <a:rPr lang="zh-CN" altLang="en-US" sz="1200"/>
                        <a:t>热功率 </a:t>
                      </a:r>
                      <a:r>
                        <a:rPr lang="en-US" altLang="zh-CN" sz="1200"/>
                        <a:t>/</a:t>
                      </a:r>
                      <a:r>
                        <a:rPr lang="zh-CN" altLang="en-US" sz="1200"/>
                        <a:t>实用功耗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备注 </a:t>
                      </a:r>
                      <a:r>
                        <a:rPr lang="en-US" altLang="zh-CN" sz="1200"/>
                        <a:t>/</a:t>
                      </a:r>
                      <a:r>
                        <a:rPr lang="zh-CN" altLang="en-US" sz="1200"/>
                        <a:t>典型代表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2346722233"/>
                  </a:ext>
                </a:extLst>
              </a:tr>
              <a:tr h="1850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Snapdragon-</a:t>
                      </a:r>
                      <a:r>
                        <a:rPr lang="zh-CN" altLang="en-US" sz="1200" b="1"/>
                        <a:t>系列旗舰／</a:t>
                      </a:r>
                      <a:r>
                        <a:rPr lang="en-US" sz="1200" b="1"/>
                        <a:t>Qualcomm</a:t>
                      </a:r>
                      <a:endParaRPr lang="en-US" sz="1200"/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高性能 </a:t>
                      </a:r>
                      <a:r>
                        <a:rPr lang="en-US" altLang="zh-CN" sz="1200"/>
                        <a:t>+ </a:t>
                      </a:r>
                      <a:r>
                        <a:rPr lang="zh-CN" altLang="en-US" sz="1200"/>
                        <a:t>效率核混合 </a:t>
                      </a:r>
                      <a:r>
                        <a:rPr lang="en-US" sz="1200"/>
                        <a:t>ARM </a:t>
                      </a:r>
                      <a:r>
                        <a:rPr lang="zh-CN" altLang="en-US" sz="1200"/>
                        <a:t>架构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最新旗舰多用 </a:t>
                      </a:r>
                      <a:r>
                        <a:rPr lang="en-US" altLang="zh-CN" sz="1200"/>
                        <a:t>3</a:t>
                      </a:r>
                      <a:r>
                        <a:rPr lang="en-US" sz="1200"/>
                        <a:t>nm </a:t>
                      </a:r>
                      <a:r>
                        <a:rPr lang="zh-CN" altLang="en-US" sz="1200"/>
                        <a:t>或接近 </a:t>
                      </a:r>
                      <a:r>
                        <a:rPr lang="en-US" altLang="zh-CN" sz="1200"/>
                        <a:t>3</a:t>
                      </a:r>
                      <a:r>
                        <a:rPr lang="en-US" sz="1200"/>
                        <a:t>nm（</a:t>
                      </a:r>
                      <a:r>
                        <a:rPr lang="zh-CN" altLang="en-US" sz="1200"/>
                        <a:t>例如即将的 </a:t>
                      </a:r>
                      <a:r>
                        <a:rPr lang="en-US" sz="1200"/>
                        <a:t>Snapdragon 8 Elite Gen 5 </a:t>
                      </a:r>
                      <a:r>
                        <a:rPr lang="zh-CN" altLang="en-US" sz="1200"/>
                        <a:t>用 </a:t>
                      </a:r>
                      <a:r>
                        <a:rPr lang="en-US" sz="1200"/>
                        <a:t>TSMC 3nm N3P </a:t>
                      </a:r>
                      <a:r>
                        <a:rPr lang="zh-CN" altLang="en-US" sz="1200"/>
                        <a:t>工艺）</a:t>
                      </a:r>
                      <a:r>
                        <a:rPr lang="en-US" altLang="zh-CN" sz="1200"/>
                        <a:t>(</a:t>
                      </a:r>
                      <a:r>
                        <a:rPr lang="en-US" sz="1200">
                          <a:hlinkClick r:id="rId2" tooltip="Snapdragon 8 Elite Gen 5 shows up in Geekbench with a score of 3,831 - upcoming chip catches Apple's just-launched A19 Pro, beats desktop chips on single-core perf"/>
                        </a:rPr>
                        <a:t>Tom's Hardware</a:t>
                      </a:r>
                      <a:r>
                        <a:rPr lang="en-US" sz="1200"/>
                        <a:t>)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常见配置比如 </a:t>
                      </a:r>
                      <a:r>
                        <a:rPr lang="en-US" altLang="zh-CN" sz="1200"/>
                        <a:t>1-2 </a:t>
                      </a:r>
                      <a:r>
                        <a:rPr lang="zh-CN" altLang="en-US" sz="1200"/>
                        <a:t>个超大性能核心 </a:t>
                      </a:r>
                      <a:r>
                        <a:rPr lang="en-US" altLang="zh-CN" sz="1200"/>
                        <a:t>+ </a:t>
                      </a:r>
                      <a:r>
                        <a:rPr lang="zh-CN" altLang="en-US" sz="1200"/>
                        <a:t>若干中／中高 </a:t>
                      </a:r>
                      <a:r>
                        <a:rPr lang="en-US" altLang="zh-CN" sz="1200"/>
                        <a:t>+ </a:t>
                      </a:r>
                      <a:r>
                        <a:rPr lang="zh-CN" altLang="en-US" sz="1200"/>
                        <a:t>若干效率核（总核数常在 </a:t>
                      </a:r>
                      <a:r>
                        <a:rPr lang="en-US" altLang="zh-CN" sz="1200"/>
                        <a:t>8-12 </a:t>
                      </a:r>
                      <a:r>
                        <a:rPr lang="zh-CN" altLang="en-US" sz="1200"/>
                        <a:t>核）</a:t>
                      </a:r>
                      <a:r>
                        <a:rPr lang="en-US" altLang="zh-CN" sz="1200"/>
                        <a:t>(</a:t>
                      </a:r>
                      <a:r>
                        <a:rPr lang="en-US" sz="1200">
                          <a:hlinkClick r:id="rId2" tooltip="Snapdragon 8 Elite Gen 5 shows up in Geekbench with a score of 3,831 - upcoming chip catches Apple's just-launched A19 Pro, beats desktop chips on single-core perf"/>
                        </a:rPr>
                        <a:t>Tom's Hardware</a:t>
                      </a:r>
                      <a:r>
                        <a:rPr lang="en-US" sz="1200"/>
                        <a:t>)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性能核最高 </a:t>
                      </a:r>
                      <a:r>
                        <a:rPr lang="en-US" altLang="zh-CN" sz="1200"/>
                        <a:t>~ </a:t>
                      </a:r>
                      <a:r>
                        <a:rPr lang="en-US" altLang="zh-CN" sz="1200" b="1"/>
                        <a:t>4.5-5.0 </a:t>
                      </a:r>
                      <a:r>
                        <a:rPr lang="en-US" sz="1200" b="1"/>
                        <a:t>GHz</a:t>
                      </a:r>
                      <a:r>
                        <a:rPr lang="en-US" sz="1200"/>
                        <a:t>（</a:t>
                      </a:r>
                      <a:r>
                        <a:rPr lang="zh-CN" altLang="en-US" sz="1200"/>
                        <a:t>或略低），但通常加速频率因散热受限持续时间短 </a:t>
                      </a:r>
                      <a:r>
                        <a:rPr lang="en-US" altLang="zh-CN" sz="1200"/>
                        <a:t>(</a:t>
                      </a:r>
                      <a:r>
                        <a:rPr lang="en-US" sz="1200">
                          <a:hlinkClick r:id="rId2" tooltip="Snapdragon 8 Elite Gen 5 shows up in Geekbench with a score of 3,831 - upcoming chip catches Apple's just-launched A19 Pro, beats desktop chips on single-core perf"/>
                        </a:rPr>
                        <a:t>Tom's Hardware</a:t>
                      </a:r>
                      <a:r>
                        <a:rPr lang="en-US" sz="1200"/>
                        <a:t>)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手机持续功耗在多个瓦数；片上功率在全负载时可能几十瓦，但因为热限与功耗管理，多数时间功耗低很多；峰值功耗取决手机设计（散热、大小等）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强调能效比 </a:t>
                      </a:r>
                      <a:r>
                        <a:rPr lang="en-US" altLang="zh-CN" sz="1200"/>
                        <a:t>+</a:t>
                      </a:r>
                      <a:r>
                        <a:rPr lang="zh-CN" altLang="en-US" sz="1200"/>
                        <a:t>拍照 </a:t>
                      </a:r>
                      <a:r>
                        <a:rPr lang="en-US" altLang="zh-CN" sz="1200"/>
                        <a:t>+ AI </a:t>
                      </a:r>
                      <a:r>
                        <a:rPr lang="zh-CN" altLang="en-US" sz="1200"/>
                        <a:t>加速 </a:t>
                      </a:r>
                      <a:r>
                        <a:rPr lang="en-US" altLang="zh-CN" sz="1200"/>
                        <a:t>+</a:t>
                      </a:r>
                      <a:r>
                        <a:rPr lang="zh-CN" altLang="en-US" sz="1200"/>
                        <a:t>多媒体性能；生态兼容广泛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608888896"/>
                  </a:ext>
                </a:extLst>
              </a:tr>
              <a:tr h="1156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/>
                        <a:t>苹果 </a:t>
                      </a:r>
                      <a:r>
                        <a:rPr lang="en-US" sz="1200" b="1"/>
                        <a:t>A／</a:t>
                      </a:r>
                      <a:r>
                        <a:rPr lang="zh-CN" altLang="en-US" sz="1200" b="1"/>
                        <a:t>苹果芯片</a:t>
                      </a:r>
                      <a:endParaRPr lang="zh-CN" altLang="en-US" sz="1200"/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Apple </a:t>
                      </a:r>
                      <a:r>
                        <a:rPr lang="zh-CN" altLang="en-US" sz="1200"/>
                        <a:t>自家 </a:t>
                      </a:r>
                      <a:r>
                        <a:rPr lang="en-US" sz="1200"/>
                        <a:t>ARM </a:t>
                      </a:r>
                      <a:r>
                        <a:rPr lang="zh-CN" altLang="en-US" sz="1200"/>
                        <a:t>架构 </a:t>
                      </a:r>
                      <a:r>
                        <a:rPr lang="en-US" altLang="zh-CN" sz="1200"/>
                        <a:t>+ </a:t>
                      </a:r>
                      <a:r>
                        <a:rPr lang="en-US" sz="1200"/>
                        <a:t>P/E </a:t>
                      </a:r>
                      <a:r>
                        <a:rPr lang="zh-CN" altLang="en-US" sz="1200"/>
                        <a:t>核设计等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最新旗舰的 </a:t>
                      </a:r>
                      <a:r>
                        <a:rPr lang="en-US" sz="1200"/>
                        <a:t>A-</a:t>
                      </a:r>
                      <a:r>
                        <a:rPr lang="zh-CN" altLang="en-US" sz="1200"/>
                        <a:t>系列通常 </a:t>
                      </a:r>
                      <a:r>
                        <a:rPr lang="en-US" altLang="zh-CN" sz="1200"/>
                        <a:t>3</a:t>
                      </a:r>
                      <a:r>
                        <a:rPr lang="en-US" sz="1200"/>
                        <a:t>nm </a:t>
                      </a:r>
                      <a:r>
                        <a:rPr lang="zh-CN" altLang="en-US" sz="1200"/>
                        <a:t>制程（或接近）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核心数类似 </a:t>
                      </a:r>
                      <a:r>
                        <a:rPr lang="en-US" altLang="zh-CN" sz="1200"/>
                        <a:t>8-10 </a:t>
                      </a:r>
                      <a:r>
                        <a:rPr lang="zh-CN" altLang="en-US" sz="1200"/>
                        <a:t>核（具体按性能核／效率核分布）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性能核可达 </a:t>
                      </a:r>
                      <a:r>
                        <a:rPr lang="en-US" altLang="zh-CN" sz="1200"/>
                        <a:t>~3.5-4 GHz </a:t>
                      </a:r>
                      <a:r>
                        <a:rPr lang="zh-CN" altLang="en-US" sz="1200"/>
                        <a:t>或更高；效率核频率较低以提升续航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功耗控制严格；峰值功耗与 </a:t>
                      </a:r>
                      <a:r>
                        <a:rPr lang="en-US" altLang="zh-CN" sz="1200"/>
                        <a:t>Android </a:t>
                      </a:r>
                      <a:r>
                        <a:rPr lang="zh-CN" altLang="en-US" sz="1200"/>
                        <a:t>高性能芯片相比较可能在散热效率更好机型中表现更稳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在 </a:t>
                      </a:r>
                      <a:r>
                        <a:rPr lang="en-US" altLang="zh-CN" sz="1200" dirty="0"/>
                        <a:t>iPhone </a:t>
                      </a:r>
                      <a:r>
                        <a:rPr lang="zh-CN" altLang="en-US" sz="1200" dirty="0"/>
                        <a:t>旗舰中代表作品，性能／图形／系统整合通常非常好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555576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17647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8E2A6-4BDD-5AC0-1EEE-04F43650F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5">
            <a:extLst>
              <a:ext uri="{FF2B5EF4-FFF2-40B4-BE49-F238E27FC236}">
                <a16:creationId xmlns:a16="http://schemas.microsoft.com/office/drawing/2014/main" id="{37D5B933-0A38-C3A6-C4D0-A12D675E8D65}"/>
              </a:ext>
            </a:extLst>
          </p:cNvPr>
          <p:cNvSpPr txBox="1">
            <a:spLocks/>
          </p:cNvSpPr>
          <p:nvPr/>
        </p:nvSpPr>
        <p:spPr>
          <a:xfrm>
            <a:off x="0" y="1815243"/>
            <a:ext cx="12192000" cy="2134457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108000" numCol="1" rtlCol="0" anchor="ctr" anchorCtr="1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5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Machine-Level Programming I: Basics</a:t>
            </a:r>
          </a:p>
          <a:p>
            <a:pPr algn="ctr">
              <a:lnSpc>
                <a:spcPct val="150000"/>
              </a:lnSpc>
            </a:pPr>
            <a:r>
              <a:rPr lang="en-US" altLang="zh-CN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Discussion 1-1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042741CC-120A-71D7-ACA5-C2D4AE1429BF}"/>
              </a:ext>
            </a:extLst>
          </p:cNvPr>
          <p:cNvSpPr txBox="1">
            <a:spLocks/>
          </p:cNvSpPr>
          <p:nvPr/>
        </p:nvSpPr>
        <p:spPr bwMode="auto">
          <a:xfrm>
            <a:off x="4636527" y="4496524"/>
            <a:ext cx="2918945" cy="111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823652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</TotalTime>
  <Words>2951</Words>
  <Application>Microsoft Office PowerPoint</Application>
  <PresentationFormat>宽屏</PresentationFormat>
  <Paragraphs>262</Paragraphs>
  <Slides>29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等线</vt:lpstr>
      <vt:lpstr>等线 Light</vt:lpstr>
      <vt:lpstr>黑体</vt:lpstr>
      <vt:lpstr>华文细黑</vt:lpstr>
      <vt:lpstr>Arial</vt:lpstr>
      <vt:lpstr>Calibri</vt:lpstr>
      <vt:lpstr>Courier New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思远 曹</dc:creator>
  <cp:lastModifiedBy>思远 曹</cp:lastModifiedBy>
  <cp:revision>241</cp:revision>
  <dcterms:created xsi:type="dcterms:W3CDTF">2025-07-12T04:56:27Z</dcterms:created>
  <dcterms:modified xsi:type="dcterms:W3CDTF">2025-09-23T00:47:30Z</dcterms:modified>
</cp:coreProperties>
</file>