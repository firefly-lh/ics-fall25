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4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image" Target="../media/image1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1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4.xml"/><Relationship Id="rId3" Type="http://schemas.openxmlformats.org/officeDocument/2006/relationships/image" Target="../media/image4.png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Relationship Id="rId3" Type="http://schemas.openxmlformats.org/officeDocument/2006/relationships/image" Target="../media/image5.pn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0.xml"/><Relationship Id="rId4" Type="http://schemas.openxmlformats.org/officeDocument/2006/relationships/image" Target="../media/image7.jpeg"/><Relationship Id="rId3" Type="http://schemas.openxmlformats.org/officeDocument/2006/relationships/image" Target="../media/image6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3.xml"/><Relationship Id="rId3" Type="http://schemas.openxmlformats.org/officeDocument/2006/relationships/image" Target="../media/image8.png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9.xml"/><Relationship Id="rId3" Type="http://schemas.openxmlformats.org/officeDocument/2006/relationships/image" Target="../media/image9.png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研讨题</a:t>
            </a:r>
            <a:r>
              <a:rPr lang="en-US" altLang="zh-CN"/>
              <a:t>20-2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张加弛</a:t>
            </a:r>
            <a:endParaRPr lang="zh-CN" altLang="en-US"/>
          </a:p>
          <a:p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97885" y="97225"/>
            <a:ext cx="10969200" cy="705600"/>
          </a:xfrm>
        </p:spPr>
        <p:txBody>
          <a:bodyPr>
            <a:normAutofit/>
          </a:bodyPr>
          <a:p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Core i17  </a:t>
            </a:r>
            <a:r>
              <a:rPr lang="en-US" altLang="zh-CN" sz="2000">
                <a:sym typeface="+mn-ea"/>
              </a:rPr>
              <a:t>“</a:t>
            </a:r>
            <a:r>
              <a:rPr lang="zh-CN" altLang="en-US" sz="2000">
                <a:sym typeface="+mn-ea"/>
              </a:rPr>
              <a:t>学完了番茄炒鸡蛋，我们来看看满汉全席</a:t>
            </a:r>
            <a:r>
              <a:rPr lang="en-US" altLang="zh-CN" sz="2000">
                <a:sym typeface="+mn-ea"/>
              </a:rPr>
              <a:t>”</a:t>
            </a:r>
            <a:endParaRPr lang="en-US" altLang="zh-CN" sz="2000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rcRect l="18380" t="24536" r="19206" b="12702"/>
          <a:stretch>
            <a:fillRect/>
          </a:stretch>
        </p:blipFill>
        <p:spPr>
          <a:xfrm>
            <a:off x="467360" y="1313180"/>
            <a:ext cx="7595870" cy="4774565"/>
          </a:xfrm>
          <a:prstGeom prst="rect">
            <a:avLst/>
          </a:prstGeom>
        </p:spPr>
      </p:pic>
      <p:cxnSp>
        <p:nvCxnSpPr>
          <p:cNvPr id="5" name="肘形连接符 4"/>
          <p:cNvCxnSpPr/>
          <p:nvPr/>
        </p:nvCxnSpPr>
        <p:spPr>
          <a:xfrm>
            <a:off x="2138680" y="2752090"/>
            <a:ext cx="1993900" cy="598170"/>
          </a:xfrm>
          <a:prstGeom prst="bentConnector3">
            <a:avLst>
              <a:gd name="adj1" fmla="val 78503"/>
            </a:avLst>
          </a:prstGeom>
          <a:ln>
            <a:solidFill>
              <a:srgbClr val="C0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8063230" y="1136650"/>
            <a:ext cx="403479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i_cache,d_cache</a:t>
            </a:r>
            <a:r>
              <a:rPr lang="zh-CN" altLang="en-US"/>
              <a:t>分开？</a:t>
            </a:r>
            <a:endParaRPr lang="zh-CN" altLang="en-US"/>
          </a:p>
          <a:p>
            <a:r>
              <a:rPr lang="zh-CN" altLang="en-US"/>
              <a:t>哈佛架构：将程序指令存储和数据存储分开，中央处理器先到程序指令存储器中读取程序指令内容，解码后得到数据地址，再到相应的数据存储器中读取数据，并进行下一步的操作。</a:t>
            </a:r>
            <a:endParaRPr lang="zh-CN" altLang="en-US"/>
          </a:p>
          <a:p>
            <a:r>
              <a:rPr lang="zh-CN" altLang="en-US"/>
              <a:t>程序指令存储和数据存储分开，可以使指令和数据有不同的数据宽度，支持不同操作（</a:t>
            </a:r>
            <a:r>
              <a:rPr lang="en-US" altLang="zh-CN"/>
              <a:t>i-cache</a:t>
            </a:r>
            <a:r>
              <a:rPr lang="zh-CN" altLang="en-US"/>
              <a:t>只支持</a:t>
            </a:r>
            <a:r>
              <a:rPr lang="zh-CN" altLang="en-US"/>
              <a:t>读）</a:t>
            </a:r>
            <a:endParaRPr lang="zh-CN" altLang="en-US"/>
          </a:p>
          <a:p>
            <a:r>
              <a:rPr lang="en-US" altLang="zh-CN"/>
              <a:t>*</a:t>
            </a:r>
            <a:r>
              <a:rPr lang="zh-CN" altLang="en-US"/>
              <a:t>但是只在缓存级别分开，内存就混起来了，</a:t>
            </a:r>
            <a:r>
              <a:rPr lang="en-US" altLang="zh-CN"/>
              <a:t>L2 cache</a:t>
            </a:r>
            <a:r>
              <a:rPr lang="zh-CN" altLang="en-US"/>
              <a:t>已经混起来</a:t>
            </a:r>
            <a:r>
              <a:rPr lang="zh-CN" altLang="en-US"/>
              <a:t>了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en-US" altLang="zh-CN"/>
              <a:t>d-TLB,i-TLB</a:t>
            </a:r>
            <a:r>
              <a:rPr lang="zh-CN" altLang="en-US"/>
              <a:t>分开？</a:t>
            </a:r>
            <a:r>
              <a:rPr lang="zh-CN" altLang="en-US"/>
              <a:t>大小差异？</a:t>
            </a:r>
            <a:endParaRPr lang="zh-CN" altLang="en-US"/>
          </a:p>
          <a:p>
            <a:r>
              <a:rPr lang="zh-CN" altLang="en-US"/>
              <a:t>指令访问高度顺序且连续，对命中率要求很高，也因此需要更大的容量；数据访问则较为</a:t>
            </a:r>
            <a:r>
              <a:rPr lang="zh-CN" altLang="en-US"/>
              <a:t>随机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234385"/>
            <a:ext cx="10969200" cy="705600"/>
          </a:xfrm>
        </p:spPr>
        <p:txBody>
          <a:bodyPr/>
          <a:p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zh-CN" altLang="en-US"/>
              <a:t>地址转换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rcRect l="18547" t="17065" r="20107" b="12435"/>
          <a:stretch>
            <a:fillRect/>
          </a:stretch>
        </p:blipFill>
        <p:spPr>
          <a:xfrm>
            <a:off x="2077085" y="977265"/>
            <a:ext cx="8129270" cy="58400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rcRect l="23310" t="51398" r="28721" b="33870"/>
          <a:stretch>
            <a:fillRect/>
          </a:stretch>
        </p:blipFill>
        <p:spPr>
          <a:xfrm>
            <a:off x="7517130" y="101600"/>
            <a:ext cx="4365625" cy="838200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6042660" y="3533140"/>
            <a:ext cx="592455" cy="566420"/>
          </a:xfrm>
          <a:prstGeom prst="ellipse">
            <a:avLst/>
          </a:prstGeom>
          <a:noFill/>
          <a:ln w="38100"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2350135" y="3893185"/>
            <a:ext cx="1178560" cy="629285"/>
          </a:xfrm>
          <a:prstGeom prst="ellipse">
            <a:avLst/>
          </a:prstGeom>
          <a:noFill/>
          <a:ln w="3810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7343140" y="2505710"/>
            <a:ext cx="692150" cy="567055"/>
          </a:xfrm>
          <a:prstGeom prst="ellipse">
            <a:avLst/>
          </a:prstGeom>
          <a:noFill/>
          <a:ln w="38100"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9326245" y="2443480"/>
            <a:ext cx="880110" cy="629285"/>
          </a:xfrm>
          <a:prstGeom prst="ellipse">
            <a:avLst/>
          </a:prstGeom>
          <a:noFill/>
          <a:ln w="3810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99085" y="2788920"/>
            <a:ext cx="20948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7030A0"/>
                </a:solidFill>
              </a:rPr>
              <a:t>VPN</a:t>
            </a:r>
            <a:r>
              <a:rPr lang="zh-CN" altLang="en-US">
                <a:solidFill>
                  <a:srgbClr val="7030A0"/>
                </a:solidFill>
              </a:rPr>
              <a:t>的两种拆分：</a:t>
            </a:r>
            <a:r>
              <a:rPr lang="en-US" altLang="zh-CN">
                <a:solidFill>
                  <a:srgbClr val="7030A0"/>
                </a:solidFill>
              </a:rPr>
              <a:t>TLB</a:t>
            </a:r>
            <a:r>
              <a:rPr lang="zh-CN" altLang="en-US">
                <a:solidFill>
                  <a:srgbClr val="7030A0"/>
                </a:solidFill>
              </a:rPr>
              <a:t>视角</a:t>
            </a:r>
            <a:r>
              <a:rPr lang="en-US" altLang="zh-CN">
                <a:solidFill>
                  <a:srgbClr val="7030A0"/>
                </a:solidFill>
              </a:rPr>
              <a:t>/</a:t>
            </a:r>
            <a:r>
              <a:rPr lang="zh-CN" altLang="en-US">
                <a:solidFill>
                  <a:srgbClr val="7030A0"/>
                </a:solidFill>
              </a:rPr>
              <a:t>多级页表视角</a:t>
            </a:r>
            <a:endParaRPr lang="zh-CN" altLang="en-US">
              <a:solidFill>
                <a:srgbClr val="7030A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150225" y="6101080"/>
            <a:ext cx="3804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7030A0"/>
                </a:solidFill>
              </a:rPr>
              <a:t>物理地址拆分寻址：梦回</a:t>
            </a:r>
            <a:r>
              <a:rPr lang="en-US" altLang="zh-CN">
                <a:solidFill>
                  <a:srgbClr val="7030A0"/>
                </a:solidFill>
              </a:rPr>
              <a:t>cachelab</a:t>
            </a:r>
            <a:endParaRPr lang="en-US" altLang="zh-CN">
              <a:solidFill>
                <a:srgbClr val="7030A0"/>
              </a:solidFill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57930" y="228035"/>
            <a:ext cx="10969200" cy="705600"/>
          </a:xfrm>
        </p:spPr>
        <p:txBody>
          <a:bodyPr/>
          <a:p>
            <a:r>
              <a:rPr lang="en-US" altLang="zh-CN"/>
              <a:t>*</a:t>
            </a:r>
            <a:r>
              <a:rPr lang="zh-CN" altLang="en-US"/>
              <a:t>页表项</a:t>
            </a:r>
            <a:r>
              <a:rPr lang="en-US" altLang="zh-CN"/>
              <a:t>   </a:t>
            </a:r>
            <a:r>
              <a:rPr lang="zh-CN" altLang="en-US" sz="2800"/>
              <a:t>课本</a:t>
            </a:r>
            <a:r>
              <a:rPr lang="en-US" altLang="zh-CN" sz="2800"/>
              <a:t>P578~579</a:t>
            </a:r>
            <a:endParaRPr lang="en-US" altLang="zh-CN" sz="2800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rcRect l="20841" t="29260" r="20766" b="16237"/>
          <a:stretch>
            <a:fillRect/>
          </a:stretch>
        </p:blipFill>
        <p:spPr>
          <a:xfrm>
            <a:off x="608330" y="932815"/>
            <a:ext cx="9870440" cy="575881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322015"/>
            <a:ext cx="10969200" cy="705600"/>
          </a:xfrm>
        </p:spPr>
        <p:txBody>
          <a:bodyPr/>
          <a:p>
            <a:r>
              <a:rPr lang="en-US" altLang="zh-CN"/>
              <a:t>4</a:t>
            </a:r>
            <a:r>
              <a:rPr lang="zh-CN" altLang="en-US"/>
              <a:t>、</a:t>
            </a:r>
            <a:r>
              <a:rPr lang="en-US" altLang="zh-CN"/>
              <a:t>VIPT </a:t>
            </a:r>
            <a:r>
              <a:rPr lang="en-US" altLang="zh-CN" sz="2800"/>
              <a:t>(Virtually Indexed,Physically Tagged)</a:t>
            </a:r>
            <a:endParaRPr lang="en-US" altLang="zh-CN" sz="2800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rcRect l="29606" t="22708" r="26987" b="41521"/>
          <a:stretch>
            <a:fillRect/>
          </a:stretch>
        </p:blipFill>
        <p:spPr>
          <a:xfrm>
            <a:off x="2437765" y="1089660"/>
            <a:ext cx="6510655" cy="33534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674620" y="4934585"/>
            <a:ext cx="52698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CT = PPN</a:t>
            </a:r>
            <a:endParaRPr lang="en-US" altLang="zh-CN"/>
          </a:p>
          <a:p>
            <a:r>
              <a:rPr lang="en-US" altLang="zh-CN"/>
              <a:t>CI + CO = PPO = VPO 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330" y="221615"/>
            <a:ext cx="10358120" cy="617855"/>
          </a:xfrm>
        </p:spPr>
        <p:txBody>
          <a:bodyPr>
            <a:normAutofit fontScale="90000"/>
          </a:bodyPr>
          <a:p>
            <a:r>
              <a:rPr lang="en-US" altLang="zh-CN"/>
              <a:t>6</a:t>
            </a:r>
            <a:r>
              <a:rPr lang="zh-CN" altLang="en-US"/>
              <a:t>、</a:t>
            </a:r>
            <a:r>
              <a:rPr lang="en-US" altLang="zh-CN"/>
              <a:t>Linux</a:t>
            </a:r>
            <a:r>
              <a:rPr lang="zh-CN" altLang="en-US"/>
              <a:t>虚拟内存</a:t>
            </a:r>
            <a:r>
              <a:rPr lang="zh-CN" altLang="en-US"/>
              <a:t>结构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rcRect l="30831" t="25070" r="32966" b="12955"/>
          <a:stretch>
            <a:fillRect/>
          </a:stretch>
        </p:blipFill>
        <p:spPr>
          <a:xfrm>
            <a:off x="80645" y="956310"/>
            <a:ext cx="4481195" cy="4796155"/>
          </a:xfrm>
          <a:prstGeom prst="rect">
            <a:avLst/>
          </a:prstGeom>
        </p:spPr>
      </p:pic>
      <p:pic>
        <p:nvPicPr>
          <p:cNvPr id="5" name="图片 4" descr="linu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75" y="1031875"/>
            <a:ext cx="7477125" cy="500570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273120"/>
            <a:ext cx="10969200" cy="705600"/>
          </a:xfrm>
        </p:spPr>
        <p:txBody>
          <a:bodyPr/>
          <a:p>
            <a:r>
              <a:rPr lang="en-US" altLang="zh-CN"/>
              <a:t>*</a:t>
            </a:r>
            <a:r>
              <a:rPr lang="zh-CN" altLang="en-US"/>
              <a:t>缺页保护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rcRect l="18747" t="24443" r="20924" b="16664"/>
          <a:stretch>
            <a:fillRect/>
          </a:stretch>
        </p:blipFill>
        <p:spPr>
          <a:xfrm>
            <a:off x="175895" y="978535"/>
            <a:ext cx="9238615" cy="56375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889625" y="1084580"/>
            <a:ext cx="467550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r>
              <a:rPr lang="zh-CN" altLang="en-US"/>
              <a:t>、通过将引起缺页异常的虚拟地址与</a:t>
            </a:r>
            <a:r>
              <a:rPr lang="en-US" altLang="zh-CN"/>
              <a:t>vm_area_structs</a:t>
            </a:r>
            <a:r>
              <a:rPr lang="zh-CN" altLang="en-US"/>
              <a:t>链表里每一块区域的</a:t>
            </a:r>
            <a:r>
              <a:rPr lang="en-US" altLang="zh-CN"/>
              <a:t>vm_start,vm_end</a:t>
            </a:r>
            <a:r>
              <a:rPr lang="zh-CN" altLang="en-US"/>
              <a:t>进行比较，判断是否为合法虚拟地址。</a:t>
            </a:r>
            <a:endParaRPr lang="zh-CN" altLang="en-US"/>
          </a:p>
          <a:p>
            <a:r>
              <a:rPr lang="zh-CN" altLang="en-US"/>
              <a:t>如果不是，触发段错误，</a:t>
            </a:r>
            <a:r>
              <a:rPr lang="zh-CN" altLang="en-US"/>
              <a:t>终止进程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9451340" y="4880610"/>
            <a:ext cx="260667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</a:t>
            </a:r>
            <a:r>
              <a:rPr lang="zh-CN" altLang="en-US"/>
              <a:t>、已知虚拟地址合法，那试图进行的内存访问是否合法？譬如试图写入只读地址？</a:t>
            </a:r>
            <a:endParaRPr lang="zh-CN" altLang="en-US"/>
          </a:p>
          <a:p>
            <a:r>
              <a:rPr lang="zh-CN" altLang="en-US"/>
              <a:t>这种情况下，触发保护异常，</a:t>
            </a:r>
            <a:r>
              <a:rPr lang="zh-CN" altLang="en-US"/>
              <a:t>终止进程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025255" y="2799080"/>
            <a:ext cx="296735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</a:t>
            </a:r>
            <a:r>
              <a:rPr lang="zh-CN" altLang="en-US"/>
              <a:t>、判定访问合法，开始处理缺页：牺牲一个页面交换出去并更新页表，回到缺页处理前继续</a:t>
            </a:r>
            <a:r>
              <a:rPr lang="zh-CN" altLang="en-US"/>
              <a:t>进程，就可以直接翻译原来的虚拟地址</a:t>
            </a:r>
            <a:r>
              <a:rPr lang="zh-CN" altLang="en-US"/>
              <a:t>了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140405"/>
            <a:ext cx="10969200" cy="705600"/>
          </a:xfrm>
        </p:spPr>
        <p:txBody>
          <a:bodyPr/>
          <a:p>
            <a:r>
              <a:rPr lang="en-US" altLang="zh-CN" sz="3200"/>
              <a:t>7</a:t>
            </a:r>
            <a:r>
              <a:rPr lang="zh-CN" altLang="en-US" sz="3200"/>
              <a:t>、关于内存映射的概念</a:t>
            </a:r>
            <a:endParaRPr lang="zh-CN" altLang="en-US" sz="320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124640"/>
            <a:ext cx="10969200" cy="4759200"/>
          </a:xfrm>
        </p:spPr>
        <p:txBody>
          <a:bodyPr/>
          <a:p>
            <a:r>
              <a:rPr lang="zh-CN" altLang="en-US"/>
              <a:t>内存映射：通过将一个虚拟内存区域与一个磁盘上的对象关联起来，以初始化这个虚拟内存区域的</a:t>
            </a:r>
            <a:r>
              <a:rPr lang="zh-CN" altLang="en-US"/>
              <a:t>内容</a:t>
            </a:r>
            <a:endParaRPr lang="zh-CN" altLang="en-US"/>
          </a:p>
          <a:p>
            <a:r>
              <a:rPr lang="zh-CN" altLang="en-US" sz="1800">
                <a:sym typeface="+mn-ea"/>
              </a:rPr>
              <a:t>两种可能的映射到的对象</a:t>
            </a:r>
            <a:endParaRPr lang="zh-CN" altLang="en-US" sz="1800"/>
          </a:p>
          <a:p>
            <a:pPr lvl="1"/>
            <a:r>
              <a:rPr lang="zh-CN" altLang="en-US" sz="1800">
                <a:sym typeface="+mn-ea"/>
              </a:rPr>
              <a:t>普通文件：在磁盘上占据位置</a:t>
            </a:r>
            <a:endParaRPr lang="zh-CN" altLang="en-US" sz="1800"/>
          </a:p>
          <a:p>
            <a:pPr lvl="1"/>
            <a:r>
              <a:rPr lang="zh-CN" altLang="en-US" sz="1800">
                <a:sym typeface="+mn-ea"/>
              </a:rPr>
              <a:t>匿名文件：由内核创建，包含的全是二进制零，在磁盘上没有对应位置。访问时会触发缺页异常</a:t>
            </a:r>
            <a:endParaRPr lang="zh-CN" altLang="en-US"/>
          </a:p>
          <a:p>
            <a:r>
              <a:rPr lang="zh-CN" altLang="en-US"/>
              <a:t>交换文件：由内核</a:t>
            </a:r>
            <a:r>
              <a:rPr lang="zh-CN" altLang="en-US"/>
              <a:t>维护。被访问过的虚拟页面（特别是被修改过的</a:t>
            </a:r>
            <a:r>
              <a:rPr lang="en-US" altLang="zh-CN"/>
              <a:t>‘</a:t>
            </a:r>
            <a:r>
              <a:rPr lang="zh-CN" altLang="en-US"/>
              <a:t>脏页</a:t>
            </a:r>
            <a:r>
              <a:rPr lang="en-US" altLang="zh-CN"/>
              <a:t>’</a:t>
            </a:r>
            <a:r>
              <a:rPr lang="zh-CN" altLang="en-US"/>
              <a:t>），当物理内存不足时，可能会在内存和交换文件之间换入换出。暂时不活跃的页面会被换出到交换文件，需要时再换回内存。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241370"/>
            <a:ext cx="10969200" cy="705600"/>
          </a:xfrm>
        </p:spPr>
        <p:txBody>
          <a:bodyPr/>
          <a:p>
            <a:r>
              <a:rPr lang="en-US" altLang="zh-CN" sz="3200"/>
              <a:t>8</a:t>
            </a:r>
            <a:r>
              <a:rPr lang="zh-CN" altLang="en-US" sz="3200"/>
              <a:t>、关于共享对象</a:t>
            </a:r>
            <a:endParaRPr lang="zh-CN" altLang="en-US" sz="320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946840"/>
            <a:ext cx="10969200" cy="4759200"/>
          </a:xfrm>
        </p:spPr>
        <p:txBody>
          <a:bodyPr/>
          <a:p>
            <a:r>
              <a:rPr lang="en-US" altLang="zh-CN"/>
              <a:t>e.g.</a:t>
            </a:r>
            <a:r>
              <a:rPr lang="zh-CN" altLang="en-US"/>
              <a:t>父子进程共用。本质是共用相同的页表，但是映射到独立的</a:t>
            </a:r>
            <a:r>
              <a:rPr lang="zh-CN" altLang="en-US"/>
              <a:t>物理页</a:t>
            </a:r>
            <a:endParaRPr lang="zh-CN" altLang="en-US"/>
          </a:p>
          <a:p>
            <a:r>
              <a:rPr lang="zh-CN" altLang="en-US"/>
              <a:t>共用</a:t>
            </a:r>
            <a:r>
              <a:rPr lang="en-US" altLang="zh-CN"/>
              <a:t>printf</a:t>
            </a:r>
            <a:r>
              <a:rPr lang="zh-CN" altLang="en-US"/>
              <a:t>函数但是使用完全不同的参数，如何处理？</a:t>
            </a:r>
            <a:r>
              <a:rPr lang="en-US" altLang="zh-CN"/>
              <a:t>COW(Copy-on-Write)</a:t>
            </a:r>
            <a:r>
              <a:rPr lang="zh-CN" altLang="en-US"/>
              <a:t>机制</a:t>
            </a:r>
            <a:r>
              <a:rPr lang="en-US" altLang="zh-CN"/>
              <a:t>——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rcRect l="19172" t="38139" r="19763" b="11398"/>
          <a:stretch>
            <a:fillRect/>
          </a:stretch>
        </p:blipFill>
        <p:spPr>
          <a:xfrm>
            <a:off x="1257935" y="1931035"/>
            <a:ext cx="9097645" cy="4699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943</Words>
  <Application>WPS 演示</Application>
  <PresentationFormat>宽屏</PresentationFormat>
  <Paragraphs>55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张加弛</cp:lastModifiedBy>
  <cp:revision>171</cp:revision>
  <dcterms:created xsi:type="dcterms:W3CDTF">2019-06-19T02:08:00Z</dcterms:created>
  <dcterms:modified xsi:type="dcterms:W3CDTF">2025-12-03T10:14:53Z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72FCF692031B46D18436456AFDB1FEA1_11</vt:lpwstr>
  </property>
</Properties>
</file>