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60" r:id="rId4"/>
    <p:sldId id="261" r:id="rId5"/>
    <p:sldId id="262" r:id="rId6"/>
    <p:sldId id="264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7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A5B26F-F014-4118-A096-4AB0FAF6B032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22C7A5-9476-4529-A924-E6C8EC0A5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570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22C7A5-9476-4529-A924-E6C8EC0A598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550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EAD95-763D-F7A5-E19E-7ECB4E342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6C7A74-5E55-E3D7-7634-211F23C3D1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6F9DCA-6A60-32C5-6A11-34859BF499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31E749-1A38-4C02-5062-9A898D661E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22C7A5-9476-4529-A924-E6C8EC0A598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904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8FB39-594A-F2F4-1548-7927E545D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864A9F-4B3F-C557-1D19-FF8741EAE5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0E5EE7-4100-A0C2-EF1C-1206306B73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40EAAF-3F04-D3D5-1D5E-BBCDE938C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22C7A5-9476-4529-A924-E6C8EC0A598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993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BE942-715F-D7FF-CD16-58BF4B8A4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10DFD5B-30E8-02D5-A6CB-35AF588E2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011011-5DD2-6004-0282-7FA22D5979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3E89CD-9CE2-ADDD-C9A2-508F30D694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22C7A5-9476-4529-A924-E6C8EC0A598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879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7D35E8-226E-613E-DCA9-B5B45793E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93DC74-0D57-25B2-F893-D4EF62ADC9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0DB197-ABAA-CE2F-051B-A95EE8C24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9316-48ED-4E30-BC3F-64A115EA8157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21D3A1-DD97-DFB5-F58E-AFAE4B1EF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72BCB2-7F42-6BF3-D92C-F8DB8AB06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CC2B-A500-447C-BD0F-EC14F50F1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280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848B10-6AD6-7F70-54C9-A23B92463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CCA87F-64E9-6540-C13E-06B6C1785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143466-5567-496F-466E-8278B74B4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9316-48ED-4E30-BC3F-64A115EA8157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0EF65D-36F6-D389-BE06-728F7C061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B53779-FC93-1F37-4C10-F31B3DD3C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CC2B-A500-447C-BD0F-EC14F50F1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91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445BF4-7816-9765-5939-0EE83FACD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8E001F-ED48-10B0-D17E-BBE83F997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6A3CE4-E995-C546-6CC9-B412E1099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9316-48ED-4E30-BC3F-64A115EA8157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3BA8AD-A228-4790-5898-154AC01D8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7A032B-2494-540D-B32C-69169D4FF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CC2B-A500-447C-BD0F-EC14F50F1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137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4ED5E5-BC7F-7A09-2229-D96B62821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D9C7AB-F5E2-3246-C436-2E47194078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A63AC4-265C-4A09-903E-9732CC942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0B02D0-931B-ADEC-E42D-09EC04139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9316-48ED-4E30-BC3F-64A115EA8157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EFAED5-EB03-3EA6-5BCA-1ACADF203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FFF5AC-96B3-96CB-877D-190144EEF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CC2B-A500-447C-BD0F-EC14F50F1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42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3432BC-EB5F-D38C-7FF0-11B567FD7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266396-B045-CCB9-161B-0A938744B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42B2FD8-C6A1-E997-682F-79A4C9988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4D4BA1A-F28F-EA31-207D-D5D10B6158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73C0A6B-1F2A-F10E-1EF2-59425DAAEB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849053B-0535-FAA8-C1B2-6E731E344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9316-48ED-4E30-BC3F-64A115EA8157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7A383D3-DF4A-DBC4-E9BC-0B0C3D497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A6F2258-D0FE-3011-852C-6FC1E8233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CC2B-A500-447C-BD0F-EC14F50F1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648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B2062C-D5D0-F151-D464-F43679863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61C68B6-B7C4-592F-4C4F-699A12E45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9316-48ED-4E30-BC3F-64A115EA8157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918FD3F-B9E6-E4A2-D377-0E63DE3C3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029CA41-F762-169B-0073-01CDA9E12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CC2B-A500-447C-BD0F-EC14F50F1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4620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CEBCE8-A174-3C22-C515-F79305456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9316-48ED-4E30-BC3F-64A115EA8157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C082546-DC8B-D312-95ED-CD43B9170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3FBE67-9760-0DFF-7074-6EBA7E036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CC2B-A500-447C-BD0F-EC14F50F1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273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84CFA3-FA37-D312-5CF3-40BE08FC8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CC53D4-96BA-56F2-218A-32B16BA8E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70EB81-D934-F914-BF51-37A917B908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C2B873-4E3C-F01C-C3F9-9363ED385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9316-48ED-4E30-BC3F-64A115EA8157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B11C67-FEE4-977C-C7B2-C73E83F3F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EB6FD0-BD31-284A-F959-F9870EA7C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CC2B-A500-447C-BD0F-EC14F50F1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27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DC464A-A9F2-B465-A0AF-EACCED1FE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11A9B3F-B1AA-CC0E-E70F-390AF71D2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31E36D-E51C-2020-0C77-96A576216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442CC4-D3CA-8841-E14C-9A7BB48B0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9316-48ED-4E30-BC3F-64A115EA8157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6668DD-42E8-F6EF-F7BB-C64B15A2F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F44BE8-DCBD-EF22-B476-9758A614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CC2B-A500-447C-BD0F-EC14F50F1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367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2D2D58-6C52-9461-A549-D51C2631A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51F746-F573-73F6-391D-4C31DE9FE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53D61A-3769-9720-4371-E05FD40C5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9316-48ED-4E30-BC3F-64A115EA8157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2D0A26-6655-20E0-5D72-4CF26F7B3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711D7D-C046-0490-CD7A-B42FA4383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CC2B-A500-447C-BD0F-EC14F50F1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380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CCE6D5C-FCD7-4D2F-961E-96AAF1390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D862D5-A5D5-8F5A-41A5-460426B31F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E81E80-CA20-76D2-A0A2-D0BA68E3B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9316-48ED-4E30-BC3F-64A115EA8157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CD2E3E-DDE9-4C3F-6D25-2140F77F9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7F9B67-6675-404C-7E78-9F5F7D681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CC2B-A500-447C-BD0F-EC14F50F1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484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03DE2CA-40C7-4D46-2AAF-C9B2BE307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D36039-2437-9CF2-A772-87BC8D6F1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F46D06-B1EA-504A-8A91-2BE782E51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F9316-48ED-4E30-BC3F-64A115EA8157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2E226C-37C2-C0C7-CF43-2AA65FE009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941CCB-0169-8267-60BE-D8E1BC6DB4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ACC2B-A500-447C-BD0F-EC14F50F1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058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10D6FE-70C3-C2E9-6FC0-26255E058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4320"/>
            <a:ext cx="10515600" cy="5529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22.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分）整数运算中有可能会出现“除 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0 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异常”，如果这是属于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Faults 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类型的异常，是否可以在异常处理程序中，将结果修改成某个特殊值，例如全为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1 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的二进制数，然后继续执行该程序后续指令？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EDC9447-6144-F6F4-765F-C21FC8926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543" y="1878123"/>
            <a:ext cx="9184913" cy="424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265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F025D-54CD-CB42-BE8A-1B6F2F6B8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0EECBE-4117-FD43-DA6F-4D045F32C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4320"/>
            <a:ext cx="10515600" cy="5529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22.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分）整数运算中有可能会出现“除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异常”，如果这是属于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Faults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类型的异常，是否可以在异常处理程序中，将结果修改成某个特殊值，例如全为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1 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的二进制数，然后继续执行该程序后续指令？</a:t>
            </a:r>
            <a:endParaRPr lang="en-US" altLang="zh-CN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答：不可以。</a:t>
            </a:r>
            <a:endParaRPr lang="en-US" altLang="zh-CN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发生故障类型异常时，异常处理程序执行完毕后，要么返回到导致故障的指令重新执行，要么终止导致故障的程序。假设设置了结果为某个特殊值，但重新执行除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的指令时，还是会导致故障，重新运行异常处理程序，陷入异常处理的死循环。因此，必须终止程序，该程序后续指令无法被执行。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D9E5D4A-6F66-F315-5483-C77DD3CB4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69" y="4362472"/>
            <a:ext cx="10123861" cy="183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481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473E4-A333-54C3-6E24-F4C44FF98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2396A7-599C-7644-85B8-DCBF1D267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4320"/>
            <a:ext cx="10515600" cy="5529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22.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分）整数运算中有可能会出现“除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异常”，如果这是属于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Faults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类型的异常，是否可以在异常处理程序中，将结果修改成某个特殊值，例如全为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1 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的二进制数，然后继续执行该程序后续指令？</a:t>
            </a:r>
            <a:endParaRPr lang="en-US" altLang="zh-CN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假设是属于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Trap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类型的异常，那么应当可以。</a:t>
            </a:r>
            <a:endParaRPr lang="en-US" altLang="zh-CN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811AB30-8089-1FA5-737B-C4479BB45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457" y="2795552"/>
            <a:ext cx="8803085" cy="324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075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196B9-47D1-FC3E-485F-FD4D90E6C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2A836A-E8F7-271D-5C0C-9BD50D1FF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4320"/>
            <a:ext cx="3672431" cy="552935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23.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分）阅读下面这段程序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#include &lt;</a:t>
            </a:r>
            <a:r>
              <a:rPr lang="en-US" altLang="zh-CN" sz="2400" dirty="0" err="1">
                <a:latin typeface="Consolas" panose="020B0609020204030204" pitchFamily="49" charset="0"/>
                <a:ea typeface="宋体" panose="02010600030101010101" pitchFamily="2" charset="-122"/>
              </a:rPr>
              <a:t>stdio.h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#include &lt;</a:t>
            </a:r>
            <a:r>
              <a:rPr lang="en-US" altLang="zh-CN" sz="2400" dirty="0" err="1">
                <a:latin typeface="Consolas" panose="020B0609020204030204" pitchFamily="49" charset="0"/>
                <a:ea typeface="宋体" panose="02010600030101010101" pitchFamily="2" charset="-122"/>
              </a:rPr>
              <a:t>unistd.h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int main() {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  <a:ea typeface="宋体" panose="02010600030101010101" pitchFamily="2" charset="-122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("A\n");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  <a:ea typeface="宋体" panose="02010600030101010101" pitchFamily="2" charset="-122"/>
              </a:rPr>
              <a:t>pid_t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2400" dirty="0" err="1">
                <a:latin typeface="Consolas" panose="020B0609020204030204" pitchFamily="49" charset="0"/>
                <a:ea typeface="宋体" panose="02010600030101010101" pitchFamily="2" charset="-122"/>
              </a:rPr>
              <a:t>pid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 = fork();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    if (</a:t>
            </a:r>
            <a:r>
              <a:rPr lang="en-US" altLang="zh-CN" sz="2400" dirty="0" err="1">
                <a:latin typeface="Consolas" panose="020B0609020204030204" pitchFamily="49" charset="0"/>
                <a:ea typeface="宋体" panose="02010600030101010101" pitchFamily="2" charset="-122"/>
              </a:rPr>
              <a:t>pid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 == 0) {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lang="en-US" altLang="zh-CN" sz="2400" dirty="0" err="1">
                <a:latin typeface="Consolas" panose="020B0609020204030204" pitchFamily="49" charset="0"/>
                <a:ea typeface="宋体" panose="02010600030101010101" pitchFamily="2" charset="-122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("B\n");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    } else {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lang="en-US" altLang="zh-CN" sz="2400" dirty="0" err="1">
                <a:latin typeface="Consolas" panose="020B0609020204030204" pitchFamily="49" charset="0"/>
                <a:ea typeface="宋体" panose="02010600030101010101" pitchFamily="2" charset="-122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("C\n");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        fork();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    }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  <a:ea typeface="宋体" panose="02010600030101010101" pitchFamily="2" charset="-122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("D\n");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    return 0;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}</a:t>
            </a:r>
            <a:endParaRPr lang="zh-CN" altLang="en-US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642A56DC-7E7B-C474-AB87-60C275DE2F44}"/>
              </a:ext>
            </a:extLst>
          </p:cNvPr>
          <p:cNvSpPr txBox="1">
            <a:spLocks/>
          </p:cNvSpPr>
          <p:nvPr/>
        </p:nvSpPr>
        <p:spPr>
          <a:xfrm>
            <a:off x="4584273" y="664320"/>
            <a:ext cx="6726569" cy="5529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该程序正常运行后，问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）会输出几次 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D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：</a:t>
            </a:r>
            <a:endParaRPr lang="en-US" altLang="zh-CN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	3</a:t>
            </a:r>
            <a:endParaRPr lang="zh-CN" altLang="en-US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）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和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C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哪个先输出：</a:t>
            </a:r>
            <a:endParaRPr lang="en-US" altLang="zh-CN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	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无法确定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）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ACDBDD 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这个输出序列是否可能：</a:t>
            </a:r>
            <a:endParaRPr lang="en-US" altLang="zh-CN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	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DEDC65-16AD-24F5-43FD-F44C5C2FA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804" y="3505820"/>
            <a:ext cx="4587228" cy="282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786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F50F1-433C-D7A0-9DDE-3833D80B6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A1C007-AAF4-6C58-F2AB-A01EDCDE8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668" y="664319"/>
            <a:ext cx="5102332" cy="55293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Consolas" panose="020B0609020204030204" pitchFamily="49" charset="0"/>
                <a:ea typeface="宋体" panose="02010600030101010101" pitchFamily="2" charset="-122"/>
              </a:rPr>
              <a:t>stdio.h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Consolas" panose="020B0609020204030204" pitchFamily="49" charset="0"/>
                <a:ea typeface="宋体" panose="02010600030101010101" pitchFamily="2" charset="-122"/>
              </a:rPr>
              <a:t>unistd.h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#include &lt;sys/</a:t>
            </a:r>
            <a:r>
              <a:rPr lang="en-US" altLang="zh-CN" sz="2000" dirty="0" err="1">
                <a:latin typeface="Consolas" panose="020B0609020204030204" pitchFamily="49" charset="0"/>
                <a:ea typeface="宋体" panose="02010600030101010101" pitchFamily="2" charset="-122"/>
              </a:rPr>
              <a:t>wait.h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int x = 1;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int main() {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  <a:ea typeface="宋体" panose="02010600030101010101" pitchFamily="2" charset="-122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("start: x = %d\n", x);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  <a:ea typeface="宋体" panose="02010600030101010101" pitchFamily="2" charset="-122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 pid1 = fork();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    if (pid1 == 0) {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        x += 1;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Consolas" panose="020B0609020204030204" pitchFamily="49" charset="0"/>
                <a:ea typeface="宋体" panose="02010600030101010101" pitchFamily="2" charset="-122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("x = %d\n", x);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        sleep(1);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Consolas" panose="020B0609020204030204" pitchFamily="49" charset="0"/>
                <a:ea typeface="宋体" panose="02010600030101010101" pitchFamily="2" charset="-122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 pid2 = fork();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        if (pid2 == 0) {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            x += 2;</a:t>
            </a:r>
          </a:p>
          <a:p>
            <a:pPr marL="0" indent="0">
              <a:buNone/>
            </a:pPr>
            <a:endParaRPr lang="en-US" altLang="zh-CN" sz="2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79A14F1-0EE1-9822-C8D0-FE6779DFA9C7}"/>
              </a:ext>
            </a:extLst>
          </p:cNvPr>
          <p:cNvSpPr txBox="1">
            <a:spLocks/>
          </p:cNvSpPr>
          <p:nvPr/>
        </p:nvSpPr>
        <p:spPr>
          <a:xfrm>
            <a:off x="6096000" y="664320"/>
            <a:ext cx="5380027" cy="55293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            </a:t>
            </a:r>
            <a:r>
              <a:rPr lang="en-US" altLang="zh-CN" sz="2000" dirty="0" err="1">
                <a:latin typeface="Consolas" panose="020B0609020204030204" pitchFamily="49" charset="0"/>
                <a:ea typeface="宋体" panose="02010600030101010101" pitchFamily="2" charset="-122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("x = %d\n", x);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        } else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            x += 3;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            </a:t>
            </a:r>
            <a:r>
              <a:rPr lang="en-US" altLang="zh-CN" sz="2000" dirty="0" err="1">
                <a:latin typeface="Consolas" panose="020B0609020204030204" pitchFamily="49" charset="0"/>
                <a:ea typeface="宋体" panose="02010600030101010101" pitchFamily="2" charset="-122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("x = %d\n", x);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            wait(NULL);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    } else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        x += 4;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Consolas" panose="020B0609020204030204" pitchFamily="49" charset="0"/>
                <a:ea typeface="宋体" panose="02010600030101010101" pitchFamily="2" charset="-122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("x = %d\n", x);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        wait(NULL);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Consolas" panose="020B0609020204030204" pitchFamily="49" charset="0"/>
                <a:ea typeface="宋体" panose="02010600030101010101" pitchFamily="2" charset="-122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("x = %d\n", x);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    return 0;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}</a:t>
            </a:r>
            <a:endParaRPr lang="zh-CN" altLang="en-US" sz="2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3671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471DE-3CBD-5F78-F412-E507622BB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7AA94417-9545-9C69-D401-CD3C6328198B}"/>
              </a:ext>
            </a:extLst>
          </p:cNvPr>
          <p:cNvSpPr txBox="1">
            <a:spLocks/>
          </p:cNvSpPr>
          <p:nvPr/>
        </p:nvSpPr>
        <p:spPr>
          <a:xfrm>
            <a:off x="897779" y="664320"/>
            <a:ext cx="10396442" cy="5529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）（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分）这个程序正常运行，会产生几个进程？</a:t>
            </a:r>
            <a:endParaRPr lang="en-US" altLang="zh-CN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	3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）（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分）总共会输出多少行？</a:t>
            </a:r>
            <a:endParaRPr lang="en-US" altLang="zh-CN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	6</a:t>
            </a:r>
            <a:endParaRPr lang="zh-CN" altLang="en-US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）（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分）最后一行输出是：</a:t>
            </a:r>
          </a:p>
          <a:p>
            <a:pPr marL="0" indent="0">
              <a:buNone/>
            </a:pPr>
            <a:r>
              <a:rPr lang="en-US" altLang="zh-CN" sz="2400" dirty="0" err="1">
                <a:latin typeface="Consolas" panose="020B0609020204030204" pitchFamily="49" charset="0"/>
                <a:ea typeface="宋体" panose="02010600030101010101" pitchFamily="2" charset="-122"/>
              </a:rPr>
              <a:t>A.x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=2 </a:t>
            </a:r>
            <a:r>
              <a:rPr lang="en-US" altLang="zh-CN" sz="2400" dirty="0" err="1">
                <a:latin typeface="Consolas" panose="020B0609020204030204" pitchFamily="49" charset="0"/>
                <a:ea typeface="宋体" panose="02010600030101010101" pitchFamily="2" charset="-122"/>
              </a:rPr>
              <a:t>B.x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=3 </a:t>
            </a:r>
            <a:r>
              <a:rPr lang="en-US" altLang="zh-CN" sz="2400" dirty="0" err="1">
                <a:latin typeface="Consolas" panose="020B0609020204030204" pitchFamily="49" charset="0"/>
                <a:ea typeface="宋体" panose="02010600030101010101" pitchFamily="2" charset="-122"/>
              </a:rPr>
              <a:t>C.x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=4 </a:t>
            </a:r>
            <a:r>
              <a:rPr lang="en-US" altLang="zh-CN" sz="2400" dirty="0" err="1">
                <a:latin typeface="Consolas" panose="020B0609020204030204" pitchFamily="49" charset="0"/>
                <a:ea typeface="宋体" panose="02010600030101010101" pitchFamily="2" charset="-122"/>
              </a:rPr>
              <a:t>D.x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=5 </a:t>
            </a:r>
            <a:r>
              <a:rPr lang="en-US" altLang="zh-CN" sz="2400" dirty="0" err="1">
                <a:latin typeface="Consolas" panose="020B0609020204030204" pitchFamily="49" charset="0"/>
                <a:ea typeface="宋体" panose="02010600030101010101" pitchFamily="2" charset="-122"/>
              </a:rPr>
              <a:t>E.x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=6 F.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不确定</a:t>
            </a:r>
            <a:endParaRPr lang="en-US" altLang="zh-CN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	D</a:t>
            </a:r>
            <a:endParaRPr lang="zh-CN" altLang="en-US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2951979-BA21-4F67-CE08-C4C53C60D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565" y="3518708"/>
            <a:ext cx="4405149" cy="267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254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661</Words>
  <Application>Microsoft Office PowerPoint</Application>
  <PresentationFormat>宽屏</PresentationFormat>
  <Paragraphs>69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zhiyu060309@163.com</dc:creator>
  <cp:lastModifiedBy>zhiyu060309@163.com</cp:lastModifiedBy>
  <cp:revision>60</cp:revision>
  <dcterms:created xsi:type="dcterms:W3CDTF">2025-11-18T14:36:14Z</dcterms:created>
  <dcterms:modified xsi:type="dcterms:W3CDTF">2025-11-18T15:10:10Z</dcterms:modified>
</cp:coreProperties>
</file>