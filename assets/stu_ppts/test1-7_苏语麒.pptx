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273" r:id="rId4"/>
    <p:sldId id="287" r:id="rId5"/>
    <p:sldId id="269" r:id="rId6"/>
    <p:sldId id="274" r:id="rId7"/>
    <p:sldId id="270" r:id="rId8"/>
    <p:sldId id="271" r:id="rId9"/>
    <p:sldId id="285" r:id="rId10"/>
    <p:sldId id="286" r:id="rId11"/>
    <p:sldId id="276" r:id="rId12"/>
    <p:sldId id="283" r:id="rId13"/>
    <p:sldId id="275" r:id="rId14"/>
    <p:sldId id="282" r:id="rId15"/>
    <p:sldId id="28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8" autoAdjust="0"/>
    <p:restoredTop sz="94660"/>
  </p:normalViewPr>
  <p:slideViewPr>
    <p:cSldViewPr snapToGrid="0">
      <p:cViewPr varScale="1">
        <p:scale>
          <a:sx n="91" d="100"/>
          <a:sy n="91" d="100"/>
        </p:scale>
        <p:origin x="3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1F86B-534B-421D-96A5-FFE188711200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50E69-9E6E-4AE9-937E-936D90033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035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50E69-9E6E-4AE9-937E-936D9003387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613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DA90E-2AA2-416C-992D-13C4414EE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B3F0FE-9696-7F08-943E-2806F7457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F63BFC-F3DE-A6A7-632C-1EA601968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FE394A-EC40-D472-1334-C92D5798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83D015-5728-4525-4A8F-C54F1E3D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47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24BC9-415C-D70B-FA00-E5001CA4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576D66-DAA6-CF73-E8CD-7447805DC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5031F-4A62-F4F5-86EB-5044A46A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BCF2-B93B-474A-FAF4-D2FFC124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4151A-4042-419F-E0A4-B48BEBA7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99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06439-BAD2-6011-315C-7546A4F2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23D894-1F8E-9E5E-F358-6BC496A9A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68CC8E-7E1F-50E4-B79F-25275B1F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347EC8-0BE4-4FBC-3ECE-17809259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D675E-F857-82DF-5895-831B143F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90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D9626-66A5-16A9-3E7C-210D7632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DD52ED-7DC2-53A5-2BB1-51620374F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18772F-573F-CA1A-1364-D358EEAD8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8977F6-91F5-1A42-155B-24A53E1E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551497-E0A3-D898-0AA4-C09D4A9E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8134B4-C223-CB9D-6559-1F407064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05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DD553-EEC4-3F1B-7C04-8F308306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0F7222-E04A-64BA-A02A-EAC12B081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73CC7B-D103-F488-EED4-7D2DAF85B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DDA9CF-4EB8-C0B9-6438-67D54DC2C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4AA967-E263-98AA-16B8-C67C43C5A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981F2F-4D31-EA0B-C6F5-DB11B0FC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38FE0B-67A9-926E-836F-4E83C2A8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929A6C-F27F-09E4-5C8B-76FFDF69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543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2FE0A-1C2A-6F81-5069-F2145B30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A0DCE1-972D-4180-58E0-467913C0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707C58-AD00-6775-8AAF-1D95E21B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EC6205-9D8A-CE80-CAB8-D4F3361D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95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3528F1-1870-A72F-DBE2-37F1A136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2D4B11-5A57-6ECB-5D12-A1F59F0A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5173C9-84DF-3EC5-7D9F-916CB8202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107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E78C7-8180-44C4-61BE-711FA74A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A397F-BB52-D9F4-2F68-AEE6BBCBF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67D048-D53E-4422-252D-5DBD04E01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E8ACF9-1F32-2D14-9098-440869AD6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30A320-8380-F54A-6464-CF99220E9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BC2233-C527-4A5D-417B-6870E332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09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552CB-9DF5-AF36-76BD-7DC039C20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C4A2EA-77F7-9E5E-583B-B8B125D95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1D6E12-976C-7679-899F-A022F92AC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B9FC72-0C5F-A69E-F4DB-73B2D54AF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518CE3-81D1-EC5F-B594-14DBD16F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65C2A2-0062-8B08-9B2B-86C8E588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86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13F34-ABFC-2160-13F6-D8ABBE6D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0FEAB5-8069-5014-19EA-D75710B0B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7BEF7-AB5A-74E8-DEBA-D52E4306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9BF749-2ED7-3D9C-5854-647C493E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58EB25-B419-9F16-D59A-016F470E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86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3EC8E0-1E7E-4E43-3238-6F84A3B5A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935B48-443D-0D67-D23B-14E62FDD7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0D562-E101-653D-53D9-AC473EC0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5DF92-4B5E-3B6F-2AE6-6FA12EEA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3BD344-1B66-8077-96B4-20D4B431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84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F2CD72-2D58-2695-E611-6D8D1814E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6A515A-6A5D-39F4-C825-895B0F2DB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0E1362-FC30-BA99-9086-94B95E10A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B488D-49D3-46A2-BF5A-7FC0A130745C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7987CB-E813-11D9-976F-B6099A3E4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1FDD79-B808-B2F8-CFF7-7D271D999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C922B-9DBF-4448-B3D7-AC5A7310A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10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BB5BA-50A2-6E8B-57CB-A8E39A7B2D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Exam 1 </a:t>
            </a:r>
            <a:b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US" altLang="zh-CN" sz="5400" dirty="0">
                <a:latin typeface="Cambria Math" panose="02040503050406030204" pitchFamily="18" charset="0"/>
                <a:ea typeface="Cambria Math" panose="02040503050406030204" pitchFamily="18" charset="0"/>
              </a:rPr>
              <a:t>23~24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E8FEEE-632C-5E85-6C3A-756100CA7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4548"/>
            <a:ext cx="9144000" cy="1655762"/>
          </a:xfrm>
        </p:spPr>
        <p:txBody>
          <a:bodyPr/>
          <a:lstStyle/>
          <a:p>
            <a:r>
              <a:rPr lang="zh-CN" altLang="en-US" dirty="0"/>
              <a:t>苏语麒</a:t>
            </a:r>
          </a:p>
        </p:txBody>
      </p:sp>
    </p:spTree>
    <p:extLst>
      <p:ext uri="{BB962C8B-B14F-4D97-AF65-F5344CB8AC3E}">
        <p14:creationId xmlns:p14="http://schemas.microsoft.com/office/powerpoint/2010/main" val="791781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2F869128-8D51-85DA-84B7-006769542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476" y="263427"/>
            <a:ext cx="1933903" cy="1076818"/>
          </a:xfrm>
        </p:spPr>
        <p:txBody>
          <a:bodyPr/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23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6388BA1-8F05-5A6E-F331-3858FD14B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21" b="39693"/>
          <a:stretch>
            <a:fillRect/>
          </a:stretch>
        </p:blipFill>
        <p:spPr>
          <a:xfrm>
            <a:off x="213665" y="1340245"/>
            <a:ext cx="8354956" cy="369946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DEA4146-18B3-3175-FAA0-412BD3DF0FF2}"/>
              </a:ext>
            </a:extLst>
          </p:cNvPr>
          <p:cNvSpPr txBox="1"/>
          <p:nvPr/>
        </p:nvSpPr>
        <p:spPr>
          <a:xfrm>
            <a:off x="998483" y="1413642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考虑下面</a:t>
            </a:r>
            <a:r>
              <a:rPr lang="en-US" altLang="zh-CN" sz="1600" dirty="0"/>
              <a:t>c</a:t>
            </a:r>
            <a:r>
              <a:rPr lang="zh-CN" altLang="en-US" sz="1600" dirty="0"/>
              <a:t>语言代码：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43FD-D201-1DA1-EA5A-BE247891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61E2F28C-840B-93E5-6691-24EB5788104C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6C9D77A8-8053-3595-E881-4E460AEBA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2BFC79F1-20FF-78B2-BE2D-8F74656EF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476" y="263427"/>
            <a:ext cx="1933903" cy="1076818"/>
          </a:xfrm>
        </p:spPr>
        <p:txBody>
          <a:bodyPr/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23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EBB679D-11B4-4812-F0CA-F4CDA24BF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21" b="39693"/>
          <a:stretch>
            <a:fillRect/>
          </a:stretch>
        </p:blipFill>
        <p:spPr>
          <a:xfrm>
            <a:off x="213665" y="1340245"/>
            <a:ext cx="8354956" cy="369946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E5D8887-0B45-9275-6A90-88C13148DD95}"/>
              </a:ext>
            </a:extLst>
          </p:cNvPr>
          <p:cNvSpPr txBox="1"/>
          <p:nvPr/>
        </p:nvSpPr>
        <p:spPr>
          <a:xfrm>
            <a:off x="998483" y="1413642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考虑下面</a:t>
            </a:r>
            <a:r>
              <a:rPr lang="en-US" altLang="zh-CN" sz="1600" dirty="0"/>
              <a:t>c</a:t>
            </a:r>
            <a:r>
              <a:rPr lang="zh-CN" altLang="en-US" sz="1600" dirty="0"/>
              <a:t>语言代码：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E42EB7-E5E5-6925-76CA-A3DFEFCD3EA1}"/>
              </a:ext>
            </a:extLst>
          </p:cNvPr>
          <p:cNvSpPr txBox="1"/>
          <p:nvPr/>
        </p:nvSpPr>
        <p:spPr>
          <a:xfrm>
            <a:off x="6942145" y="1945742"/>
            <a:ext cx="5375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70C0"/>
                </a:solidFill>
              </a:rPr>
              <a:t>联合</a:t>
            </a:r>
            <a:r>
              <a:rPr lang="en-US" altLang="zh-CN" b="1" dirty="0">
                <a:solidFill>
                  <a:srgbClr val="0070C0"/>
                </a:solidFill>
              </a:rPr>
              <a:t>union</a:t>
            </a:r>
            <a:r>
              <a:rPr lang="zh-CN" altLang="en-US" b="1" dirty="0">
                <a:solidFill>
                  <a:srgbClr val="0070C0"/>
                </a:solidFill>
              </a:rPr>
              <a:t> </a:t>
            </a:r>
            <a:r>
              <a:rPr lang="zh-CN" altLang="en-US" dirty="0"/>
              <a:t>用不同字段引用同一内存块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作用？</a:t>
            </a:r>
          </a:p>
        </p:txBody>
      </p:sp>
    </p:spTree>
    <p:extLst>
      <p:ext uri="{BB962C8B-B14F-4D97-AF65-F5344CB8AC3E}">
        <p14:creationId xmlns:p14="http://schemas.microsoft.com/office/powerpoint/2010/main" val="408672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CB3F7-FB56-5505-4935-5448CC21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1CB97943-2719-4CE4-5990-C4D5A1E452EB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636872FF-4D85-CB27-3CDB-533B8021D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68B5CE75-5F6D-5DF3-A61A-6B25DF209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476" y="263427"/>
            <a:ext cx="1933903" cy="1076818"/>
          </a:xfrm>
        </p:spPr>
        <p:txBody>
          <a:bodyPr/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23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80E3A9-1AC0-A846-59DA-3430FCA8445C}"/>
              </a:ext>
            </a:extLst>
          </p:cNvPr>
          <p:cNvSpPr txBox="1"/>
          <p:nvPr/>
        </p:nvSpPr>
        <p:spPr>
          <a:xfrm>
            <a:off x="625427" y="1539521"/>
            <a:ext cx="5791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确定两个字段使用是互斥的时候，减小空间分配总量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Eg.</a:t>
            </a:r>
            <a:r>
              <a:rPr lang="en-US" altLang="zh-CN" dirty="0"/>
              <a:t> </a:t>
            </a:r>
            <a:r>
              <a:rPr lang="zh-CN" altLang="en-US" dirty="0"/>
              <a:t>二叉树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7F753FD-0A8B-A5E9-F019-B0F8FC5DB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63" y="2512605"/>
            <a:ext cx="4494595" cy="285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96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C8C7-8BB1-2A22-1875-395EED45D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8588517-116B-42D1-C98E-CCFF3B8BB2F4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AF67068D-0706-DA9B-BB4E-284E947E9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74F50973-D92F-7239-EF34-F06C2EF43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476" y="263427"/>
            <a:ext cx="1933903" cy="1076818"/>
          </a:xfrm>
        </p:spPr>
        <p:txBody>
          <a:bodyPr/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23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D38E3A-9B2E-B917-5C23-EA09E2B0BD4C}"/>
              </a:ext>
            </a:extLst>
          </p:cNvPr>
          <p:cNvSpPr txBox="1"/>
          <p:nvPr/>
        </p:nvSpPr>
        <p:spPr>
          <a:xfrm>
            <a:off x="685771" y="1400643"/>
            <a:ext cx="579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保持位模式不变的数据类型转换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1F698E-C618-C6C1-A96E-79C43AE27313}"/>
              </a:ext>
            </a:extLst>
          </p:cNvPr>
          <p:cNvSpPr txBox="1"/>
          <p:nvPr/>
        </p:nvSpPr>
        <p:spPr>
          <a:xfrm>
            <a:off x="982717" y="1876096"/>
            <a:ext cx="6058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简单强制类型转换：改变位模式</a:t>
            </a:r>
            <a:endParaRPr lang="en-US" altLang="zh-CN" dirty="0"/>
          </a:p>
          <a:p>
            <a:r>
              <a:rPr lang="zh-CN" altLang="en-US" dirty="0"/>
              <a:t>以另一种数据类型访问</a:t>
            </a:r>
            <a:r>
              <a:rPr lang="en-US" altLang="zh-CN" dirty="0"/>
              <a:t>union</a:t>
            </a:r>
            <a:r>
              <a:rPr lang="zh-CN" altLang="en-US" dirty="0"/>
              <a:t>中参数：两者具有一样位表示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B7E556-CCB8-D2B2-C0BD-40BDE0049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1" y="2628548"/>
            <a:ext cx="4495689" cy="41673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A8B2F14-8D52-0604-F3FB-C1D47DEAE6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683" b="8666"/>
          <a:stretch>
            <a:fillRect/>
          </a:stretch>
        </p:blipFill>
        <p:spPr>
          <a:xfrm>
            <a:off x="6022428" y="2628549"/>
            <a:ext cx="5355020" cy="92920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9D31132-17F1-3A20-CE84-69159D85D463}"/>
              </a:ext>
            </a:extLst>
          </p:cNvPr>
          <p:cNvSpPr txBox="1"/>
          <p:nvPr/>
        </p:nvSpPr>
        <p:spPr>
          <a:xfrm>
            <a:off x="6022428" y="3718513"/>
            <a:ext cx="44301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Check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(4624954748829528228)</a:t>
            </a:r>
            <a:r>
              <a:rPr lang="en-US" altLang="zh-CN" baseline="-25000" dirty="0"/>
              <a:t>10</a:t>
            </a:r>
            <a:r>
              <a:rPr lang="zh-CN" altLang="en-US" dirty="0"/>
              <a:t> </a:t>
            </a:r>
            <a:r>
              <a:rPr lang="en-US" altLang="zh-CN" dirty="0"/>
              <a:t>=</a:t>
            </a:r>
          </a:p>
          <a:p>
            <a:r>
              <a:rPr lang="en-US" altLang="zh-CN" dirty="0"/>
              <a:t>(0</a:t>
            </a:r>
            <a:r>
              <a:rPr lang="en-US" altLang="zh-CN" dirty="0">
                <a:solidFill>
                  <a:srgbClr val="FF0000"/>
                </a:solidFill>
              </a:rPr>
              <a:t>10000000010</a:t>
            </a:r>
            <a:r>
              <a:rPr lang="en-US" altLang="zh-CN" dirty="0">
                <a:solidFill>
                  <a:srgbClr val="00B050"/>
                </a:solidFill>
              </a:rPr>
              <a:t>1111001000111101011100001010001111010111000010100100</a:t>
            </a:r>
            <a:r>
              <a:rPr lang="en-US" altLang="zh-CN" dirty="0"/>
              <a:t>)</a:t>
            </a:r>
            <a:r>
              <a:rPr lang="en-US" altLang="zh-CN" baseline="-25000" dirty="0"/>
              <a:t>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96F24B-17E1-0DCF-6F4C-AC88C371D3F7}"/>
              </a:ext>
            </a:extLst>
          </p:cNvPr>
          <p:cNvSpPr txBox="1"/>
          <p:nvPr/>
        </p:nvSpPr>
        <p:spPr>
          <a:xfrm>
            <a:off x="6022428" y="4918842"/>
            <a:ext cx="3978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 </a:t>
            </a:r>
            <a:r>
              <a:rPr lang="en-US" altLang="zh-CN" dirty="0"/>
              <a:t>= exp – 1023 = 3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M</a:t>
            </a:r>
            <a:r>
              <a:rPr lang="en-US" altLang="zh-CN" dirty="0"/>
              <a:t> = 1.1111001……</a:t>
            </a:r>
          </a:p>
          <a:p>
            <a:r>
              <a:rPr lang="en-US" altLang="zh-CN" dirty="0"/>
              <a:t>V</a:t>
            </a:r>
            <a:r>
              <a:rPr lang="zh-CN" altLang="en-US" dirty="0"/>
              <a:t>≈</a:t>
            </a:r>
            <a:r>
              <a:rPr lang="en-US" altLang="zh-CN" dirty="0"/>
              <a:t>15.57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745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D105-6D7C-C398-82D8-491BF1CC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43CBB213-A695-84C6-3B2D-F20D5146E1CC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69CF2E03-A4E5-63ED-A608-744216AF5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E4F9D4E3-3B58-C15E-3388-4117B7A08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476" y="263427"/>
            <a:ext cx="1933903" cy="1076818"/>
          </a:xfrm>
        </p:spPr>
        <p:txBody>
          <a:bodyPr/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23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42C0344-E92F-4D67-C60B-3B1997D8E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21" b="39693"/>
          <a:stretch>
            <a:fillRect/>
          </a:stretch>
        </p:blipFill>
        <p:spPr>
          <a:xfrm>
            <a:off x="213665" y="1340245"/>
            <a:ext cx="8354956" cy="369946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AA0E14C-2E3E-0126-790D-C9D3C34FA437}"/>
              </a:ext>
            </a:extLst>
          </p:cNvPr>
          <p:cNvSpPr txBox="1"/>
          <p:nvPr/>
        </p:nvSpPr>
        <p:spPr>
          <a:xfrm>
            <a:off x="998483" y="1413642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考虑下面</a:t>
            </a:r>
            <a:r>
              <a:rPr lang="en-US" altLang="zh-CN" sz="1600" dirty="0"/>
              <a:t>c</a:t>
            </a:r>
            <a:r>
              <a:rPr lang="zh-CN" altLang="en-US" sz="1600" dirty="0"/>
              <a:t>语言代码：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1B09DF-5928-166C-D018-D44FD6F90FC3}"/>
              </a:ext>
            </a:extLst>
          </p:cNvPr>
          <p:cNvSpPr txBox="1"/>
          <p:nvPr/>
        </p:nvSpPr>
        <p:spPr>
          <a:xfrm>
            <a:off x="6665449" y="1752196"/>
            <a:ext cx="53759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内存布局：</a:t>
            </a:r>
            <a:r>
              <a:rPr lang="en-IE" altLang="zh-CN" dirty="0"/>
              <a:t>C0 C1 C2 C3 C4 C5 C6 C7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70C0"/>
                </a:solidFill>
              </a:rPr>
              <a:t>大端法  </a:t>
            </a:r>
            <a:r>
              <a:rPr lang="zh-CN" altLang="en-US" dirty="0"/>
              <a:t>最高有效字节（</a:t>
            </a:r>
            <a:r>
              <a:rPr lang="en-US" altLang="zh-CN" dirty="0"/>
              <a:t>MSB</a:t>
            </a:r>
            <a:r>
              <a:rPr lang="zh-CN" altLang="en-US" dirty="0"/>
              <a:t>）存储在最低地址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对于一个</a:t>
            </a:r>
            <a:r>
              <a:rPr lang="en-US" altLang="zh-CN" dirty="0"/>
              <a:t>int:</a:t>
            </a:r>
          </a:p>
          <a:p>
            <a:r>
              <a:rPr lang="en-US" altLang="zh-CN" dirty="0"/>
              <a:t>      C0 </a:t>
            </a:r>
            <a:r>
              <a:rPr lang="zh-CN" altLang="en-US" dirty="0"/>
              <a:t>是最高位字节</a:t>
            </a:r>
            <a:endParaRPr lang="en-US" altLang="zh-CN" dirty="0"/>
          </a:p>
          <a:p>
            <a:r>
              <a:rPr lang="en-US" altLang="zh-CN" dirty="0"/>
              <a:t>      C3 </a:t>
            </a:r>
            <a:r>
              <a:rPr lang="zh-CN" altLang="en-US" dirty="0"/>
              <a:t>是最低位字节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3F782347-1E46-2455-B32C-9E0830F6DF21}"/>
              </a:ext>
            </a:extLst>
          </p:cNvPr>
          <p:cNvSpPr/>
          <p:nvPr/>
        </p:nvSpPr>
        <p:spPr>
          <a:xfrm rot="5400000">
            <a:off x="8688657" y="1104689"/>
            <a:ext cx="173423" cy="1156138"/>
          </a:xfrm>
          <a:prstGeom prst="leftBrace">
            <a:avLst>
              <a:gd name="adj1" fmla="val 8333"/>
              <a:gd name="adj2" fmla="val 495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634C5F49-198F-DB04-A4A6-3D4899953E08}"/>
              </a:ext>
            </a:extLst>
          </p:cNvPr>
          <p:cNvSpPr/>
          <p:nvPr/>
        </p:nvSpPr>
        <p:spPr>
          <a:xfrm rot="5400000">
            <a:off x="10032652" y="1104689"/>
            <a:ext cx="173423" cy="1156138"/>
          </a:xfrm>
          <a:prstGeom prst="leftBrace">
            <a:avLst>
              <a:gd name="adj1" fmla="val 8333"/>
              <a:gd name="adj2" fmla="val 495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38F86E-0910-7C4C-D96F-011B8927E868}"/>
              </a:ext>
            </a:extLst>
          </p:cNvPr>
          <p:cNvSpPr txBox="1"/>
          <p:nvPr/>
        </p:nvSpPr>
        <p:spPr>
          <a:xfrm>
            <a:off x="8336805" y="1366344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dw.i</a:t>
            </a:r>
            <a:r>
              <a:rPr lang="en-US" altLang="zh-CN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[0]</a:t>
            </a:r>
            <a:endParaRPr lang="zh-CN" altLang="en-US" sz="1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08AA4A-1CCE-C18E-B2C3-6AE1C9358E7C}"/>
              </a:ext>
            </a:extLst>
          </p:cNvPr>
          <p:cNvSpPr txBox="1"/>
          <p:nvPr/>
        </p:nvSpPr>
        <p:spPr>
          <a:xfrm>
            <a:off x="9718000" y="1340245"/>
            <a:ext cx="9252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dw.i</a:t>
            </a:r>
            <a:r>
              <a:rPr lang="en-US" altLang="zh-CN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[1]</a:t>
            </a:r>
            <a:endParaRPr lang="zh-CN" altLang="en-US" sz="1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1B5C69-7C79-5260-6C35-0470517892B8}"/>
              </a:ext>
            </a:extLst>
          </p:cNvPr>
          <p:cNvSpPr txBox="1"/>
          <p:nvPr/>
        </p:nvSpPr>
        <p:spPr>
          <a:xfrm>
            <a:off x="2906406" y="46703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0xC0C1C2C3, 0xC4C5C6C7</a:t>
            </a:r>
          </a:p>
        </p:txBody>
      </p:sp>
    </p:spTree>
    <p:extLst>
      <p:ext uri="{BB962C8B-B14F-4D97-AF65-F5344CB8AC3E}">
        <p14:creationId xmlns:p14="http://schemas.microsoft.com/office/powerpoint/2010/main" val="2396333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5F20-C221-6620-5B67-0F182079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A2054989-35F3-7EB0-529A-57041986C534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CDE7318-BFFF-7931-1A96-56FC507CE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7B0129A8-DA92-1CC0-9C25-95639B1A7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476" y="263427"/>
            <a:ext cx="1933903" cy="1076818"/>
          </a:xfrm>
        </p:spPr>
        <p:txBody>
          <a:bodyPr/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24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0CF309-F974-912A-9C72-0632A772F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53"/>
          <a:stretch>
            <a:fillRect/>
          </a:stretch>
        </p:blipFill>
        <p:spPr>
          <a:xfrm>
            <a:off x="549580" y="1439672"/>
            <a:ext cx="9401508" cy="463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1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4E43-07C2-AB4E-496B-C967D93A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64D4D26-88A0-2B86-E26E-62793B0F418F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CC6FD5AD-C163-FC0A-E1AB-749D5DB78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C0E63E4A-C06D-FCFC-CB37-A618C8D82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0017" y="124549"/>
            <a:ext cx="7054655" cy="1076818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栈初始位置随机化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1DA2CA-331B-91E6-13B6-FF97AED6EAE3}"/>
              </a:ext>
            </a:extLst>
          </p:cNvPr>
          <p:cNvSpPr txBox="1"/>
          <p:nvPr/>
        </p:nvSpPr>
        <p:spPr>
          <a:xfrm>
            <a:off x="861788" y="2091305"/>
            <a:ext cx="537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Linux</a:t>
            </a:r>
            <a:r>
              <a:rPr lang="zh-CN" altLang="en-US" b="1" dirty="0"/>
              <a:t>系统中，栈随机化已经是</a:t>
            </a:r>
            <a:r>
              <a:rPr lang="zh-CN" altLang="en-US" b="1" dirty="0">
                <a:solidFill>
                  <a:srgbClr val="0070C0"/>
                </a:solidFill>
              </a:rPr>
              <a:t>标准行为</a:t>
            </a:r>
            <a:endParaRPr lang="en-US" altLang="zh-CN" b="1" dirty="0">
              <a:solidFill>
                <a:srgbClr val="0070C0"/>
              </a:solidFill>
            </a:endParaRPr>
          </a:p>
          <a:p>
            <a:endParaRPr lang="en-US" altLang="zh-CN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18947E-29E3-378B-232B-90751B2FB9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133"/>
          <a:stretch>
            <a:fillRect/>
          </a:stretch>
        </p:blipFill>
        <p:spPr>
          <a:xfrm>
            <a:off x="5662232" y="1980092"/>
            <a:ext cx="3064023" cy="4654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437AD7-F8A9-3A2B-D262-A7A9CF729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094" y="1980092"/>
            <a:ext cx="2578511" cy="466509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A7FC683-DA65-0ED8-1C00-6E714C34A39F}"/>
              </a:ext>
            </a:extLst>
          </p:cNvPr>
          <p:cNvSpPr txBox="1"/>
          <p:nvPr/>
        </p:nvSpPr>
        <p:spPr>
          <a:xfrm>
            <a:off x="5662232" y="1179091"/>
            <a:ext cx="86250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$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for ((i=1; i&lt;=100; i++));  </a:t>
            </a:r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	//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可执行文件运行</a:t>
            </a:r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100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次</a:t>
            </a:r>
            <a:endParaRPr lang="en-US" altLang="zh-CN" sz="16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do ./</a:t>
            </a:r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local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&gt;&gt; locals.txt 2&gt;&amp;1; </a:t>
            </a:r>
            <a:endParaRPr lang="en-US" altLang="zh-CN" sz="16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done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89F271-2559-AD1D-1571-4758F3885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949" y="3162750"/>
            <a:ext cx="4216122" cy="166888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5082A28-3605-B43B-2B78-ECE0873D7899}"/>
              </a:ext>
            </a:extLst>
          </p:cNvPr>
          <p:cNvSpPr txBox="1"/>
          <p:nvPr/>
        </p:nvSpPr>
        <p:spPr>
          <a:xfrm>
            <a:off x="930536" y="4885779"/>
            <a:ext cx="351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local variable</a:t>
            </a:r>
            <a:r>
              <a:rPr lang="zh-CN" altLang="en-US" dirty="0"/>
              <a:t>：存储在栈上）</a:t>
            </a:r>
          </a:p>
        </p:txBody>
      </p:sp>
    </p:spTree>
    <p:extLst>
      <p:ext uri="{BB962C8B-B14F-4D97-AF65-F5344CB8AC3E}">
        <p14:creationId xmlns:p14="http://schemas.microsoft.com/office/powerpoint/2010/main" val="163320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283A7-648E-2AA4-44AD-FD6E5578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B103BF8-B0C8-3EC7-B8E8-0411BEBA460F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7C27F539-C45D-08F2-1CA8-E2DC6FFB5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5DB0318C-0368-2CFE-9DFC-4FC5FDCA1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0017" y="124549"/>
            <a:ext cx="7054655" cy="1076818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栈初始位置随机化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51D30B-F78E-9D74-AAFE-0AE76C3A50B8}"/>
              </a:ext>
            </a:extLst>
          </p:cNvPr>
          <p:cNvSpPr txBox="1"/>
          <p:nvPr/>
        </p:nvSpPr>
        <p:spPr>
          <a:xfrm>
            <a:off x="855726" y="1779647"/>
            <a:ext cx="38231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地址空间布局随机化</a:t>
            </a:r>
            <a:r>
              <a:rPr lang="en-US" altLang="zh-CN" b="1" dirty="0"/>
              <a:t>ASLR</a:t>
            </a:r>
          </a:p>
          <a:p>
            <a:r>
              <a:rPr lang="zh-CN" altLang="en-US" dirty="0"/>
              <a:t>不同机器运行同一个程序，地址映射差别很大</a:t>
            </a:r>
            <a:endParaRPr lang="en-US" altLang="zh-CN" dirty="0"/>
          </a:p>
          <a:p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79E661-1FCD-D8AB-5B49-588751479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779" y="545564"/>
            <a:ext cx="3770244" cy="611176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ACEE1BD-56DF-1D56-BE17-3FA3C164C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56" y="3007236"/>
            <a:ext cx="6083109" cy="194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6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51B31-24F0-E415-8398-9DA9ABBC3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24CC633-55C9-4718-F930-AD6282BAEAE2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F308094-53C4-136E-B9A9-248011BD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EC3243A6-8D14-80F2-3C43-5BFE15148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0017" y="124549"/>
            <a:ext cx="7054655" cy="1076818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栈初始位置随机化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618477-3B37-EA2D-45DF-F97D072E96A6}"/>
              </a:ext>
            </a:extLst>
          </p:cNvPr>
          <p:cNvSpPr txBox="1"/>
          <p:nvPr/>
        </p:nvSpPr>
        <p:spPr>
          <a:xfrm>
            <a:off x="1091504" y="1763511"/>
            <a:ext cx="38231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PIE</a:t>
            </a:r>
          </a:p>
          <a:p>
            <a:r>
              <a:rPr lang="zh-CN" altLang="en-US" dirty="0"/>
              <a:t>使得程序的</a:t>
            </a:r>
            <a:r>
              <a:rPr lang="zh-CN" altLang="en-US" dirty="0">
                <a:solidFill>
                  <a:srgbClr val="0070C0"/>
                </a:solidFill>
              </a:rPr>
              <a:t>代码段、数据段</a:t>
            </a:r>
            <a:r>
              <a:rPr lang="zh-CN" altLang="en-US" dirty="0"/>
              <a:t>可以在任意地址加载</a:t>
            </a:r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02F664-A4A4-FDAD-FEF7-55EBE18F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374" y="1571793"/>
            <a:ext cx="3351606" cy="48873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5B0678-37A6-110D-6020-87CF34CDC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99" y="3142593"/>
            <a:ext cx="3976579" cy="213617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7773D47-2170-D3ED-B131-77EB2848232A}"/>
              </a:ext>
            </a:extLst>
          </p:cNvPr>
          <p:cNvSpPr txBox="1"/>
          <p:nvPr/>
        </p:nvSpPr>
        <p:spPr>
          <a:xfrm>
            <a:off x="960081" y="5441389"/>
            <a:ext cx="8625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$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pl-PL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gcc </a:t>
            </a:r>
            <a:r>
              <a:rPr lang="pl-PL" altLang="zh-CN" sz="1600" dirty="0">
                <a:solidFill>
                  <a:srgbClr val="0070C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-no-pie </a:t>
            </a:r>
            <a:r>
              <a:rPr lang="pl-PL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qaq.c -o npie</a:t>
            </a:r>
            <a:endParaRPr lang="zh-CN" altLang="en-US" sz="16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835D25-235D-7D75-5FD4-A3A0C79659CA}"/>
              </a:ext>
            </a:extLst>
          </p:cNvPr>
          <p:cNvSpPr txBox="1"/>
          <p:nvPr/>
        </p:nvSpPr>
        <p:spPr>
          <a:xfrm>
            <a:off x="6294638" y="1151953"/>
            <a:ext cx="8625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开启</a:t>
            </a:r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no-pie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后，</a:t>
            </a:r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Stack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仍随机化。</a:t>
            </a:r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Text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段不随机化</a:t>
            </a:r>
          </a:p>
        </p:txBody>
      </p:sp>
    </p:spTree>
    <p:extLst>
      <p:ext uri="{BB962C8B-B14F-4D97-AF65-F5344CB8AC3E}">
        <p14:creationId xmlns:p14="http://schemas.microsoft.com/office/powerpoint/2010/main" val="2892089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39B14-0107-9E43-B2F6-116C124A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3D54DCE7-50E2-20BE-6265-F0357BEBD3CB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73159F3-6B94-D652-8B4B-C0D0082A3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6DC5D48A-0AE8-320C-56E7-4E285D6A0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0017" y="124549"/>
            <a:ext cx="7054655" cy="1076818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栈初始位置随机化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5FBFF3-412B-051B-F11A-37831FD8B6F5}"/>
              </a:ext>
            </a:extLst>
          </p:cNvPr>
          <p:cNvSpPr txBox="1"/>
          <p:nvPr/>
        </p:nvSpPr>
        <p:spPr>
          <a:xfrm>
            <a:off x="918659" y="2898085"/>
            <a:ext cx="8346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重新编译：否</a:t>
            </a:r>
            <a:endParaRPr lang="en-US" altLang="zh-CN" b="1" dirty="0"/>
          </a:p>
          <a:p>
            <a:r>
              <a:rPr lang="zh-CN" altLang="en-US" dirty="0"/>
              <a:t>对现有的二进制文件就可以生效</a:t>
            </a:r>
            <a:endParaRPr lang="en-US" altLang="zh-CN" dirty="0"/>
          </a:p>
          <a:p>
            <a:r>
              <a:rPr lang="zh-CN" altLang="en-US" dirty="0"/>
              <a:t>对于已经编译好的非 </a:t>
            </a:r>
            <a:r>
              <a:rPr lang="en-US" altLang="zh-CN" dirty="0"/>
              <a:t>PIE </a:t>
            </a:r>
            <a:r>
              <a:rPr lang="zh-CN" altLang="en-US" dirty="0"/>
              <a:t>程序，栈和堆的 </a:t>
            </a:r>
            <a:r>
              <a:rPr lang="en-US" altLang="zh-CN" dirty="0"/>
              <a:t>ASLR </a:t>
            </a:r>
            <a:r>
              <a:rPr lang="zh-CN" altLang="en-US" dirty="0"/>
              <a:t>仍然有效（只是代码段不随机）</a:t>
            </a:r>
            <a:endParaRPr lang="en-US" altLang="zh-CN" dirty="0"/>
          </a:p>
          <a:p>
            <a:endParaRPr lang="en-US" altLang="zh-CN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E9C269-3E65-A627-97FE-06B9DF2EA584}"/>
              </a:ext>
            </a:extLst>
          </p:cNvPr>
          <p:cNvSpPr txBox="1"/>
          <p:nvPr/>
        </p:nvSpPr>
        <p:spPr>
          <a:xfrm>
            <a:off x="909145" y="1651452"/>
            <a:ext cx="103053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修改源代码：否</a:t>
            </a:r>
            <a:endParaRPr lang="en-US" altLang="zh-CN" b="1" dirty="0"/>
          </a:p>
          <a:p>
            <a:r>
              <a:rPr lang="zh-CN" altLang="en-US" dirty="0"/>
              <a:t>程序</a:t>
            </a:r>
            <a:r>
              <a:rPr lang="zh-CN" altLang="en-US" dirty="0">
                <a:solidFill>
                  <a:srgbClr val="0070C0"/>
                </a:solidFill>
              </a:rPr>
              <a:t>加载</a:t>
            </a:r>
            <a:r>
              <a:rPr lang="zh-CN" altLang="en-US" dirty="0"/>
              <a:t>到内存时，操作系统加载器完成</a:t>
            </a:r>
            <a:endParaRPr lang="en-US" altLang="zh-CN" dirty="0"/>
          </a:p>
          <a:p>
            <a:r>
              <a:rPr lang="en-US" altLang="zh-CN" dirty="0"/>
              <a:t>ASLR </a:t>
            </a:r>
            <a:r>
              <a:rPr lang="zh-CN" altLang="en-US" dirty="0"/>
              <a:t>随机化的是内存布局，程序本身的逻辑（变量、函数调用）完全不变。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ACEFC1-46A4-B8B9-AF6B-5660F8B93D35}"/>
              </a:ext>
            </a:extLst>
          </p:cNvPr>
          <p:cNvSpPr txBox="1"/>
          <p:nvPr/>
        </p:nvSpPr>
        <p:spPr>
          <a:xfrm>
            <a:off x="918659" y="4514050"/>
            <a:ext cx="537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更换</a:t>
            </a:r>
            <a:r>
              <a:rPr lang="en-US" altLang="zh-CN" b="1" dirty="0"/>
              <a:t>CPU</a:t>
            </a:r>
            <a:r>
              <a:rPr lang="zh-CN" altLang="en-US" b="1" dirty="0"/>
              <a:t>硬件：否</a:t>
            </a:r>
            <a:endParaRPr lang="en-US" altLang="zh-CN" b="1" dirty="0"/>
          </a:p>
          <a:p>
            <a:r>
              <a:rPr lang="en-US" altLang="zh-CN" dirty="0"/>
              <a:t>ASLR</a:t>
            </a:r>
            <a:r>
              <a:rPr lang="zh-CN" altLang="en-US" dirty="0"/>
              <a:t>需要的虚拟地址是现代 </a:t>
            </a:r>
            <a:r>
              <a:rPr lang="en-US" altLang="zh-CN" dirty="0"/>
              <a:t>CPU </a:t>
            </a:r>
            <a:r>
              <a:rPr lang="zh-CN" altLang="en-US" dirty="0"/>
              <a:t>都具备的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826632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4C47-6B63-C9ED-6457-7D5E403C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4376620A-1B60-E1CA-83E2-6653FB3B48F6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CF748C63-66D5-CA3A-1549-B665A025A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2C282308-8FDF-0B34-47D2-62F5B1118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86748" y="70958"/>
            <a:ext cx="7054655" cy="1076818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限制可执行代码区域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3A633B-0038-670D-346C-4092BA813BF1}"/>
              </a:ext>
            </a:extLst>
          </p:cNvPr>
          <p:cNvSpPr txBox="1"/>
          <p:nvPr/>
        </p:nvSpPr>
        <p:spPr>
          <a:xfrm>
            <a:off x="909144" y="1923185"/>
            <a:ext cx="537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重新编译：否</a:t>
            </a:r>
            <a:endParaRPr lang="en-US" altLang="zh-CN" b="1" dirty="0"/>
          </a:p>
          <a:p>
            <a:r>
              <a:rPr lang="zh-CN" altLang="en-US" dirty="0"/>
              <a:t>程序加载到内存时由操作系统实施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D703B7-13F2-7C7E-6B34-A5AD482DB595}"/>
              </a:ext>
            </a:extLst>
          </p:cNvPr>
          <p:cNvSpPr txBox="1"/>
          <p:nvPr/>
        </p:nvSpPr>
        <p:spPr>
          <a:xfrm>
            <a:off x="909145" y="1651452"/>
            <a:ext cx="537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修改源代码：否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CE6196-996C-9BFF-D357-A737C5D15E48}"/>
              </a:ext>
            </a:extLst>
          </p:cNvPr>
          <p:cNvSpPr txBox="1"/>
          <p:nvPr/>
        </p:nvSpPr>
        <p:spPr>
          <a:xfrm>
            <a:off x="909144" y="2607051"/>
            <a:ext cx="9821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更换</a:t>
            </a:r>
            <a:r>
              <a:rPr lang="en-US" altLang="zh-CN" b="1" dirty="0"/>
              <a:t>CPU</a:t>
            </a:r>
            <a:r>
              <a:rPr lang="zh-CN" altLang="en-US" b="1" dirty="0"/>
              <a:t>硬件：是</a:t>
            </a:r>
            <a:endParaRPr lang="en-US" altLang="zh-CN" b="1" dirty="0"/>
          </a:p>
          <a:p>
            <a:r>
              <a:rPr lang="zh-CN" altLang="en-US" dirty="0"/>
              <a:t>传统结构：读和执行合并成</a:t>
            </a:r>
            <a:r>
              <a:rPr lang="en-US" altLang="zh-CN" dirty="0"/>
              <a:t>1</a:t>
            </a:r>
            <a:r>
              <a:rPr lang="zh-CN" altLang="en-US" dirty="0"/>
              <a:t>位标志。可读都可执行。</a:t>
            </a:r>
            <a:endParaRPr lang="en-US" altLang="zh-CN" dirty="0"/>
          </a:p>
          <a:p>
            <a:r>
              <a:rPr lang="en-US" altLang="zh-CN" dirty="0"/>
              <a:t>AMD</a:t>
            </a:r>
            <a:r>
              <a:rPr lang="zh-CN" altLang="en-US" dirty="0"/>
              <a:t>在</a:t>
            </a:r>
            <a:r>
              <a:rPr lang="en-US" altLang="zh-CN" dirty="0"/>
              <a:t>64</a:t>
            </a:r>
            <a:r>
              <a:rPr lang="zh-CN" altLang="en-US" dirty="0"/>
              <a:t>位处理器里引入“</a:t>
            </a:r>
            <a:r>
              <a:rPr lang="en-US" altLang="zh-CN" dirty="0"/>
              <a:t>NX</a:t>
            </a:r>
            <a:r>
              <a:rPr lang="zh-CN" altLang="en-US" dirty="0"/>
              <a:t>”：</a:t>
            </a:r>
            <a:r>
              <a:rPr lang="en-US" altLang="zh-CN" dirty="0"/>
              <a:t>No-Execute</a:t>
            </a:r>
            <a:r>
              <a:rPr lang="zh-CN" altLang="en-US" dirty="0"/>
              <a:t>位（</a:t>
            </a:r>
            <a:r>
              <a:rPr lang="en-US" altLang="zh-CN" dirty="0"/>
              <a:t>Intel:</a:t>
            </a:r>
            <a:r>
              <a:rPr lang="zh-CN" altLang="en-US" dirty="0"/>
              <a:t> </a:t>
            </a:r>
            <a:r>
              <a:rPr lang="en-US" altLang="zh-CN" dirty="0"/>
              <a:t>XD</a:t>
            </a:r>
            <a:r>
              <a:rPr lang="zh-CN" altLang="en-US" dirty="0"/>
              <a:t>），把“读”和“可执行”分开</a:t>
            </a:r>
            <a:endParaRPr lang="en-US" altLang="zh-CN" dirty="0"/>
          </a:p>
          <a:p>
            <a:r>
              <a:rPr lang="zh-CN" altLang="en-US" dirty="0"/>
              <a:t>检查内存页是否可执行由</a:t>
            </a:r>
            <a:r>
              <a:rPr lang="zh-CN" altLang="en-US" dirty="0">
                <a:solidFill>
                  <a:srgbClr val="0070C0"/>
                </a:solidFill>
              </a:rPr>
              <a:t>硬件</a:t>
            </a:r>
            <a:r>
              <a:rPr lang="zh-CN" altLang="en-US" dirty="0"/>
              <a:t>来完成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A51701-C121-3DD3-4D66-97D2AACC8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18"/>
          <a:stretch>
            <a:fillRect/>
          </a:stretch>
        </p:blipFill>
        <p:spPr>
          <a:xfrm>
            <a:off x="972393" y="4447154"/>
            <a:ext cx="11219607" cy="16396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BDB1A73-D9FC-8938-91AF-17058601A67B}"/>
              </a:ext>
            </a:extLst>
          </p:cNvPr>
          <p:cNvSpPr txBox="1"/>
          <p:nvPr/>
        </p:nvSpPr>
        <p:spPr>
          <a:xfrm>
            <a:off x="972393" y="4108600"/>
            <a:ext cx="8625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$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pl-PL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grep nx /proc/cpuinfo</a:t>
            </a:r>
            <a:r>
              <a:rPr lang="en-US" altLang="zh-CN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//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检查</a:t>
            </a:r>
            <a:r>
              <a:rPr lang="en-US" altLang="zh-CN" sz="16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cpu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里有没有</a:t>
            </a:r>
            <a:r>
              <a:rPr lang="en-US" altLang="zh-CN" sz="16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nx</a:t>
            </a:r>
            <a:r>
              <a:rPr lang="zh-CN" altLang="en-US" sz="16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位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A8DFDD63-7C9E-A383-F7C6-95175FAADAE8}"/>
              </a:ext>
            </a:extLst>
          </p:cNvPr>
          <p:cNvSpPr/>
          <p:nvPr/>
        </p:nvSpPr>
        <p:spPr>
          <a:xfrm>
            <a:off x="10972800" y="5880207"/>
            <a:ext cx="202357" cy="4132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00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BEFE-F806-6A60-A11E-36954B65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83CB9CAA-9412-5B65-A44D-78466413C12B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38E6327-B677-660C-A605-E626A87BF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8259E7E-7ADA-4578-3FBB-E4392C1BD2E6}"/>
              </a:ext>
            </a:extLst>
          </p:cNvPr>
          <p:cNvSpPr txBox="1"/>
          <p:nvPr/>
        </p:nvSpPr>
        <p:spPr>
          <a:xfrm>
            <a:off x="860548" y="1382287"/>
            <a:ext cx="537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重新编译：是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1A583E-4F04-D3FE-705E-3E0540C48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297" y="1968936"/>
            <a:ext cx="5456833" cy="45772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B79AD5-B9DE-5EAA-5198-DADC7129F1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07" y="2422172"/>
            <a:ext cx="5125093" cy="326346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27BF07F-0D19-3BFA-470F-706BF4009E9F}"/>
              </a:ext>
            </a:extLst>
          </p:cNvPr>
          <p:cNvSpPr txBox="1"/>
          <p:nvPr/>
        </p:nvSpPr>
        <p:spPr>
          <a:xfrm>
            <a:off x="6600747" y="144571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$</a:t>
            </a:r>
            <a:r>
              <a:rPr lang="zh-CN" altLang="en-US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gcc </a:t>
            </a:r>
            <a:r>
              <a:rPr lang="zh-CN" altLang="en-US" sz="1400" dirty="0">
                <a:solidFill>
                  <a:srgbClr val="0070C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</a:t>
            </a:r>
            <a:r>
              <a:rPr lang="en-US" altLang="zh-CN" sz="1400" dirty="0">
                <a:solidFill>
                  <a:srgbClr val="0070C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</a:t>
            </a:r>
            <a:r>
              <a:rPr lang="zh-CN" altLang="en-US" sz="1400" dirty="0">
                <a:solidFill>
                  <a:srgbClr val="0070C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stack-protector </a:t>
            </a:r>
            <a:r>
              <a:rPr lang="zh-CN" altLang="en-US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echo.c -o canary</a:t>
            </a:r>
            <a:endParaRPr lang="en-US" altLang="zh-CN" sz="1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r>
              <a:rPr lang="en-IE" altLang="zh-CN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$ </a:t>
            </a:r>
            <a:r>
              <a:rPr lang="en-IE" altLang="zh-CN" sz="1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objdump</a:t>
            </a:r>
            <a:r>
              <a:rPr lang="en-IE" altLang="zh-CN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-d canary &gt;canary.asm</a:t>
            </a:r>
            <a:endParaRPr lang="zh-CN" altLang="en-US" sz="1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411354-9FC6-D932-7EFC-E23599A4B5EA}"/>
              </a:ext>
            </a:extLst>
          </p:cNvPr>
          <p:cNvSpPr txBox="1"/>
          <p:nvPr/>
        </p:nvSpPr>
        <p:spPr>
          <a:xfrm>
            <a:off x="860548" y="193494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$</a:t>
            </a:r>
            <a:r>
              <a:rPr lang="zh-CN" altLang="en-US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gcc </a:t>
            </a:r>
            <a:r>
              <a:rPr lang="zh-CN" altLang="en-US" sz="1400" dirty="0">
                <a:solidFill>
                  <a:srgbClr val="0070C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-fno-stack-protector </a:t>
            </a:r>
            <a:r>
              <a:rPr lang="zh-CN" altLang="en-US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echo.c -o no_canary</a:t>
            </a:r>
            <a:endParaRPr lang="en-US" altLang="zh-CN" sz="1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r>
              <a:rPr lang="en-IE" altLang="zh-CN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$ </a:t>
            </a:r>
            <a:r>
              <a:rPr lang="en-IE" altLang="zh-CN" sz="1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objdump</a:t>
            </a:r>
            <a:r>
              <a:rPr lang="en-IE" altLang="zh-CN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-d </a:t>
            </a:r>
            <a:r>
              <a:rPr lang="en-IE" altLang="zh-CN" sz="1400" dirty="0" err="1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no_canary</a:t>
            </a:r>
            <a:r>
              <a:rPr lang="en-IE" altLang="zh-CN" sz="1400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&gt;no_canary.asm</a:t>
            </a:r>
            <a:endParaRPr lang="zh-CN" altLang="en-US" sz="1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893618-E934-A0B5-7776-4430BBCAAE56}"/>
              </a:ext>
            </a:extLst>
          </p:cNvPr>
          <p:cNvSpPr/>
          <p:nvPr/>
        </p:nvSpPr>
        <p:spPr>
          <a:xfrm>
            <a:off x="9306910" y="2942897"/>
            <a:ext cx="2081049" cy="7514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730FF8-3D73-0ACA-5E10-291965010AD0}"/>
              </a:ext>
            </a:extLst>
          </p:cNvPr>
          <p:cNvSpPr/>
          <p:nvPr/>
        </p:nvSpPr>
        <p:spPr>
          <a:xfrm>
            <a:off x="9381714" y="5203169"/>
            <a:ext cx="2728417" cy="964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E6F46A3-BA4F-7FE0-785E-AD2BB128B46B}"/>
              </a:ext>
            </a:extLst>
          </p:cNvPr>
          <p:cNvSpPr txBox="1">
            <a:spLocks/>
          </p:cNvSpPr>
          <p:nvPr/>
        </p:nvSpPr>
        <p:spPr>
          <a:xfrm>
            <a:off x="-1787372" y="60854"/>
            <a:ext cx="7054655" cy="10768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+mn-ea"/>
                <a:ea typeface="+mn-ea"/>
              </a:rPr>
              <a:t>金丝雀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CE5661-2870-06A3-39B9-8AA623321502}"/>
              </a:ext>
            </a:extLst>
          </p:cNvPr>
          <p:cNvSpPr txBox="1"/>
          <p:nvPr/>
        </p:nvSpPr>
        <p:spPr>
          <a:xfrm>
            <a:off x="6653297" y="1089031"/>
            <a:ext cx="364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*</a:t>
            </a:r>
            <a:r>
              <a:rPr lang="zh-CN" altLang="en-US" i="1" dirty="0"/>
              <a:t>新版本的</a:t>
            </a:r>
            <a:r>
              <a:rPr lang="en-US" altLang="zh-CN" i="1" dirty="0" err="1"/>
              <a:t>gcc</a:t>
            </a:r>
            <a:r>
              <a:rPr lang="zh-CN" altLang="en-US" i="1" dirty="0"/>
              <a:t>默认开启这个选项</a:t>
            </a:r>
          </a:p>
        </p:txBody>
      </p:sp>
    </p:spTree>
    <p:extLst>
      <p:ext uri="{BB962C8B-B14F-4D97-AF65-F5344CB8AC3E}">
        <p14:creationId xmlns:p14="http://schemas.microsoft.com/office/powerpoint/2010/main" val="2189724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35107-40BE-7B1B-F0B3-01490872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ED96C741-A45B-7B88-8B58-7AA29AD0B6D8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6A6F098-74B8-7C38-DFF8-14C78AF61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4E75EA95-F995-86E9-C9F2-1109C06C8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1586" y="89817"/>
            <a:ext cx="4318693" cy="1076818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金丝雀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AD0C32-153C-DD45-F3D3-3E916C0CA084}"/>
              </a:ext>
            </a:extLst>
          </p:cNvPr>
          <p:cNvSpPr txBox="1"/>
          <p:nvPr/>
        </p:nvSpPr>
        <p:spPr>
          <a:xfrm>
            <a:off x="918659" y="2898085"/>
            <a:ext cx="7962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重新编译：是</a:t>
            </a:r>
            <a:endParaRPr lang="en-US" altLang="zh-CN" b="1" dirty="0"/>
          </a:p>
          <a:p>
            <a:r>
              <a:rPr lang="zh-CN" altLang="en-US" dirty="0"/>
              <a:t>须启用编译器的栈保护选项，如 </a:t>
            </a:r>
            <a:r>
              <a:rPr lang="en-US" altLang="zh-CN" dirty="0"/>
              <a:t>-</a:t>
            </a:r>
            <a:r>
              <a:rPr lang="en-IE" altLang="zh-CN" dirty="0" err="1"/>
              <a:t>fstack</a:t>
            </a:r>
            <a:r>
              <a:rPr lang="en-IE" altLang="zh-CN" dirty="0"/>
              <a:t>-protector / -</a:t>
            </a:r>
            <a:r>
              <a:rPr lang="en-IE" altLang="zh-CN" dirty="0" err="1"/>
              <a:t>fstack</a:t>
            </a:r>
            <a:r>
              <a:rPr lang="en-IE" altLang="zh-CN" dirty="0"/>
              <a:t>-protector-strong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86F57F-EE90-5F07-D3C5-7034ABA49885}"/>
              </a:ext>
            </a:extLst>
          </p:cNvPr>
          <p:cNvSpPr txBox="1"/>
          <p:nvPr/>
        </p:nvSpPr>
        <p:spPr>
          <a:xfrm>
            <a:off x="909145" y="1651452"/>
            <a:ext cx="5375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修改源代码：否</a:t>
            </a:r>
            <a:endParaRPr lang="en-US" altLang="zh-CN" b="1" dirty="0"/>
          </a:p>
          <a:p>
            <a:r>
              <a:rPr lang="zh-CN" altLang="en-US" dirty="0"/>
              <a:t>由编译器插入代码，源代码无需改动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039C50-C480-1A73-4F9D-337617FC1D6A}"/>
              </a:ext>
            </a:extLst>
          </p:cNvPr>
          <p:cNvSpPr txBox="1"/>
          <p:nvPr/>
        </p:nvSpPr>
        <p:spPr>
          <a:xfrm>
            <a:off x="909144" y="4237052"/>
            <a:ext cx="537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更换</a:t>
            </a:r>
            <a:r>
              <a:rPr lang="en-US" altLang="zh-CN" b="1" dirty="0"/>
              <a:t>CPU</a:t>
            </a:r>
            <a:r>
              <a:rPr lang="zh-CN" altLang="en-US" b="1" dirty="0"/>
              <a:t>硬件：否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08588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57C8-32EB-C9BD-9701-049F69AF3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6F21AFEE-C176-2B9E-E540-1E4CA1279213}"/>
              </a:ext>
            </a:extLst>
          </p:cNvPr>
          <p:cNvSpPr/>
          <p:nvPr/>
        </p:nvSpPr>
        <p:spPr>
          <a:xfrm>
            <a:off x="0" y="462703"/>
            <a:ext cx="794456" cy="738664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txBody>
          <a:bodyPr anchor="ctr"/>
          <a:lstStyle/>
          <a:p>
            <a:pPr algn="ctr"/>
            <a:endParaRPr lang="zh-CN">
              <a:solidFill>
                <a:schemeClr val="lt1"/>
              </a:solidFill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A6265D82-1804-BCBC-C6C6-BFB2A8417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44" y="545564"/>
            <a:ext cx="1836080" cy="51254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C6BEC2D3-B944-39F1-116B-EC7F7AAE8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476" y="263427"/>
            <a:ext cx="1933903" cy="1076818"/>
          </a:xfrm>
        </p:spPr>
        <p:txBody>
          <a:bodyPr/>
          <a:lstStyle/>
          <a:p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24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99B233-FF44-DAC7-4963-A1E929C98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53"/>
          <a:stretch>
            <a:fillRect/>
          </a:stretch>
        </p:blipFill>
        <p:spPr>
          <a:xfrm>
            <a:off x="549580" y="1439672"/>
            <a:ext cx="9401508" cy="463530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ED9D5BA-5A3D-6C53-A44F-BD14EB7F1986}"/>
              </a:ext>
            </a:extLst>
          </p:cNvPr>
          <p:cNvSpPr txBox="1"/>
          <p:nvPr/>
        </p:nvSpPr>
        <p:spPr>
          <a:xfrm>
            <a:off x="4120285" y="39203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98571A-B534-EE98-FAC0-29CBFF575CFC}"/>
              </a:ext>
            </a:extLst>
          </p:cNvPr>
          <p:cNvSpPr txBox="1"/>
          <p:nvPr/>
        </p:nvSpPr>
        <p:spPr>
          <a:xfrm>
            <a:off x="6096000" y="39203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E9CD42-3FD4-4B26-DE9C-47E44D77A877}"/>
              </a:ext>
            </a:extLst>
          </p:cNvPr>
          <p:cNvSpPr txBox="1"/>
          <p:nvPr/>
        </p:nvSpPr>
        <p:spPr>
          <a:xfrm>
            <a:off x="8071715" y="39203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727DC3-1895-E393-AA0F-E85FD8ACD2C1}"/>
              </a:ext>
            </a:extLst>
          </p:cNvPr>
          <p:cNvSpPr txBox="1"/>
          <p:nvPr/>
        </p:nvSpPr>
        <p:spPr>
          <a:xfrm>
            <a:off x="4120285" y="466207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6375B2-7720-C015-F42D-D149A1A583BB}"/>
              </a:ext>
            </a:extLst>
          </p:cNvPr>
          <p:cNvSpPr txBox="1"/>
          <p:nvPr/>
        </p:nvSpPr>
        <p:spPr>
          <a:xfrm>
            <a:off x="4120285" y="54037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04F4F3-9DB7-0D4C-5816-66665FBF40F6}"/>
              </a:ext>
            </a:extLst>
          </p:cNvPr>
          <p:cNvSpPr txBox="1"/>
          <p:nvPr/>
        </p:nvSpPr>
        <p:spPr>
          <a:xfrm>
            <a:off x="6096000" y="46712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F9E1A4-5BD5-2397-132C-4E35035C39FA}"/>
              </a:ext>
            </a:extLst>
          </p:cNvPr>
          <p:cNvSpPr txBox="1"/>
          <p:nvPr/>
        </p:nvSpPr>
        <p:spPr>
          <a:xfrm>
            <a:off x="6096000" y="54183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A168BA-00E1-4CDE-765B-DD39640E5C7D}"/>
              </a:ext>
            </a:extLst>
          </p:cNvPr>
          <p:cNvSpPr txBox="1"/>
          <p:nvPr/>
        </p:nvSpPr>
        <p:spPr>
          <a:xfrm>
            <a:off x="8071715" y="54037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63B1DE9-15B0-9A7B-576B-A0DEF3A79F8C}"/>
              </a:ext>
            </a:extLst>
          </p:cNvPr>
          <p:cNvSpPr txBox="1"/>
          <p:nvPr/>
        </p:nvSpPr>
        <p:spPr>
          <a:xfrm>
            <a:off x="8040753" y="466207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是</a:t>
            </a:r>
          </a:p>
        </p:txBody>
      </p:sp>
    </p:spTree>
    <p:extLst>
      <p:ext uri="{BB962C8B-B14F-4D97-AF65-F5344CB8AC3E}">
        <p14:creationId xmlns:p14="http://schemas.microsoft.com/office/powerpoint/2010/main" val="323378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Words>588</Words>
  <Application>Microsoft Office PowerPoint</Application>
  <PresentationFormat>宽屏</PresentationFormat>
  <Paragraphs>92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Arial</vt:lpstr>
      <vt:lpstr>Cambria Math</vt:lpstr>
      <vt:lpstr>Cascadia Code SemiLight</vt:lpstr>
      <vt:lpstr>Office 主题​​</vt:lpstr>
      <vt:lpstr>Exam 1  Q 23~24</vt:lpstr>
      <vt:lpstr>23</vt:lpstr>
      <vt:lpstr>23</vt:lpstr>
      <vt:lpstr>23</vt:lpstr>
      <vt:lpstr>23</vt:lpstr>
      <vt:lpstr>23</vt:lpstr>
      <vt:lpstr>24</vt:lpstr>
      <vt:lpstr>栈初始位置随机化</vt:lpstr>
      <vt:lpstr>栈初始位置随机化</vt:lpstr>
      <vt:lpstr>栈初始位置随机化</vt:lpstr>
      <vt:lpstr>栈初始位置随机化</vt:lpstr>
      <vt:lpstr>限制可执行代码区域</vt:lpstr>
      <vt:lpstr>PowerPoint 演示文稿</vt:lpstr>
      <vt:lpstr>金丝雀</vt:lpstr>
      <vt:lpstr>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iyukisu@163.com</dc:creator>
  <cp:lastModifiedBy>iyukisu@163.com</cp:lastModifiedBy>
  <cp:revision>5</cp:revision>
  <dcterms:created xsi:type="dcterms:W3CDTF">2025-10-15T02:07:19Z</dcterms:created>
  <dcterms:modified xsi:type="dcterms:W3CDTF">2025-10-15T07:57:14Z</dcterms:modified>
</cp:coreProperties>
</file>