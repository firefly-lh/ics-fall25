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3" r:id="rId10"/>
    <p:sldId id="274" r:id="rId11"/>
    <p:sldId id="276" r:id="rId12"/>
    <p:sldId id="275" r:id="rId13"/>
    <p:sldId id="277" r:id="rId14"/>
    <p:sldId id="278" r:id="rId15"/>
    <p:sldId id="280" r:id="rId16"/>
    <p:sldId id="281" r:id="rId17"/>
    <p:sldId id="282" r:id="rId18"/>
    <p:sldId id="283" r:id="rId19"/>
    <p:sldId id="284" r:id="rId20"/>
    <p:sldId id="286" r:id="rId21"/>
    <p:sldId id="285" r:id="rId22"/>
    <p:sldId id="28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91181-710F-486B-BE44-1B6E19FC26E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E4E1A-EABC-4891-9C35-FF0CC43C6A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76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74FEC-BB9E-C877-D34E-252022B8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1A7C86-37F7-B940-A6E3-2E5759058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2D6622-4E37-ABD0-C3EE-923852C06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2309C-E28F-6476-A8D0-070A28104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777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A0DD-EF07-5C6C-6D46-BFF2047A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CCCAA1-E64B-4CCB-6046-0C5E234AF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0C5DD4-F5C6-E121-10EA-016E59AFD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E7A26-DF19-7767-C2C3-8E984A75F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791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25A6-70C9-3B83-483E-DE0A9658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372C67-DF9F-62AA-DE57-645B7626D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153BDD-C223-2B3E-A241-230B44994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815C1-93BA-4EA1-1F8F-EDD2C9213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62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3AFAD-9A52-ACB8-50DD-7FCEEA04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85E5C9-90C1-66BF-61FA-59C30A1C9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2C9BD1-ED20-0EB8-6DAF-7EF85D668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2512FD-F46A-D54A-ADE0-403198BEC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374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E1C2-7640-8FDE-7198-8A496AE0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94FF32-5A48-CB5D-F66A-F2CE71014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FBF1E8-D3ED-86B0-90CD-FD0DE50B4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F272D-889D-DE14-E1F7-4F7ED25C4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197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B2EA-06A0-4045-8C6A-9517AB5C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898DB0-0F84-07B7-D377-753167947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24EB00-D75E-A75D-A405-7EB73939D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2FF8CA-D136-BC92-DB07-F117827CE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84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3D67-44D8-D3A7-B0BD-04F4F21B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7C84E9-5B17-4574-32E3-249BFC447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262F66-891A-3792-660F-9ED95C6AC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0E08D5-E599-3BDE-1266-B3C4FBDD3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2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7E40-A0A9-9E52-AE95-5AB53ECB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471507-6836-7FE7-CFB7-B459F4171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D88264-A895-D0EF-BF3E-AD5817FDC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60F972-6597-29AA-4BBD-6C6998E0E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8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183A-294D-21C3-B842-D724D18C0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2FF387-0D94-4474-5C80-A76DA8668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81E722-7BFE-A24E-13DF-859B8AA52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8DFBB-4B49-EA0B-51FD-CB468DF0F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543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C553-F310-9655-5620-A6DA15FD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FF4D84-5707-2B93-A662-1477CA84E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0A6F81-96A6-739D-4DC5-37A747AAB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384FC3-3CE1-001D-7396-3E79D04EC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599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3C2A7-FB60-2AEE-5AA7-65265129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DC8D97-E331-C5DD-C4A1-5EB5240AA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550121-B12D-D9FE-9A4B-CFD29C940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FC1A3C-99EF-F0FE-0C12-DE2E03CDF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349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21B27-330C-60BB-430E-FD474CAE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30F1F8-E5FE-EC58-D26E-C28DA2B15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7FF9E2-FE5A-5504-4D9C-56C94A38C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E5F2BC-CAA1-26B4-4102-CBD47D350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82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8467-A396-0EE1-5E99-E5275FF0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487745-B335-9BB6-AC52-060FD56DA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291932-89A9-D39C-9F2D-8470CFF21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70CD56-6B45-94BD-CF73-FD78BFE6E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973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3143-D3B1-68BC-043F-CE5F9A37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D9ED33-CB9A-4CA9-6ED6-0B3DCFA42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51C86F-EA49-19D4-AD3D-5F564D45F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CAE0C9-3CBF-3D8E-F220-C117E3297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29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385D-AEEB-3470-C84F-E6F6B843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15D1D5-C79C-D145-4C58-E649C99EF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485E0E-7DDF-3161-0BDB-13D9567A3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FD081-C8A5-A53C-4407-5EE10E99E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180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DFFE4-F20B-CF6F-2091-27DC86BD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4001B8-E4FD-34AE-9C17-3D47426AE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9FE002-7F1A-EB9C-6524-A6F71BB24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D2B421-CDCD-3A7D-39C7-26EA5D84C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917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90945-ABF3-1989-038F-735E7777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FEF537-663D-2D21-3E72-F85794955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9B452F-514D-B825-ACC6-63A11C179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A9615A-C9CC-C798-50C6-ABC7D0455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290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F23D-148F-6FB6-8AF5-97592EF1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B2C1F2-B208-AA46-0809-A69EDF1B8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9DFDB5-E988-4F5E-9C0B-F4C274C42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6632A1-1BD3-89A1-DF2A-4EB29AFBD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970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83EC5-3B41-DEBE-36CC-102B2FA5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D7E88B-B238-7CD5-A6AE-1F6B5A039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FE23B6-0FB7-3707-0B81-9340E6786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3ED70-E81F-A270-48D5-7FFD94D90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800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48DD-12A6-57D4-18D2-DCC968BD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315214-C1E7-A437-D1FC-B9B2C2D00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64B4E4-892C-76BB-5E1C-47F393FDA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0A434-C99C-0314-4053-260B65478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7879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A8CD-298F-8EAF-D604-D6121DAA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9812A9-CF93-EE21-389A-4288F54F5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D0F65F-0893-AC01-CD6E-752BC3119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877ACA-0F21-BB34-C6DF-6631C6F0C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304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8CF68-1086-6BD9-E00A-F078EEAB8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61DE03-74B4-7734-F44C-D60491BBA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E693A0-3775-B085-C20C-6A2A0902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2A941-7495-588D-7CE3-2E3C1451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EF7EB9-47AF-CA9D-EDD1-F9CAC2D9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59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524FA-0E96-4AFF-AAC8-F0FEB85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7697F-C4AF-9E80-6763-1BEDD0C5F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6AC19-87E8-9C26-A00C-1204D4C4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2F1210-813E-CE44-CB41-85B9EB0E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26DD27-9D7B-B0E4-22AA-2BADC8CA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2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91BC1-6AF2-E247-D7B3-330DE86F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6ADE16-20AB-29F4-D516-2D56EB297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73D67-581E-E458-DA04-0E192FAE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6DBF3E-79B1-C428-E670-B2FF793B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BE101-EBC3-7B0E-6E87-03F9EE36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28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21E0D-6664-4F14-12BD-9EE3CE08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78E133-A717-98FA-337A-E9C8B3941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BF8742-7E76-16DA-A696-8FADD673A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23386B-680B-DF6C-C967-5C39DBCAD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BD2494-3BB1-A810-2935-41FBF0A4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5FB2B0-7E53-7702-8463-BBB10EBC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305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6014D-6C5F-8405-7223-13E5CF1D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C11A57-BE44-0657-C191-079B544A2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F14C80-F485-3CEF-CE77-155B25AF2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F417BE-D798-14CD-1C4C-348DB9725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567B17-0A87-6E51-E792-18F8AE498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001522-5CE0-63ED-3061-3D5AFF72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CEC71A-6120-9E57-98FA-21B3F328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344D3E-7057-509B-1AA7-2D91953B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05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55698-9FDA-6A36-D03F-90C3F152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250D66-086D-727B-E526-CD3250C3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A499D9-9E98-2043-B4A6-44C59D09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741C2A-12C2-267D-BCF6-E90EDA87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28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08B5EB-A089-9F5A-48FB-6DE652854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42BE13-781D-0954-9350-32470A60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C6559C-4950-1A95-D286-5344D821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41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15B90-4F86-52E1-7398-D0FE6B3C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29355-9275-7C98-1F13-00DF8F222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2D25C9-0F40-9A12-AC59-4366935EE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60F092-5A5D-23E3-6158-EC58AC94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225DC7-4F93-5346-50DC-C9DB44F7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1FC8C6-C1D1-1893-C4F4-F5A94768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39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01B84-210F-2C45-9459-73268599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9BC8BC-391C-E2AC-A0E3-528ABFCC9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CEA688-7A70-437C-21E7-4A96E88B4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5038E3-9653-DA41-4CB7-34BA2595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4DF2EA-5219-6B0B-9B78-BB9D93303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7F306D-5470-B600-7399-AC158718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48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818D4-1079-0E89-B4A6-A59B24D4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68B67C-7AD9-1E55-00F2-739FD1986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C2A10F-DE0E-6675-104B-5D00902E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2523C-4442-04B5-A978-806870008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4F7D5-1EAF-03F6-959E-70DA7A2D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5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B996A1-53FC-EA82-5299-819230167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C82517-239D-980C-3408-816CB65F2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9A2D7-EEB5-BC17-9BDD-9DB717EF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1378E-8CBC-0569-A453-03C85678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9A8BA-D30B-C25C-6C01-3CCE6F80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23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3BC307-9E37-D82A-B295-680BEF63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960D6-DD46-45CD-4796-38FD76E04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20697-D955-1C65-97AB-F933B8360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CA4EF-CFD9-4190-9C03-DCAF9FF70FD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C16558-20FA-789E-91F4-B9DED5A2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2773F2-33CC-F9E5-E5EB-B85C4E9AF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4435A-FCEF-44F0-A1B6-70CA1AF11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96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>
            <a:extLst>
              <a:ext uri="{FF2B5EF4-FFF2-40B4-BE49-F238E27FC236}">
                <a16:creationId xmlns:a16="http://schemas.microsoft.com/office/drawing/2014/main" id="{EAEC00F2-B302-FD89-9404-7CEE18E2FA27}"/>
              </a:ext>
            </a:extLst>
          </p:cNvPr>
          <p:cNvSpPr txBox="1">
            <a:spLocks/>
          </p:cNvSpPr>
          <p:nvPr/>
        </p:nvSpPr>
        <p:spPr>
          <a:xfrm>
            <a:off x="0" y="1815243"/>
            <a:ext cx="12192000" cy="1921743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108000" numCol="1" rtlCol="0" anchor="ctr" anchorCtr="1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ICS</a:t>
            </a:r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小班回课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– Virtual Memory</a:t>
            </a:r>
            <a:endParaRPr lang="zh-CN" altLang="en-US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2151A140-2537-5B09-85BB-03FB4283C25C}"/>
              </a:ext>
            </a:extLst>
          </p:cNvPr>
          <p:cNvSpPr txBox="1">
            <a:spLocks/>
          </p:cNvSpPr>
          <p:nvPr/>
        </p:nvSpPr>
        <p:spPr bwMode="auto">
          <a:xfrm>
            <a:off x="2788163" y="4230280"/>
            <a:ext cx="6615673" cy="2010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buNone/>
              <a:defRPr/>
            </a:pPr>
            <a:r>
              <a:rPr lang="zh-CN" altLang="en-US" sz="2400" dirty="0"/>
              <a:t>基于实例分析的方法</a:t>
            </a:r>
            <a:endParaRPr lang="en-US" altLang="zh-CN" sz="2400" dirty="0"/>
          </a:p>
          <a:p>
            <a:pPr marL="0" lvl="0" indent="0" algn="ctr" eaLnBrk="1" hangingPunct="1">
              <a:buNone/>
              <a:defRPr/>
            </a:pPr>
            <a:endParaRPr lang="en-US" altLang="zh-CN" sz="2400" dirty="0"/>
          </a:p>
          <a:p>
            <a:pPr marL="0" lvl="0" indent="0" algn="ctr" eaLnBrk="1" hangingPunct="1">
              <a:buNone/>
              <a:defRPr/>
            </a:pPr>
            <a:r>
              <a:rPr lang="zh-CN" altLang="en-US" sz="2400" dirty="0"/>
              <a:t>曹思远</a:t>
            </a:r>
            <a:endParaRPr lang="en-US" altLang="zh-CN" sz="2400" dirty="0"/>
          </a:p>
          <a:p>
            <a:pPr marL="0" indent="0" algn="ctr" eaLnBrk="1" hangingPunct="1">
              <a:buNone/>
              <a:defRPr/>
            </a:pP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011CC5-D2A9-4949-3705-566E6B3F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37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F9BF-BF2F-343E-4F1C-B14B4F3A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970A30-59B4-2543-E4AD-1C8CB4727AA7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21EED5-1CB6-38D6-5A61-E711E67CA16E}"/>
              </a:ext>
            </a:extLst>
          </p:cNvPr>
          <p:cNvSpPr txBox="1">
            <a:spLocks/>
          </p:cNvSpPr>
          <p:nvPr/>
        </p:nvSpPr>
        <p:spPr bwMode="auto">
          <a:xfrm>
            <a:off x="215431" y="1526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虚拟内存名词的理解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D973F16-B206-542F-BDDA-68CD09DF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2</a:t>
            </a:fld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C79C8A-3F0F-D223-F923-8C759ED63CAF}"/>
              </a:ext>
            </a:extLst>
          </p:cNvPr>
          <p:cNvSpPr txBox="1"/>
          <p:nvPr/>
        </p:nvSpPr>
        <p:spPr>
          <a:xfrm>
            <a:off x="196615" y="3092360"/>
            <a:ext cx="11798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高速缓存？主存？内存？</a:t>
            </a:r>
            <a:r>
              <a:rPr lang="en-US" altLang="zh-CN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Cache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r>
              <a:rPr lang="en-US" altLang="zh-CN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SRAM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r>
              <a:rPr lang="en-US" altLang="zh-CN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r>
              <a:rPr lang="en-US" altLang="zh-CN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SRAM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缓存？</a:t>
            </a:r>
            <a:r>
              <a:rPr lang="en-US" altLang="zh-CN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缓存？</a:t>
            </a:r>
            <a:r>
              <a:rPr lang="en-US" altLang="zh-CN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L1/L2/L3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缓存？磁盘？</a:t>
            </a:r>
          </a:p>
        </p:txBody>
      </p:sp>
    </p:spTree>
    <p:extLst>
      <p:ext uri="{BB962C8B-B14F-4D97-AF65-F5344CB8AC3E}">
        <p14:creationId xmlns:p14="http://schemas.microsoft.com/office/powerpoint/2010/main" val="322963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5B91-5E7D-2551-A877-ED6A5D17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1D0178-5818-2B4C-829C-1CD4964D0956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7E016F-E489-09C3-DEC7-F1765EF216EE}"/>
              </a:ext>
            </a:extLst>
          </p:cNvPr>
          <p:cNvSpPr txBox="1">
            <a:spLocks/>
          </p:cNvSpPr>
          <p:nvPr/>
        </p:nvSpPr>
        <p:spPr bwMode="auto">
          <a:xfrm>
            <a:off x="215431" y="1526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虚拟内存名词的理解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779DBB90-3707-6869-1AE3-740D07BF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3</a:t>
            </a:fld>
            <a:endParaRPr lang="zh-CN" altLang="en-US" sz="20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867C4C5-D57A-B48B-D80A-8D7A842A6971}"/>
              </a:ext>
            </a:extLst>
          </p:cNvPr>
          <p:cNvGrpSpPr/>
          <p:nvPr/>
        </p:nvGrpSpPr>
        <p:grpSpPr>
          <a:xfrm>
            <a:off x="510138" y="2089927"/>
            <a:ext cx="3080084" cy="2844206"/>
            <a:chOff x="452387" y="2449688"/>
            <a:chExt cx="3080084" cy="284420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021174B-D14D-050F-A79A-EB976E9C624E}"/>
                </a:ext>
              </a:extLst>
            </p:cNvPr>
            <p:cNvSpPr/>
            <p:nvPr/>
          </p:nvSpPr>
          <p:spPr>
            <a:xfrm>
              <a:off x="452387" y="2449688"/>
              <a:ext cx="3080084" cy="284420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55C7E04-E278-CCA8-2018-FDCC1DF73398}"/>
                </a:ext>
              </a:extLst>
            </p:cNvPr>
            <p:cNvSpPr txBox="1"/>
            <p:nvPr/>
          </p:nvSpPr>
          <p:spPr>
            <a:xfrm>
              <a:off x="1369481" y="2618072"/>
              <a:ext cx="12586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CPU </a:t>
              </a:r>
              <a:r>
                <a:rPr lang="zh-CN" altLang="en-US" sz="2000" b="1" dirty="0"/>
                <a:t>内部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ADD7514-21B9-00B2-AC03-2FC4A958C83D}"/>
              </a:ext>
            </a:extLst>
          </p:cNvPr>
          <p:cNvSpPr/>
          <p:nvPr/>
        </p:nvSpPr>
        <p:spPr>
          <a:xfrm>
            <a:off x="981777" y="3022333"/>
            <a:ext cx="474330" cy="150154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L1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4CC14D-7EFC-45D1-6688-60463C122084}"/>
              </a:ext>
            </a:extLst>
          </p:cNvPr>
          <p:cNvSpPr/>
          <p:nvPr/>
        </p:nvSpPr>
        <p:spPr>
          <a:xfrm>
            <a:off x="1813015" y="3022332"/>
            <a:ext cx="474330" cy="150154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L2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8D41EF-8072-DB7B-79A0-F8467C0408D2}"/>
              </a:ext>
            </a:extLst>
          </p:cNvPr>
          <p:cNvSpPr/>
          <p:nvPr/>
        </p:nvSpPr>
        <p:spPr>
          <a:xfrm>
            <a:off x="2701618" y="3022331"/>
            <a:ext cx="474330" cy="150154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L3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348F1EFC-5BC2-C230-ABAF-06B0D1AD49DB}"/>
              </a:ext>
            </a:extLst>
          </p:cNvPr>
          <p:cNvSpPr/>
          <p:nvPr/>
        </p:nvSpPr>
        <p:spPr>
          <a:xfrm rot="16200000">
            <a:off x="1705405" y="3938394"/>
            <a:ext cx="689550" cy="2328245"/>
          </a:xfrm>
          <a:prstGeom prst="leftBrac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90F5A2-0D05-BE42-3B81-43C3AFD72268}"/>
              </a:ext>
            </a:extLst>
          </p:cNvPr>
          <p:cNvSpPr txBox="1"/>
          <p:nvPr/>
        </p:nvSpPr>
        <p:spPr>
          <a:xfrm>
            <a:off x="1644447" y="5447292"/>
            <a:ext cx="1057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Cache</a:t>
            </a:r>
            <a:endParaRPr lang="zh-CN" altLang="en-US" sz="2400" b="1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8E1DDB3-1AC5-D610-F50B-6098712B29F7}"/>
              </a:ext>
            </a:extLst>
          </p:cNvPr>
          <p:cNvCxnSpPr/>
          <p:nvPr/>
        </p:nvCxnSpPr>
        <p:spPr>
          <a:xfrm>
            <a:off x="2945331" y="1684421"/>
            <a:ext cx="0" cy="1744579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24270D0-469B-EF8E-DD34-98ADCB5697FE}"/>
              </a:ext>
            </a:extLst>
          </p:cNvPr>
          <p:cNvSpPr txBox="1"/>
          <p:nvPr/>
        </p:nvSpPr>
        <p:spPr>
          <a:xfrm>
            <a:off x="336884" y="119815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硬件实现是：静态随机存储器（</a:t>
            </a:r>
            <a:r>
              <a:rPr lang="en-US" altLang="zh-CN" b="1" dirty="0">
                <a:solidFill>
                  <a:srgbClr val="FF0000"/>
                </a:solidFill>
              </a:rPr>
              <a:t>SRAM</a:t>
            </a:r>
            <a:r>
              <a:rPr lang="zh-CN" altLang="en-US" dirty="0"/>
              <a:t>）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CBFC7ED-A02E-9A1D-096A-A4D6F620F0FD}"/>
              </a:ext>
            </a:extLst>
          </p:cNvPr>
          <p:cNvCxnSpPr/>
          <p:nvPr/>
        </p:nvCxnSpPr>
        <p:spPr>
          <a:xfrm>
            <a:off x="1174282" y="1684421"/>
            <a:ext cx="0" cy="1744579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EFD0B28-6DBB-A651-4D3A-2716D33E0104}"/>
              </a:ext>
            </a:extLst>
          </p:cNvPr>
          <p:cNvGrpSpPr/>
          <p:nvPr/>
        </p:nvGrpSpPr>
        <p:grpSpPr>
          <a:xfrm>
            <a:off x="4119078" y="2109969"/>
            <a:ext cx="4705059" cy="2844206"/>
            <a:chOff x="452387" y="2449688"/>
            <a:chExt cx="3080084" cy="2844206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148ECB31-F623-2ECE-EA8D-822C746A02D1}"/>
                </a:ext>
              </a:extLst>
            </p:cNvPr>
            <p:cNvSpPr/>
            <p:nvPr/>
          </p:nvSpPr>
          <p:spPr>
            <a:xfrm>
              <a:off x="452387" y="2449688"/>
              <a:ext cx="3080084" cy="284420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93D4EC9-AAD3-24AE-FC05-1B2722BE060D}"/>
                </a:ext>
              </a:extLst>
            </p:cNvPr>
            <p:cNvSpPr txBox="1"/>
            <p:nvPr/>
          </p:nvSpPr>
          <p:spPr>
            <a:xfrm>
              <a:off x="1492712" y="2588365"/>
              <a:ext cx="13163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主存</a:t>
              </a:r>
              <a:r>
                <a:rPr lang="en-US" altLang="zh-CN" sz="2000" b="1" dirty="0"/>
                <a:t>/</a:t>
              </a:r>
              <a:r>
                <a:rPr lang="zh-CN" altLang="en-US" sz="2000" b="1" dirty="0"/>
                <a:t>内存</a:t>
              </a:r>
            </a:p>
          </p:txBody>
        </p:sp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881EC3D-EA5B-1BD4-E99B-09CD7868541A}"/>
              </a:ext>
            </a:extLst>
          </p:cNvPr>
          <p:cNvCxnSpPr/>
          <p:nvPr/>
        </p:nvCxnSpPr>
        <p:spPr>
          <a:xfrm>
            <a:off x="2040555" y="1684421"/>
            <a:ext cx="0" cy="1744579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226FCD5-688C-059B-1951-34713E32B1CD}"/>
              </a:ext>
            </a:extLst>
          </p:cNvPr>
          <p:cNvSpPr/>
          <p:nvPr/>
        </p:nvSpPr>
        <p:spPr>
          <a:xfrm>
            <a:off x="4854813" y="2990651"/>
            <a:ext cx="3185962" cy="163629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硬件实现是：</a:t>
            </a:r>
            <a:r>
              <a:rPr lang="en-US" altLang="zh-CN" sz="2400" b="1" dirty="0">
                <a:solidFill>
                  <a:srgbClr val="FF0000"/>
                </a:solidFill>
              </a:rPr>
              <a:t>DRAM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2C46765-43FC-F5C8-2DAF-ED6B208E5C47}"/>
              </a:ext>
            </a:extLst>
          </p:cNvPr>
          <p:cNvGrpSpPr/>
          <p:nvPr/>
        </p:nvGrpSpPr>
        <p:grpSpPr>
          <a:xfrm>
            <a:off x="9329332" y="2109969"/>
            <a:ext cx="2024468" cy="2844206"/>
            <a:chOff x="452387" y="2449688"/>
            <a:chExt cx="3080084" cy="2844206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585E90D6-67F4-85BF-7745-FEDA9B24834F}"/>
                </a:ext>
              </a:extLst>
            </p:cNvPr>
            <p:cNvSpPr/>
            <p:nvPr/>
          </p:nvSpPr>
          <p:spPr>
            <a:xfrm>
              <a:off x="452387" y="2449688"/>
              <a:ext cx="3080084" cy="284420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66FC07F-4C5A-CDC2-E954-8AA6E345D6A1}"/>
                </a:ext>
              </a:extLst>
            </p:cNvPr>
            <p:cNvSpPr txBox="1"/>
            <p:nvPr/>
          </p:nvSpPr>
          <p:spPr>
            <a:xfrm>
              <a:off x="1461733" y="2597131"/>
              <a:ext cx="10613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磁盘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433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7678-30F8-7CF0-C8EC-AF3219AEA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D41558-E24F-4E64-424A-E79BCB336F81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9C8CA5-6297-9F2D-E5E6-C77C17C7BBF4}"/>
              </a:ext>
            </a:extLst>
          </p:cNvPr>
          <p:cNvSpPr txBox="1">
            <a:spLocks/>
          </p:cNvSpPr>
          <p:nvPr/>
        </p:nvSpPr>
        <p:spPr bwMode="auto">
          <a:xfrm>
            <a:off x="215431" y="1526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虚拟内存名词的理解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B93ABF6-D21F-A77D-050A-C5784E5B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4</a:t>
            </a:fld>
            <a:endParaRPr lang="zh-CN" altLang="en-US" sz="20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BF15930-0666-0CA3-7AA5-F690D0703FC6}"/>
              </a:ext>
            </a:extLst>
          </p:cNvPr>
          <p:cNvGrpSpPr/>
          <p:nvPr/>
        </p:nvGrpSpPr>
        <p:grpSpPr>
          <a:xfrm>
            <a:off x="750236" y="2093412"/>
            <a:ext cx="6078951" cy="3433383"/>
            <a:chOff x="452387" y="2449688"/>
            <a:chExt cx="3080084" cy="2844206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8B87F883-D08C-BE9B-D4B3-815D10F070FE}"/>
                </a:ext>
              </a:extLst>
            </p:cNvPr>
            <p:cNvSpPr/>
            <p:nvPr/>
          </p:nvSpPr>
          <p:spPr>
            <a:xfrm>
              <a:off x="452387" y="2449688"/>
              <a:ext cx="3080084" cy="284420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18DB42C-3B3C-DE76-B74D-1EA5EAF294FF}"/>
                </a:ext>
              </a:extLst>
            </p:cNvPr>
            <p:cNvSpPr txBox="1"/>
            <p:nvPr/>
          </p:nvSpPr>
          <p:spPr>
            <a:xfrm>
              <a:off x="1624389" y="2597130"/>
              <a:ext cx="13163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主存</a:t>
              </a:r>
              <a:r>
                <a:rPr lang="en-US" altLang="zh-CN" sz="2000" b="1" dirty="0"/>
                <a:t>/</a:t>
              </a:r>
              <a:r>
                <a:rPr lang="zh-CN" altLang="en-US" sz="2000" b="1" dirty="0"/>
                <a:t>内存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DF806DF-231C-FC8B-ED60-9D6E5FD5B118}"/>
              </a:ext>
            </a:extLst>
          </p:cNvPr>
          <p:cNvGrpSpPr/>
          <p:nvPr/>
        </p:nvGrpSpPr>
        <p:grpSpPr>
          <a:xfrm>
            <a:off x="7906625" y="2093412"/>
            <a:ext cx="2615619" cy="3433383"/>
            <a:chOff x="452387" y="2449688"/>
            <a:chExt cx="3080084" cy="2844206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1323D1E-D348-1EF9-A624-511F4480A0BE}"/>
                </a:ext>
              </a:extLst>
            </p:cNvPr>
            <p:cNvSpPr/>
            <p:nvPr/>
          </p:nvSpPr>
          <p:spPr>
            <a:xfrm>
              <a:off x="452387" y="2449688"/>
              <a:ext cx="3080084" cy="284420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948A9F0-243C-3011-C5DC-5FB38A2BC4E4}"/>
                </a:ext>
              </a:extLst>
            </p:cNvPr>
            <p:cNvSpPr txBox="1"/>
            <p:nvPr/>
          </p:nvSpPr>
          <p:spPr>
            <a:xfrm>
              <a:off x="1461733" y="2597131"/>
              <a:ext cx="10613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磁盘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1916DD4B-2739-9CA6-CB91-C5C54EC612B3}"/>
              </a:ext>
            </a:extLst>
          </p:cNvPr>
          <p:cNvSpPr/>
          <p:nvPr/>
        </p:nvSpPr>
        <p:spPr>
          <a:xfrm>
            <a:off x="1256696" y="2877955"/>
            <a:ext cx="1476879" cy="240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页表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FFDE79-5EE2-DBE0-517D-46C6DFCA2109}"/>
              </a:ext>
            </a:extLst>
          </p:cNvPr>
          <p:cNvSpPr/>
          <p:nvPr/>
        </p:nvSpPr>
        <p:spPr>
          <a:xfrm>
            <a:off x="3108103" y="2877955"/>
            <a:ext cx="3346556" cy="240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物理页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B4F919-295B-276B-049B-D76BB5923670}"/>
              </a:ext>
            </a:extLst>
          </p:cNvPr>
          <p:cNvSpPr/>
          <p:nvPr/>
        </p:nvSpPr>
        <p:spPr>
          <a:xfrm>
            <a:off x="8136584" y="2877955"/>
            <a:ext cx="2155697" cy="2408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虚拟内存</a:t>
            </a:r>
          </a:p>
        </p:txBody>
      </p:sp>
    </p:spTree>
    <p:extLst>
      <p:ext uri="{BB962C8B-B14F-4D97-AF65-F5344CB8AC3E}">
        <p14:creationId xmlns:p14="http://schemas.microsoft.com/office/powerpoint/2010/main" val="1656896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CB76B-8236-B326-1A2C-CB9D1EC6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B06817-C75C-ACE4-2223-AC0154FE0F4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3398D4-B809-BD2C-FB2A-3B4C265A7279}"/>
              </a:ext>
            </a:extLst>
          </p:cNvPr>
          <p:cNvSpPr txBox="1">
            <a:spLocks/>
          </p:cNvSpPr>
          <p:nvPr/>
        </p:nvSpPr>
        <p:spPr bwMode="auto">
          <a:xfrm>
            <a:off x="215431" y="1526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虚拟内存作为内存保护的工具</a:t>
            </a:r>
            <a:r>
              <a:rPr lang="zh-CN" altLang="en-US" sz="3600" dirty="0"/>
              <a:t> 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BB57B001-9162-A12D-70B8-5E66D9F6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5</a:t>
            </a:fld>
            <a:endParaRPr lang="zh-CN" altLang="en-US" sz="20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ED59478-FA08-9FC1-9FAD-3B9345522686}"/>
              </a:ext>
            </a:extLst>
          </p:cNvPr>
          <p:cNvGrpSpPr/>
          <p:nvPr/>
        </p:nvGrpSpPr>
        <p:grpSpPr>
          <a:xfrm>
            <a:off x="750236" y="2093412"/>
            <a:ext cx="6078951" cy="3433383"/>
            <a:chOff x="452387" y="2449688"/>
            <a:chExt cx="3080084" cy="2844206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7EA9689C-D572-AA00-330D-72CA28921C31}"/>
                </a:ext>
              </a:extLst>
            </p:cNvPr>
            <p:cNvSpPr/>
            <p:nvPr/>
          </p:nvSpPr>
          <p:spPr>
            <a:xfrm>
              <a:off x="452387" y="2449688"/>
              <a:ext cx="3080084" cy="284420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76C0385-E609-6E8F-2989-6242F411C8DE}"/>
                </a:ext>
              </a:extLst>
            </p:cNvPr>
            <p:cNvSpPr txBox="1"/>
            <p:nvPr/>
          </p:nvSpPr>
          <p:spPr>
            <a:xfrm>
              <a:off x="1624389" y="2597130"/>
              <a:ext cx="13163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主存</a:t>
              </a:r>
              <a:r>
                <a:rPr lang="en-US" altLang="zh-CN" sz="2000" b="1" dirty="0"/>
                <a:t>/</a:t>
              </a:r>
              <a:r>
                <a:rPr lang="zh-CN" altLang="en-US" sz="2000" b="1" dirty="0"/>
                <a:t>内存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C4C4061-BCD3-47F5-E390-CD815F080F2F}"/>
              </a:ext>
            </a:extLst>
          </p:cNvPr>
          <p:cNvGrpSpPr/>
          <p:nvPr/>
        </p:nvGrpSpPr>
        <p:grpSpPr>
          <a:xfrm>
            <a:off x="7906625" y="2093412"/>
            <a:ext cx="2615619" cy="3433383"/>
            <a:chOff x="452387" y="2449688"/>
            <a:chExt cx="3080084" cy="2844206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28BC4F2-D83D-7151-FCE8-4C841DEEC2F2}"/>
                </a:ext>
              </a:extLst>
            </p:cNvPr>
            <p:cNvSpPr/>
            <p:nvPr/>
          </p:nvSpPr>
          <p:spPr>
            <a:xfrm>
              <a:off x="452387" y="2449688"/>
              <a:ext cx="3080084" cy="284420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DEED141-0057-7114-D519-EA539ED6DCFF}"/>
                </a:ext>
              </a:extLst>
            </p:cNvPr>
            <p:cNvSpPr txBox="1"/>
            <p:nvPr/>
          </p:nvSpPr>
          <p:spPr>
            <a:xfrm>
              <a:off x="1461733" y="2597131"/>
              <a:ext cx="10613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磁盘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F7DE35AF-AA02-EA0E-70AF-043C6E85118D}"/>
              </a:ext>
            </a:extLst>
          </p:cNvPr>
          <p:cNvSpPr/>
          <p:nvPr/>
        </p:nvSpPr>
        <p:spPr>
          <a:xfrm>
            <a:off x="1256696" y="2877955"/>
            <a:ext cx="1476879" cy="5510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进程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的页表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EADBFA-C1A3-0EA9-4CFD-62970E0E8B2C}"/>
              </a:ext>
            </a:extLst>
          </p:cNvPr>
          <p:cNvSpPr/>
          <p:nvPr/>
        </p:nvSpPr>
        <p:spPr>
          <a:xfrm>
            <a:off x="3108103" y="2877955"/>
            <a:ext cx="3346556" cy="240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物理页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451DE4-5799-F5CF-FEF0-E6FD5D613B7A}"/>
              </a:ext>
            </a:extLst>
          </p:cNvPr>
          <p:cNvSpPr/>
          <p:nvPr/>
        </p:nvSpPr>
        <p:spPr>
          <a:xfrm>
            <a:off x="8136584" y="2877955"/>
            <a:ext cx="2155697" cy="2408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虚拟内存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F2D389-7BBE-95A2-C05F-241A44B407C2}"/>
              </a:ext>
            </a:extLst>
          </p:cNvPr>
          <p:cNvSpPr/>
          <p:nvPr/>
        </p:nvSpPr>
        <p:spPr>
          <a:xfrm>
            <a:off x="1256695" y="3651330"/>
            <a:ext cx="1476879" cy="5510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进程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的页表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32196D-3638-3339-D9C0-2C0AB1288DFB}"/>
              </a:ext>
            </a:extLst>
          </p:cNvPr>
          <p:cNvSpPr/>
          <p:nvPr/>
        </p:nvSpPr>
        <p:spPr>
          <a:xfrm>
            <a:off x="1256694" y="4424705"/>
            <a:ext cx="1476879" cy="5510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进程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的页表</a:t>
            </a:r>
          </a:p>
        </p:txBody>
      </p:sp>
    </p:spTree>
    <p:extLst>
      <p:ext uri="{BB962C8B-B14F-4D97-AF65-F5344CB8AC3E}">
        <p14:creationId xmlns:p14="http://schemas.microsoft.com/office/powerpoint/2010/main" val="2636302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F2392-F0F5-F257-A2E9-26896E8A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89D0D0-B415-C78E-2E32-640A1E7C97E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8EB35F-7F3B-ECE5-CE68-553E6E9064F1}"/>
              </a:ext>
            </a:extLst>
          </p:cNvPr>
          <p:cNvSpPr txBox="1">
            <a:spLocks/>
          </p:cNvSpPr>
          <p:nvPr/>
        </p:nvSpPr>
        <p:spPr bwMode="auto">
          <a:xfrm>
            <a:off x="215431" y="1526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虚拟内存作为内存保护的工具</a:t>
            </a:r>
            <a:r>
              <a:rPr lang="zh-CN" altLang="en-US" sz="3600" dirty="0"/>
              <a:t> 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D62B213F-583A-12C7-6CBC-03EBE349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6</a:t>
            </a:fld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56C568-9E3C-DB2D-7D47-D81C0F16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66" y="1433757"/>
            <a:ext cx="10545613" cy="5220807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68C46CF-4A00-8E53-E94E-2EFCB73A9A32}"/>
              </a:ext>
            </a:extLst>
          </p:cNvPr>
          <p:cNvSpPr/>
          <p:nvPr/>
        </p:nvSpPr>
        <p:spPr>
          <a:xfrm>
            <a:off x="2608447" y="2571444"/>
            <a:ext cx="693019" cy="53901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6E97EB-1A87-7DEA-1FF5-96509F2E3CC4}"/>
              </a:ext>
            </a:extLst>
          </p:cNvPr>
          <p:cNvSpPr txBox="1"/>
          <p:nvPr/>
        </p:nvSpPr>
        <p:spPr>
          <a:xfrm>
            <a:off x="571566" y="3582495"/>
            <a:ext cx="6991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进程</a:t>
            </a:r>
            <a:r>
              <a:rPr lang="en-US" altLang="zh-CN" sz="2400" b="1" dirty="0" err="1"/>
              <a:t>i</a:t>
            </a:r>
            <a:r>
              <a:rPr lang="zh-CN" altLang="en-US" sz="2400" b="1" dirty="0">
                <a:solidFill>
                  <a:srgbClr val="FF0000"/>
                </a:solidFill>
              </a:rPr>
              <a:t>并不是</a:t>
            </a:r>
            <a:r>
              <a:rPr lang="zh-CN" altLang="en-US" sz="2400" b="1" dirty="0"/>
              <a:t>“只有运行在内核模式下才能访问该页”</a:t>
            </a:r>
          </a:p>
        </p:txBody>
      </p:sp>
    </p:spTree>
    <p:extLst>
      <p:ext uri="{BB962C8B-B14F-4D97-AF65-F5344CB8AC3E}">
        <p14:creationId xmlns:p14="http://schemas.microsoft.com/office/powerpoint/2010/main" val="265401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83EC-0CC6-790A-BDCF-C5F9A1D8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B0A623-FACC-F6A9-578D-589FEEADD6F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33508C-268D-6B85-0B72-5BFF098F851A}"/>
              </a:ext>
            </a:extLst>
          </p:cNvPr>
          <p:cNvSpPr txBox="1">
            <a:spLocks/>
          </p:cNvSpPr>
          <p:nvPr/>
        </p:nvSpPr>
        <p:spPr bwMode="auto">
          <a:xfrm>
            <a:off x="215431" y="1526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虚拟内存作为内存保护的工具</a:t>
            </a:r>
            <a:r>
              <a:rPr lang="zh-CN" altLang="en-US" sz="3600" dirty="0"/>
              <a:t> 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BE0E56A-E7A2-5EAD-3F1C-CCF67C36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7</a:t>
            </a:fld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65C283E-6B4B-2830-C314-6E5BC44F0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66" y="1433757"/>
            <a:ext cx="10545613" cy="5220807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82BACC66-B2E9-C9D0-B0E9-967738F54BCE}"/>
              </a:ext>
            </a:extLst>
          </p:cNvPr>
          <p:cNvSpPr/>
          <p:nvPr/>
        </p:nvSpPr>
        <p:spPr>
          <a:xfrm>
            <a:off x="3308760" y="2585440"/>
            <a:ext cx="693019" cy="53901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48069F-6D06-D1CA-790E-F3C6F602C2BB}"/>
              </a:ext>
            </a:extLst>
          </p:cNvPr>
          <p:cNvSpPr txBox="1"/>
          <p:nvPr/>
        </p:nvSpPr>
        <p:spPr>
          <a:xfrm>
            <a:off x="2137866" y="3502713"/>
            <a:ext cx="3034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进程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可以进行读访问</a:t>
            </a:r>
          </a:p>
        </p:txBody>
      </p:sp>
    </p:spTree>
    <p:extLst>
      <p:ext uri="{BB962C8B-B14F-4D97-AF65-F5344CB8AC3E}">
        <p14:creationId xmlns:p14="http://schemas.microsoft.com/office/powerpoint/2010/main" val="308305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5A74-E8AA-3119-C0DE-D05FA504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1294D0-7CAE-9F29-7CCB-A1A81C76F47B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CF9EB7-208A-80C9-9571-B0FD2F4A15F3}"/>
              </a:ext>
            </a:extLst>
          </p:cNvPr>
          <p:cNvSpPr txBox="1">
            <a:spLocks/>
          </p:cNvSpPr>
          <p:nvPr/>
        </p:nvSpPr>
        <p:spPr bwMode="auto">
          <a:xfrm>
            <a:off x="215431" y="1526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虚拟内存作为内存保护的工具</a:t>
            </a:r>
            <a:r>
              <a:rPr lang="zh-CN" altLang="en-US" sz="3600" dirty="0"/>
              <a:t> 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337E0220-77B5-06C9-9C38-E0E05328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8</a:t>
            </a:fld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6A63C9-8D55-61F4-B3CC-98901C78E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66" y="1433757"/>
            <a:ext cx="10545613" cy="5220807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8795C58A-D91B-E54F-DDFB-9FE32E4591CD}"/>
              </a:ext>
            </a:extLst>
          </p:cNvPr>
          <p:cNvSpPr/>
          <p:nvPr/>
        </p:nvSpPr>
        <p:spPr>
          <a:xfrm>
            <a:off x="4107656" y="2558641"/>
            <a:ext cx="693019" cy="53901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333C21-74B2-B94D-C906-020AAC7DD1E7}"/>
              </a:ext>
            </a:extLst>
          </p:cNvPr>
          <p:cNvSpPr txBox="1"/>
          <p:nvPr/>
        </p:nvSpPr>
        <p:spPr>
          <a:xfrm>
            <a:off x="2137866" y="3502713"/>
            <a:ext cx="3034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进程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可以进行写访问</a:t>
            </a:r>
          </a:p>
        </p:txBody>
      </p:sp>
    </p:spTree>
    <p:extLst>
      <p:ext uri="{BB962C8B-B14F-4D97-AF65-F5344CB8AC3E}">
        <p14:creationId xmlns:p14="http://schemas.microsoft.com/office/powerpoint/2010/main" val="884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B500A-E62D-8ED4-7877-AFE99B70A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ADDC9D-D500-8B64-5F66-B0707900763E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E464C8-62B2-6004-5B7F-3283CA45F072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3DBF36A-FB2A-3BC8-C2D3-E9F81102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9</a:t>
            </a:fld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DCB1CD-B54E-D530-E843-33C68A08A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81" y="1557620"/>
            <a:ext cx="10751438" cy="452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20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D1FC6-D4AA-CDB1-BF38-F2F1AE59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DA1E36-9FBF-6473-71B8-FC0CD33BD07D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D59E82-4955-55B0-A7C5-DEB8669B088B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329515BA-1A7A-7A6A-F739-DB90E059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10</a:t>
            </a:fld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C22BB8-13BC-5468-845D-0A05A935E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36" y="1295859"/>
            <a:ext cx="4525006" cy="30388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DEF5EE8-E03A-3277-D4EF-568BAFDEFFB8}"/>
              </a:ext>
            </a:extLst>
          </p:cNvPr>
          <p:cNvSpPr txBox="1"/>
          <p:nvPr/>
        </p:nvSpPr>
        <p:spPr>
          <a:xfrm>
            <a:off x="5860029" y="1795779"/>
            <a:ext cx="6097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CPU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希望读一条虚拟地址：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</a:t>
            </a:r>
            <a:r>
              <a:rPr lang="en-US" altLang="zh-CN" sz="2400" b="0" i="0" dirty="0">
                <a:solidFill>
                  <a:srgbClr val="171313"/>
                </a:solidFill>
                <a:effectLst/>
                <a:latin typeface="HiddenHorzOCR-Identity-H"/>
              </a:rPr>
              <a:t>x03d4</a:t>
            </a:r>
          </a:p>
          <a:p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en-US" altLang="zh-CN" sz="2400" b="0" i="0" dirty="0">
                <a:solidFill>
                  <a:srgbClr val="171313"/>
                </a:solidFill>
                <a:effectLst/>
                <a:latin typeface="HiddenHorzOCR-Identity-H"/>
              </a:rPr>
              <a:t>VA = 0x03d4 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A0FC9E-13DE-13CE-0298-11463F4F6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385" y="4911480"/>
            <a:ext cx="8421287" cy="130132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5AAC85-A38E-4A11-2882-C951ED5C3788}"/>
              </a:ext>
            </a:extLst>
          </p:cNvPr>
          <p:cNvSpPr txBox="1"/>
          <p:nvPr/>
        </p:nvSpPr>
        <p:spPr>
          <a:xfrm>
            <a:off x="3099141" y="5265471"/>
            <a:ext cx="645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0     0      0      0      1      1     1      1     0      1      0      1     0     0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504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4447-3ACA-2603-6211-2A30D07A1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3BAC93-6520-60A3-E027-759C7DFB275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AAF4F6-8793-7895-6A29-7AA0A30E483B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65A54F3-5BE7-80B0-0346-F04BD753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11</a:t>
            </a:fld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491F86-DE32-1C5D-BD4D-72C4B2BC1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36" y="1295859"/>
            <a:ext cx="4525006" cy="30388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C4C7270-00A3-2DBE-B0DC-4F1DFD27F42F}"/>
              </a:ext>
            </a:extLst>
          </p:cNvPr>
          <p:cNvSpPr txBox="1"/>
          <p:nvPr/>
        </p:nvSpPr>
        <p:spPr>
          <a:xfrm>
            <a:off x="5860029" y="1795779"/>
            <a:ext cx="60970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目标：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/>
              <a:t>为了构造物理地址 ，我们需要根据虚拟页号（</a:t>
            </a:r>
            <a:r>
              <a:rPr lang="en-US" altLang="zh-CN" sz="2400" dirty="0"/>
              <a:t>VPN</a:t>
            </a:r>
            <a:r>
              <a:rPr lang="zh-CN" altLang="en-US" sz="2400" dirty="0"/>
              <a:t>），从页表中找到某个</a:t>
            </a:r>
            <a:r>
              <a:rPr lang="en-US" altLang="zh-CN" sz="2400" dirty="0"/>
              <a:t>PTE</a:t>
            </a:r>
            <a:r>
              <a:rPr lang="zh-CN" altLang="en-US" sz="2400" dirty="0"/>
              <a:t>（页表项），页表项中记载着一个</a:t>
            </a:r>
            <a:r>
              <a:rPr lang="en-US" altLang="zh-CN" sz="2400" dirty="0"/>
              <a:t>PPN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把</a:t>
            </a:r>
            <a:r>
              <a:rPr lang="en-US" altLang="zh-CN" sz="2400" dirty="0"/>
              <a:t>PPN</a:t>
            </a:r>
            <a:r>
              <a:rPr lang="zh-CN" altLang="en-US" sz="2400" dirty="0"/>
              <a:t>和</a:t>
            </a:r>
            <a:r>
              <a:rPr lang="en-US" altLang="zh-CN" sz="2400" dirty="0"/>
              <a:t>VPO</a:t>
            </a:r>
            <a:r>
              <a:rPr lang="zh-CN" altLang="en-US" sz="2400" dirty="0"/>
              <a:t>拼接起来，就得到了物理地址</a:t>
            </a:r>
            <a:r>
              <a:rPr lang="en-US" altLang="zh-CN" sz="2400" dirty="0"/>
              <a:t>PP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C41E7C5-53A2-1DF6-F67C-F6136A329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385" y="4911480"/>
            <a:ext cx="8421287" cy="130132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6958C41-CF99-9E2D-EADB-1EEE17554B08}"/>
              </a:ext>
            </a:extLst>
          </p:cNvPr>
          <p:cNvSpPr txBox="1"/>
          <p:nvPr/>
        </p:nvSpPr>
        <p:spPr>
          <a:xfrm>
            <a:off x="3099141" y="5265471"/>
            <a:ext cx="645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0     0      0      0      1      1     1      1     0      1      0      1     0     0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171046-C671-9773-755A-2602797D2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092" y="1197603"/>
            <a:ext cx="2351754" cy="81563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634E770-B373-EB00-3146-385AA781F9D5}"/>
              </a:ext>
            </a:extLst>
          </p:cNvPr>
          <p:cNvSpPr txBox="1"/>
          <p:nvPr/>
        </p:nvSpPr>
        <p:spPr>
          <a:xfrm>
            <a:off x="10400534" y="1643909"/>
            <a:ext cx="1241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一个</a:t>
            </a:r>
            <a:r>
              <a:rPr lang="en-US" altLang="zh-CN" sz="1800" dirty="0"/>
              <a:t>PTE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452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848A-E62C-BA3A-6678-8F9C69EF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E14B4E-33CA-F435-5152-CECD9B5D9FB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92BB73-D4BD-9E1B-6C80-EBAE058CB08C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172308-85CC-07A8-AFB1-FBAC271B1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05" y="1256715"/>
            <a:ext cx="4887007" cy="47250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70AF5B5-F6E5-7E9A-FFF5-4AB89C4B8393}"/>
              </a:ext>
            </a:extLst>
          </p:cNvPr>
          <p:cNvSpPr txBox="1"/>
          <p:nvPr/>
        </p:nvSpPr>
        <p:spPr>
          <a:xfrm>
            <a:off x="5933672" y="1256715"/>
            <a:ext cx="6097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TLB: 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翻译后备缓冲器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其实就是专门为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PLT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设计的特殊缓存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AF29F6-A3EA-C11C-B7E7-4F7CED47736D}"/>
              </a:ext>
            </a:extLst>
          </p:cNvPr>
          <p:cNvSpPr txBox="1"/>
          <p:nvPr/>
        </p:nvSpPr>
        <p:spPr>
          <a:xfrm>
            <a:off x="5498674" y="2484098"/>
            <a:ext cx="65320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翻译（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MMU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）拿到了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0x03d4</a:t>
            </a:r>
          </a:p>
          <a:p>
            <a:endParaRPr lang="en-US" altLang="zh-CN" sz="2400" dirty="0"/>
          </a:p>
          <a:p>
            <a:r>
              <a:rPr lang="zh-CN" altLang="en-US" sz="2400" dirty="0"/>
              <a:t>想要先看看：这个</a:t>
            </a:r>
            <a:r>
              <a:rPr lang="en-US" altLang="zh-CN" sz="2400" dirty="0"/>
              <a:t>TLB</a:t>
            </a:r>
            <a:r>
              <a:rPr lang="zh-CN" altLang="en-US" sz="2400" dirty="0"/>
              <a:t>特殊缓存里有没有缓存过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如果缓存过，那直接取出，非常快捷方便</a:t>
            </a:r>
          </a:p>
        </p:txBody>
      </p:sp>
    </p:spTree>
    <p:extLst>
      <p:ext uri="{BB962C8B-B14F-4D97-AF65-F5344CB8AC3E}">
        <p14:creationId xmlns:p14="http://schemas.microsoft.com/office/powerpoint/2010/main" val="375721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C4D2E-A73E-88F2-6969-2F0E61BDC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B69DB1-42DA-3DAB-2E7F-17BA7674CE8C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26CA5D-B0E8-F0FA-BCBD-56AE45ECB245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3438D5-E54A-EBA9-CA58-3D0EE4AA8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48" y="4310425"/>
            <a:ext cx="7723294" cy="209317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113DC072-496B-E1DB-F9BB-11875EC120CB}"/>
              </a:ext>
            </a:extLst>
          </p:cNvPr>
          <p:cNvGrpSpPr/>
          <p:nvPr/>
        </p:nvGrpSpPr>
        <p:grpSpPr>
          <a:xfrm>
            <a:off x="205805" y="1548531"/>
            <a:ext cx="8421287" cy="1301321"/>
            <a:chOff x="1649385" y="4911480"/>
            <a:chExt cx="8421287" cy="130132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F1B8B58-FCF8-B290-543A-8F488A028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9385" y="4911480"/>
              <a:ext cx="8421287" cy="130132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75437CD-7308-9B18-83E0-DA9C08BE25D5}"/>
                </a:ext>
              </a:extLst>
            </p:cNvPr>
            <p:cNvSpPr txBox="1"/>
            <p:nvPr/>
          </p:nvSpPr>
          <p:spPr>
            <a:xfrm>
              <a:off x="3099141" y="5265471"/>
              <a:ext cx="6454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0     0      0      0      1      1     1      1     0      1      0      1     0     0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F7325087-5B34-1391-A849-2B885B1F68C0}"/>
              </a:ext>
            </a:extLst>
          </p:cNvPr>
          <p:cNvSpPr txBox="1"/>
          <p:nvPr/>
        </p:nvSpPr>
        <p:spPr>
          <a:xfrm>
            <a:off x="205805" y="1086866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虚拟地址：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0x03d4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5376F4-8DED-20E4-0803-969F1E3D982D}"/>
              </a:ext>
            </a:extLst>
          </p:cNvPr>
          <p:cNvSpPr txBox="1"/>
          <p:nvPr/>
        </p:nvSpPr>
        <p:spPr>
          <a:xfrm>
            <a:off x="267174" y="3164640"/>
            <a:ext cx="6097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HiddenHorzOCR-Identity-H"/>
              </a:rPr>
              <a:t>注意：这里是拿到</a:t>
            </a:r>
            <a:r>
              <a:rPr lang="en-US" altLang="zh-CN" sz="2400" dirty="0">
                <a:solidFill>
                  <a:srgbClr val="FF0000"/>
                </a:solidFill>
                <a:latin typeface="HiddenHorzOCR-Identity-H"/>
              </a:rPr>
              <a:t>VPN</a:t>
            </a:r>
            <a:r>
              <a:rPr lang="zh-CN" altLang="en-US" sz="2400" dirty="0">
                <a:solidFill>
                  <a:srgbClr val="FF0000"/>
                </a:solidFill>
                <a:latin typeface="HiddenHorzOCR-Identity-H"/>
              </a:rPr>
              <a:t>，用</a:t>
            </a:r>
            <a:r>
              <a:rPr lang="en-US" altLang="zh-CN" sz="2400" dirty="0">
                <a:solidFill>
                  <a:srgbClr val="FF0000"/>
                </a:solidFill>
                <a:latin typeface="HiddenHorzOCR-Identity-H"/>
              </a:rPr>
              <a:t>VPN</a:t>
            </a:r>
            <a:r>
              <a:rPr lang="zh-CN" altLang="en-US" sz="2400" dirty="0">
                <a:solidFill>
                  <a:srgbClr val="FF0000"/>
                </a:solidFill>
                <a:latin typeface="HiddenHorzOCR-Identity-H"/>
              </a:rPr>
              <a:t>去找页表项，</a:t>
            </a:r>
            <a:r>
              <a:rPr lang="en-US" altLang="zh-CN" sz="2400" dirty="0">
                <a:solidFill>
                  <a:srgbClr val="FF0000"/>
                </a:solidFill>
                <a:latin typeface="HiddenHorzOCR-Identity-H"/>
              </a:rPr>
              <a:t>VPO</a:t>
            </a:r>
            <a:r>
              <a:rPr lang="zh-CN" altLang="en-US" sz="2400" dirty="0">
                <a:solidFill>
                  <a:srgbClr val="FF0000"/>
                </a:solidFill>
                <a:latin typeface="HiddenHorzOCR-Identity-H"/>
              </a:rPr>
              <a:t>和这段操作无关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52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CD38-DCD3-BE82-4F58-9787DB14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9F08D7-DCC3-84C5-08D6-03F73C35B684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B30375-EF6B-A42C-59F3-91D089DCEF8E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208D17-1655-0218-7A23-511A90B54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8" y="3790594"/>
            <a:ext cx="7723294" cy="209317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74171F7-9C0F-B5B0-67E6-2493CCA1DA5B}"/>
              </a:ext>
            </a:extLst>
          </p:cNvPr>
          <p:cNvSpPr txBox="1"/>
          <p:nvPr/>
        </p:nvSpPr>
        <p:spPr>
          <a:xfrm>
            <a:off x="205805" y="1086866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虚拟地址：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0x03d4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A741D92-8B68-68F7-6D26-0A3B3D227D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930"/>
          <a:stretch>
            <a:fillRect/>
          </a:stretch>
        </p:blipFill>
        <p:spPr>
          <a:xfrm>
            <a:off x="205805" y="2332608"/>
            <a:ext cx="8647406" cy="106724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60EFCA8-5220-C64C-ABB6-F0AA353F7271}"/>
              </a:ext>
            </a:extLst>
          </p:cNvPr>
          <p:cNvSpPr txBox="1"/>
          <p:nvPr/>
        </p:nvSpPr>
        <p:spPr>
          <a:xfrm>
            <a:off x="1671790" y="2637185"/>
            <a:ext cx="645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0     0      0      0      1      1     1      1     0      1      0      1     0     0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AE88D6-99B1-6BD9-A1EC-56DE3FBCF98C}"/>
              </a:ext>
            </a:extLst>
          </p:cNvPr>
          <p:cNvSpPr txBox="1"/>
          <p:nvPr/>
        </p:nvSpPr>
        <p:spPr>
          <a:xfrm>
            <a:off x="7053186" y="1197049"/>
            <a:ext cx="44911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此时就和：缓存寻址是一样的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（没有块偏移量）</a:t>
            </a:r>
            <a:endParaRPr lang="zh-CN" altLang="en-US" sz="24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DD35656-3363-746E-3623-535B4F7C81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437" b="71030"/>
          <a:stretch>
            <a:fillRect/>
          </a:stretch>
        </p:blipFill>
        <p:spPr>
          <a:xfrm>
            <a:off x="373877" y="1909485"/>
            <a:ext cx="5928950" cy="42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96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939A-B14A-09F1-3F1D-68535088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98A8F3-F0B5-5B0A-9D94-CF887ACE0B21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BF663A-AED8-A9B1-C105-83C95AD47120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BE349D-883E-B831-D3F7-4232F0F05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8" y="3790594"/>
            <a:ext cx="7723294" cy="209317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367B322-E38D-7EBE-9FF7-675FCE397F4E}"/>
              </a:ext>
            </a:extLst>
          </p:cNvPr>
          <p:cNvSpPr txBox="1"/>
          <p:nvPr/>
        </p:nvSpPr>
        <p:spPr>
          <a:xfrm>
            <a:off x="205805" y="1086866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虚拟地址：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0x03d4</a:t>
            </a:r>
            <a:endParaRPr lang="zh-CN" altLang="en-US" sz="24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E722ADA-9BDC-EF94-A1EF-1D5CDFBFDBB7}"/>
              </a:ext>
            </a:extLst>
          </p:cNvPr>
          <p:cNvGrpSpPr/>
          <p:nvPr/>
        </p:nvGrpSpPr>
        <p:grpSpPr>
          <a:xfrm>
            <a:off x="205805" y="2332608"/>
            <a:ext cx="8647406" cy="1067241"/>
            <a:chOff x="205805" y="2332608"/>
            <a:chExt cx="8647406" cy="10672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3B37A9A-7C0A-FAF1-9419-BFFD5031A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6930"/>
            <a:stretch>
              <a:fillRect/>
            </a:stretch>
          </p:blipFill>
          <p:spPr>
            <a:xfrm>
              <a:off x="205805" y="2332608"/>
              <a:ext cx="8647406" cy="1067241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DE2E0F0-23DD-8561-A967-0283061B04F6}"/>
                </a:ext>
              </a:extLst>
            </p:cNvPr>
            <p:cNvSpPr txBox="1"/>
            <p:nvPr/>
          </p:nvSpPr>
          <p:spPr>
            <a:xfrm>
              <a:off x="1671790" y="2637185"/>
              <a:ext cx="6454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0     0      0      0      1      1     1      1     0      1      0      1     0     0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99E47CA-92A6-8A3D-3346-78EA0BD83BA3}"/>
              </a:ext>
            </a:extLst>
          </p:cNvPr>
          <p:cNvSpPr txBox="1"/>
          <p:nvPr/>
        </p:nvSpPr>
        <p:spPr>
          <a:xfrm>
            <a:off x="7053186" y="1197049"/>
            <a:ext cx="44911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此时就和：缓存寻址是一样的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（没有块偏移量）</a:t>
            </a:r>
            <a:endParaRPr lang="zh-CN" altLang="en-US" sz="2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15468C8-7403-60C9-B0AF-E143FAB86551}"/>
              </a:ext>
            </a:extLst>
          </p:cNvPr>
          <p:cNvSpPr/>
          <p:nvPr/>
        </p:nvSpPr>
        <p:spPr>
          <a:xfrm>
            <a:off x="4339995" y="2526007"/>
            <a:ext cx="1117600" cy="74475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F4CDB42-6F16-E1E1-0E72-C2AB85C633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437" b="71030"/>
          <a:stretch>
            <a:fillRect/>
          </a:stretch>
        </p:blipFill>
        <p:spPr>
          <a:xfrm>
            <a:off x="373877" y="1909485"/>
            <a:ext cx="5928950" cy="423123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041B578B-6827-DF0A-6B9E-1CA3149ED998}"/>
              </a:ext>
            </a:extLst>
          </p:cNvPr>
          <p:cNvSpPr/>
          <p:nvPr/>
        </p:nvSpPr>
        <p:spPr>
          <a:xfrm>
            <a:off x="205804" y="4940299"/>
            <a:ext cx="518095" cy="508001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7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33E4-1858-BFFE-B29B-B8A05EB4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1E5272-D8EB-F9E0-4496-DBB2E8D2DF9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1048CE-DA68-D310-F3E0-30A6EE4B26DC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F4FD56-5F8A-7B4D-9ED2-22B5D5877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8" y="3790594"/>
            <a:ext cx="7723294" cy="209317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4FFF152-8A61-2FF7-D6E7-711B699088C4}"/>
              </a:ext>
            </a:extLst>
          </p:cNvPr>
          <p:cNvSpPr txBox="1"/>
          <p:nvPr/>
        </p:nvSpPr>
        <p:spPr>
          <a:xfrm>
            <a:off x="205805" y="1086866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虚拟地址：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0x03d4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AB971D0-3866-7BCE-8372-DF79A56F81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930"/>
          <a:stretch>
            <a:fillRect/>
          </a:stretch>
        </p:blipFill>
        <p:spPr>
          <a:xfrm>
            <a:off x="205805" y="2332608"/>
            <a:ext cx="8647406" cy="106724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02267EF-EB5A-378C-2904-8E2994DBCFAE}"/>
              </a:ext>
            </a:extLst>
          </p:cNvPr>
          <p:cNvSpPr txBox="1"/>
          <p:nvPr/>
        </p:nvSpPr>
        <p:spPr>
          <a:xfrm>
            <a:off x="1671790" y="2637185"/>
            <a:ext cx="645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0     0      0      0      1      1     1      1     0      1      0      1     0     0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F9D208-C5FF-8900-E960-15A1BB729D56}"/>
              </a:ext>
            </a:extLst>
          </p:cNvPr>
          <p:cNvSpPr txBox="1"/>
          <p:nvPr/>
        </p:nvSpPr>
        <p:spPr>
          <a:xfrm>
            <a:off x="7053186" y="1197049"/>
            <a:ext cx="44911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此时就和：缓存寻址是一样的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（没有块偏移量）</a:t>
            </a:r>
            <a:endParaRPr lang="zh-CN" altLang="en-US" sz="2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BF5A58B-C861-FBDB-30B2-655CDE5C5220}"/>
              </a:ext>
            </a:extLst>
          </p:cNvPr>
          <p:cNvSpPr/>
          <p:nvPr/>
        </p:nvSpPr>
        <p:spPr>
          <a:xfrm>
            <a:off x="4339995" y="2526007"/>
            <a:ext cx="1117600" cy="74475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EC9FF36-B299-0BD6-E179-3B514421C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437" b="71030"/>
          <a:stretch>
            <a:fillRect/>
          </a:stretch>
        </p:blipFill>
        <p:spPr>
          <a:xfrm>
            <a:off x="373877" y="1909485"/>
            <a:ext cx="5928950" cy="423123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64BD4F74-2DCA-6183-F129-C8A8C548663F}"/>
              </a:ext>
            </a:extLst>
          </p:cNvPr>
          <p:cNvSpPr/>
          <p:nvPr/>
        </p:nvSpPr>
        <p:spPr>
          <a:xfrm>
            <a:off x="205804" y="4940299"/>
            <a:ext cx="518095" cy="508001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05B3DD5-F28D-6278-56AE-B1F4349C6536}"/>
              </a:ext>
            </a:extLst>
          </p:cNvPr>
          <p:cNvSpPr/>
          <p:nvPr/>
        </p:nvSpPr>
        <p:spPr>
          <a:xfrm>
            <a:off x="2377504" y="4910473"/>
            <a:ext cx="518095" cy="549213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26D1BD-ADDD-DD4F-D932-B804120788D7}"/>
              </a:ext>
            </a:extLst>
          </p:cNvPr>
          <p:cNvSpPr txBox="1"/>
          <p:nvPr/>
        </p:nvSpPr>
        <p:spPr>
          <a:xfrm>
            <a:off x="8255998" y="4040137"/>
            <a:ext cx="44911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HiddenHorzOCR-Identity-H"/>
              </a:rPr>
              <a:t>命中！</a:t>
            </a:r>
            <a:endParaRPr lang="en-US" altLang="zh-CN" sz="3600" b="1" dirty="0">
              <a:solidFill>
                <a:srgbClr val="FF0000"/>
              </a:solidFill>
              <a:latin typeface="HiddenHorzOCR-Identity-H"/>
            </a:endParaRPr>
          </a:p>
          <a:p>
            <a:r>
              <a:rPr lang="zh-CN" altLang="en-US" sz="3600" b="1" dirty="0">
                <a:solidFill>
                  <a:srgbClr val="FF0000"/>
                </a:solidFill>
              </a:rPr>
              <a:t>回传</a:t>
            </a:r>
            <a:r>
              <a:rPr lang="en-US" altLang="zh-CN" sz="3600" b="1" dirty="0">
                <a:solidFill>
                  <a:srgbClr val="FF0000"/>
                </a:solidFill>
              </a:rPr>
              <a:t>PTE</a:t>
            </a:r>
            <a:r>
              <a:rPr lang="zh-CN" altLang="en-US" sz="3600" b="1" dirty="0">
                <a:solidFill>
                  <a:srgbClr val="FF0000"/>
                </a:solidFill>
              </a:rPr>
              <a:t>：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PPN</a:t>
            </a:r>
            <a:r>
              <a:rPr lang="zh-CN" altLang="en-US" sz="3600" b="1" dirty="0">
                <a:solidFill>
                  <a:srgbClr val="FF0000"/>
                </a:solidFill>
              </a:rPr>
              <a:t>：</a:t>
            </a:r>
            <a:r>
              <a:rPr lang="en-US" altLang="zh-CN" sz="3600" b="1" dirty="0">
                <a:solidFill>
                  <a:srgbClr val="FF0000"/>
                </a:solidFill>
              </a:rPr>
              <a:t>0D</a:t>
            </a:r>
          </a:p>
          <a:p>
            <a:r>
              <a:rPr lang="zh-CN" altLang="en-US" sz="3600" b="1" dirty="0">
                <a:solidFill>
                  <a:srgbClr val="FF0000"/>
                </a:solidFill>
              </a:rPr>
              <a:t>有效位：</a:t>
            </a:r>
            <a:r>
              <a:rPr lang="en-US" altLang="zh-CN" sz="3600" b="1" dirty="0">
                <a:solidFill>
                  <a:srgbClr val="FF0000"/>
                </a:solidFill>
              </a:rPr>
              <a:t>1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84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9B7AD-4290-D48D-99A6-B49D6B11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73184E-117F-6951-9423-03030C9D4547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E6775C-7E40-86FA-E766-91E4333149BB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D9B759-552F-5CA9-D74A-80F7E4D7B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05" y="1256715"/>
            <a:ext cx="4887007" cy="47250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1D8F0A2-FB21-5B0E-353D-C3EF3C3BE716}"/>
              </a:ext>
            </a:extLst>
          </p:cNvPr>
          <p:cNvSpPr txBox="1"/>
          <p:nvPr/>
        </p:nvSpPr>
        <p:spPr>
          <a:xfrm>
            <a:off x="5498674" y="1468098"/>
            <a:ext cx="65320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翻译（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MMU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）拿到了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0x03d4</a:t>
            </a:r>
          </a:p>
          <a:p>
            <a:endParaRPr lang="en-US" altLang="zh-CN" sz="2400" dirty="0"/>
          </a:p>
          <a:p>
            <a:r>
              <a:rPr lang="en-US" altLang="zh-CN" sz="2400" dirty="0"/>
              <a:t>TLB</a:t>
            </a:r>
            <a:r>
              <a:rPr lang="zh-CN" altLang="en-US" sz="2400" dirty="0"/>
              <a:t>缓存依靠</a:t>
            </a:r>
            <a:r>
              <a:rPr lang="en-US" altLang="zh-CN" sz="2400" dirty="0"/>
              <a:t>0x03d4</a:t>
            </a:r>
            <a:r>
              <a:rPr lang="zh-CN" altLang="en-US" sz="2400" dirty="0"/>
              <a:t>的</a:t>
            </a:r>
            <a:r>
              <a:rPr lang="en-US" altLang="zh-CN" sz="2400" dirty="0"/>
              <a:t>VPN</a:t>
            </a:r>
            <a:r>
              <a:rPr lang="zh-CN" altLang="en-US" sz="2400" dirty="0"/>
              <a:t>段，找到之后：</a:t>
            </a:r>
            <a:endParaRPr lang="en-US" altLang="zh-CN" sz="2400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回传</a:t>
            </a:r>
            <a:r>
              <a:rPr lang="en-US" altLang="zh-CN" sz="2400" b="1" dirty="0">
                <a:solidFill>
                  <a:srgbClr val="FF0000"/>
                </a:solidFill>
              </a:rPr>
              <a:t>PTE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PPN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0D</a:t>
            </a:r>
          </a:p>
          <a:p>
            <a:r>
              <a:rPr lang="zh-CN" altLang="en-US" sz="2400" b="1" dirty="0">
                <a:solidFill>
                  <a:srgbClr val="FF0000"/>
                </a:solidFill>
              </a:rPr>
              <a:t>有效位：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51426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50088-4AE6-0510-E91B-33DFA679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83DEEE-30E4-5930-7CC6-445E73613410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08B431-A5DD-C2DE-442E-C1590943D43E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6619F3-04C8-8899-BEC0-C73337446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05" y="1256715"/>
            <a:ext cx="4887007" cy="47250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8D315C6-8808-E766-CCA9-101A47C75500}"/>
              </a:ext>
            </a:extLst>
          </p:cNvPr>
          <p:cNvSpPr txBox="1"/>
          <p:nvPr/>
        </p:nvSpPr>
        <p:spPr>
          <a:xfrm>
            <a:off x="5498674" y="1468098"/>
            <a:ext cx="65320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翻译（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MMU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）拿到了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0x03d4</a:t>
            </a:r>
          </a:p>
          <a:p>
            <a:endParaRPr lang="en-US" altLang="zh-CN" sz="2400" dirty="0"/>
          </a:p>
          <a:p>
            <a:r>
              <a:rPr lang="en-US" altLang="zh-CN" sz="2400" dirty="0"/>
              <a:t>TLB</a:t>
            </a:r>
            <a:r>
              <a:rPr lang="zh-CN" altLang="en-US" sz="2400" dirty="0"/>
              <a:t>缓存依靠</a:t>
            </a:r>
            <a:r>
              <a:rPr lang="en-US" altLang="zh-CN" sz="2400" dirty="0"/>
              <a:t>0x03d4</a:t>
            </a:r>
            <a:r>
              <a:rPr lang="zh-CN" altLang="en-US" sz="2400" dirty="0"/>
              <a:t>的</a:t>
            </a:r>
            <a:r>
              <a:rPr lang="en-US" altLang="zh-CN" sz="2400" dirty="0"/>
              <a:t>VPN</a:t>
            </a:r>
            <a:r>
              <a:rPr lang="zh-CN" altLang="en-US" sz="2400" dirty="0"/>
              <a:t>段，找到之后：</a:t>
            </a:r>
            <a:endParaRPr lang="en-US" altLang="zh-CN" sz="2400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回传</a:t>
            </a:r>
            <a:r>
              <a:rPr lang="en-US" altLang="zh-CN" sz="2400" b="1" dirty="0">
                <a:solidFill>
                  <a:srgbClr val="FF0000"/>
                </a:solidFill>
              </a:rPr>
              <a:t>PTE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PPN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0D</a:t>
            </a:r>
          </a:p>
          <a:p>
            <a:r>
              <a:rPr lang="zh-CN" altLang="en-US" sz="2400" b="1" dirty="0">
                <a:solidFill>
                  <a:srgbClr val="FF0000"/>
                </a:solidFill>
              </a:rPr>
              <a:t>有效位：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21EB8F-A206-070F-5A02-7D417A506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020" y="5136465"/>
            <a:ext cx="6283973" cy="136131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453016D-0004-123E-1972-984609509F50}"/>
              </a:ext>
            </a:extLst>
          </p:cNvPr>
          <p:cNvGrpSpPr/>
          <p:nvPr/>
        </p:nvGrpSpPr>
        <p:grpSpPr>
          <a:xfrm>
            <a:off x="5416201" y="3873501"/>
            <a:ext cx="6074345" cy="1262964"/>
            <a:chOff x="205805" y="2332608"/>
            <a:chExt cx="8647406" cy="106724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354FAFD-A2A4-58D0-B969-A28F2C454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6930"/>
            <a:stretch>
              <a:fillRect/>
            </a:stretch>
          </p:blipFill>
          <p:spPr>
            <a:xfrm>
              <a:off x="205805" y="2332608"/>
              <a:ext cx="8647406" cy="1067241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1A70521-C432-9123-30D7-BF0AD9A1862B}"/>
                </a:ext>
              </a:extLst>
            </p:cNvPr>
            <p:cNvSpPr txBox="1"/>
            <p:nvPr/>
          </p:nvSpPr>
          <p:spPr>
            <a:xfrm>
              <a:off x="1608513" y="2706265"/>
              <a:ext cx="6557673" cy="234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FF0000"/>
                  </a:solidFill>
                </a:rPr>
                <a:t>0      0       0      0      1      1      1      1      0      1       0      1     0     0</a:t>
              </a:r>
              <a:endParaRPr lang="zh-CN" altLang="en-US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071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0CCE-6C91-9687-59CD-30FD33B5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748902-7972-7270-D2FB-CB1A94A91355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DE07E6-9DC3-DA15-2F39-47D4447D4153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4B03DC2-C97C-9A95-DACA-D62995AEE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20" y="1593165"/>
            <a:ext cx="6283973" cy="13613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0A89BAF-0688-143C-7010-F8E5A662B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09" r="50945"/>
          <a:stretch>
            <a:fillRect/>
          </a:stretch>
        </p:blipFill>
        <p:spPr>
          <a:xfrm>
            <a:off x="6654561" y="1986865"/>
            <a:ext cx="5274119" cy="44349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F872DF-BAA1-C9DB-1E8F-2A9280A6779F}"/>
              </a:ext>
            </a:extLst>
          </p:cNvPr>
          <p:cNvSpPr txBox="1"/>
          <p:nvPr/>
        </p:nvSpPr>
        <p:spPr>
          <a:xfrm>
            <a:off x="463124" y="4154148"/>
            <a:ext cx="65320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拿到物理地址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PA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，就可以靠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PA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去高速缓存读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字节了，就跟之前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Cache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学的没什么差别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98667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9262-6CE9-867A-B1EA-3B9D6DD3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2CCA61-3844-73EF-F681-0B67FB4204B8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63AD0D-C3DB-605A-6424-770625F7C00D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虚拟内存的地址翻译（</a:t>
            </a:r>
            <a:r>
              <a:rPr lang="zh-CN" altLang="en-US" b="1" dirty="0">
                <a:solidFill>
                  <a:srgbClr val="FF0000"/>
                </a:solidFill>
              </a:rPr>
              <a:t>重要</a:t>
            </a:r>
            <a:r>
              <a:rPr lang="zh-CN" altLang="en-US" dirty="0"/>
              <a:t>）</a:t>
            </a:r>
            <a:endParaRPr lang="zh-CN" altLang="en-US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8A5CD-9EBF-845B-C5A1-3CD397062327}"/>
              </a:ext>
            </a:extLst>
          </p:cNvPr>
          <p:cNvSpPr txBox="1"/>
          <p:nvPr/>
        </p:nvSpPr>
        <p:spPr>
          <a:xfrm>
            <a:off x="237682" y="1358855"/>
            <a:ext cx="65320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如果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TLB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未命中，那么发一个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PTEA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（页表条目地址）到高速缓存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/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内存中，收到新的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PTE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，存到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TLB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中去。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（其实和之前缓存未命中是一样的行为）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7BE1BF-0B60-37BF-4693-5A6DDF3453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82"/>
          <a:stretch>
            <a:fillRect/>
          </a:stretch>
        </p:blipFill>
        <p:spPr>
          <a:xfrm>
            <a:off x="6663881" y="1504905"/>
            <a:ext cx="5528119" cy="452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4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B066-505C-9D13-C8DC-64F57F9F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1E2CAB-A304-778E-1259-EBE6B6E4DCD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77D22A-0F00-26AE-5AE1-0A3B4925DF1D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虚拟内存的多级页表</a:t>
            </a:r>
            <a:endParaRPr lang="zh-CN" altLang="en-US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4F004E-1114-F6CE-812F-CA047EB3F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89" y="1842192"/>
            <a:ext cx="7298511" cy="43427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17D6BE8-5F36-20CC-C9E4-FE4F9CD20D55}"/>
              </a:ext>
            </a:extLst>
          </p:cNvPr>
          <p:cNvSpPr txBox="1"/>
          <p:nvPr/>
        </p:nvSpPr>
        <p:spPr>
          <a:xfrm>
            <a:off x="7881348" y="2553392"/>
            <a:ext cx="379630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0" i="0" dirty="0">
                <a:solidFill>
                  <a:srgbClr val="2A2726"/>
                </a:solidFill>
                <a:effectLst/>
                <a:latin typeface="HiddenHorzOCR-Identity-H"/>
              </a:rPr>
              <a:t>对于 </a:t>
            </a:r>
            <a:r>
              <a:rPr lang="zh-CN" altLang="en-US" sz="2000" b="0" i="0" dirty="0">
                <a:solidFill>
                  <a:srgbClr val="6B6765"/>
                </a:solidFill>
                <a:effectLst/>
                <a:latin typeface="HiddenHorzOCR-Identity-H"/>
              </a:rPr>
              <a:t>一 </a:t>
            </a:r>
            <a:r>
              <a:rPr lang="zh-CN" altLang="en-US" sz="2000" b="0" i="0" dirty="0">
                <a:solidFill>
                  <a:srgbClr val="2A2726"/>
                </a:solidFill>
                <a:effectLst/>
                <a:latin typeface="HiddenHorzOCR-Identity-H"/>
              </a:rPr>
              <a:t>个典型</a:t>
            </a:r>
          </a:p>
          <a:p>
            <a:pPr>
              <a:buNone/>
            </a:pPr>
            <a:r>
              <a:rPr lang="zh-CN" altLang="en-US" sz="2000" b="0" i="0" dirty="0">
                <a:solidFill>
                  <a:srgbClr val="2A2726"/>
                </a:solidFill>
                <a:effectLst/>
                <a:latin typeface="HiddenHorzOCR-Identity-H"/>
              </a:rPr>
              <a:t>的程序， </a:t>
            </a:r>
            <a:r>
              <a:rPr lang="en-US" altLang="zh-CN" sz="2000" b="0" i="0" dirty="0">
                <a:solidFill>
                  <a:srgbClr val="2A2726"/>
                </a:solidFill>
                <a:effectLst/>
                <a:latin typeface="HiddenHorzOCR-Identity-H"/>
              </a:rPr>
              <a:t>4GB </a:t>
            </a:r>
            <a:r>
              <a:rPr lang="zh-CN" altLang="en-US" sz="2000" b="0" i="0" dirty="0">
                <a:solidFill>
                  <a:srgbClr val="2A2726"/>
                </a:solidFill>
                <a:effectLst/>
                <a:latin typeface="HiddenHorzOCR-Identity-H"/>
              </a:rPr>
              <a:t>的虚拟地址</a:t>
            </a:r>
            <a:r>
              <a:rPr lang="zh-CN" altLang="en-US" sz="2000" b="0" i="0" dirty="0">
                <a:solidFill>
                  <a:srgbClr val="55514F"/>
                </a:solidFill>
                <a:effectLst/>
                <a:latin typeface="HiddenHorzOCR-Identity-H"/>
              </a:rPr>
              <a:t>空</a:t>
            </a:r>
            <a:r>
              <a:rPr lang="zh-CN" altLang="en-US" sz="2000" b="0" i="0" dirty="0">
                <a:solidFill>
                  <a:srgbClr val="2A2726"/>
                </a:solidFill>
                <a:effectLst/>
                <a:latin typeface="HiddenHorzOCR-Identity-H"/>
              </a:rPr>
              <a:t>间的大部分都会是未分配的 </a:t>
            </a:r>
            <a:r>
              <a:rPr lang="zh-CN" altLang="en-US" sz="2000" b="0" i="0" dirty="0">
                <a:solidFill>
                  <a:srgbClr val="55514F"/>
                </a:solidFill>
                <a:effectLst/>
                <a:latin typeface="HiddenHorzOCR-Identity-H"/>
              </a:rPr>
              <a:t>。</a:t>
            </a:r>
            <a:endParaRPr lang="en-US" altLang="zh-CN" sz="2000" b="0" i="0" dirty="0">
              <a:solidFill>
                <a:srgbClr val="55514F"/>
              </a:solidFill>
              <a:effectLst/>
              <a:latin typeface="HiddenHorzOCR-Identity-H"/>
            </a:endParaRPr>
          </a:p>
          <a:p>
            <a:pPr>
              <a:buNone/>
            </a:pPr>
            <a:endParaRPr lang="en-US" altLang="zh-CN" sz="2000" dirty="0">
              <a:solidFill>
                <a:srgbClr val="55514F"/>
              </a:solidFill>
              <a:latin typeface="HiddenHorzOCR-Identity-H"/>
            </a:endParaRPr>
          </a:p>
          <a:p>
            <a:pPr>
              <a:buNone/>
            </a:pPr>
            <a:endParaRPr lang="en-US" altLang="zh-CN" sz="2000" dirty="0">
              <a:solidFill>
                <a:srgbClr val="55514F"/>
              </a:solidFill>
              <a:latin typeface="HiddenHorzOCR-Identity-H"/>
            </a:endParaRPr>
          </a:p>
          <a:p>
            <a:r>
              <a:rPr lang="zh-CN" altLang="en-US" dirty="0"/>
              <a:t>只有一级页表才需要总是在主存中；虚拟内存系统可以在需要时创建、页面调入或调出二级页表，这就减少了主存的压力</a:t>
            </a:r>
            <a:r>
              <a:rPr lang="zh-CN" altLang="en-US" sz="2000" dirty="0"/>
              <a:t> </a:t>
            </a:r>
            <a:br>
              <a:rPr lang="zh-CN" altLang="en-US" sz="2000" dirty="0"/>
            </a:br>
            <a:r>
              <a:rPr lang="zh-CN" alt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2701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07C6-22CD-22E2-53E0-D483159E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193300-E18E-8A4C-CFA3-27816FC76299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4CE291-0E07-DF10-FBF8-0844DB2CC382}"/>
              </a:ext>
            </a:extLst>
          </p:cNvPr>
          <p:cNvSpPr txBox="1">
            <a:spLocks/>
          </p:cNvSpPr>
          <p:nvPr/>
        </p:nvSpPr>
        <p:spPr bwMode="auto">
          <a:xfrm>
            <a:off x="205805" y="149659"/>
            <a:ext cx="8050193" cy="65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虚拟内存的多级页表</a:t>
            </a:r>
            <a:endParaRPr lang="zh-CN" altLang="en-US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F97C2-17FD-6816-166A-B6EF0C198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936" y="2026119"/>
            <a:ext cx="7802064" cy="44678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2C6CB3-6167-0B00-72CC-2060530BC3B0}"/>
              </a:ext>
            </a:extLst>
          </p:cNvPr>
          <p:cNvSpPr txBox="1"/>
          <p:nvPr/>
        </p:nvSpPr>
        <p:spPr>
          <a:xfrm>
            <a:off x="431374" y="1525248"/>
            <a:ext cx="6532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VPN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到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PPN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：过程复杂了，但是道理简单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3BEDC7-479A-EF46-BA15-475A4D6CAF5F}"/>
              </a:ext>
            </a:extLst>
          </p:cNvPr>
          <p:cNvSpPr txBox="1"/>
          <p:nvPr/>
        </p:nvSpPr>
        <p:spPr>
          <a:xfrm>
            <a:off x="291674" y="3290548"/>
            <a:ext cx="65320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虽然过程复杂，但是时间可能不慢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因为：</a:t>
            </a:r>
            <a:endParaRPr lang="en-US" altLang="zh-CN" sz="2400" dirty="0">
              <a:solidFill>
                <a:srgbClr val="171313"/>
              </a:solidFill>
              <a:latin typeface="HiddenHorzOCR-Identity-H"/>
            </a:endParaRPr>
          </a:p>
          <a:p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TLB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可以缓存不同层次上页表的 </a:t>
            </a:r>
            <a:r>
              <a:rPr lang="en-US" altLang="zh-CN" sz="2400" dirty="0">
                <a:solidFill>
                  <a:srgbClr val="171313"/>
                </a:solidFill>
                <a:latin typeface="HiddenHorzOCR-Identity-H"/>
              </a:rPr>
              <a:t>PTE</a:t>
            </a:r>
            <a:r>
              <a:rPr lang="zh-CN" altLang="en-US" sz="2400" dirty="0">
                <a:solidFill>
                  <a:srgbClr val="171313"/>
                </a:solidFill>
                <a:latin typeface="HiddenHorzOCR-Identity-H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031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814</Words>
  <Application>Microsoft Office PowerPoint</Application>
  <PresentationFormat>宽屏</PresentationFormat>
  <Paragraphs>149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HiddenHorzOCR-Identity-H</vt:lpstr>
      <vt:lpstr>等线</vt:lpstr>
      <vt:lpstr>等线 Light</vt:lpstr>
      <vt:lpstr>黑体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思远 曹</dc:creator>
  <cp:lastModifiedBy>思远 曹</cp:lastModifiedBy>
  <cp:revision>94</cp:revision>
  <dcterms:created xsi:type="dcterms:W3CDTF">2025-11-25T06:13:31Z</dcterms:created>
  <dcterms:modified xsi:type="dcterms:W3CDTF">2025-11-25T11:55:17Z</dcterms:modified>
</cp:coreProperties>
</file>