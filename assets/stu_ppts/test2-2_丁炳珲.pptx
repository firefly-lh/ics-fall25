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6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0A2DD-7C51-4E63-B861-BC50B62159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B5193-C362-4B61-88AB-7F6B343C2E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460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B5193-C362-4B61-88AB-7F6B343C2E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29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1729A8-06C7-D6B2-9C71-C8A51601D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339FBE-5114-8453-D73F-4D8301994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65953B-78F5-ED4C-2EFF-B50FC1CD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30FB06-7306-94BA-7D94-838D612D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7450ED-8E0E-6595-48AF-4ADEA349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682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08569-C341-96A1-AFE8-8368D7EA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811EB9-C37C-F46C-58F3-6786017BB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AE97DE-8F00-932D-E166-DF196E98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E3FF71-0922-6A28-ABC0-07418B5EE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C22400-0696-A558-20BB-61C4ED08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919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9235B-D52B-2284-4C76-BFFEE384E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039D7C-BA4C-F0C2-399C-B8734D95A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3B078-3837-877E-845B-5CDD9171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D3F395-7C10-56B6-80D6-8763E455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C26179-5945-4B02-43CC-DD2996F8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87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29DE8-864C-7302-B2E9-69C86FD3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CD7F6F-3AE3-8907-5391-38CB69EE4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5CBAF0-0890-31C5-39E7-E46888A90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D77100-868E-ECDC-0CE6-B11DD5E3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259443-E6EA-05B3-ECD5-D4C853CB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8E184B-5544-F361-3643-ED430A7D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86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F8325-9BFF-605C-5341-43EDA7E4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934CB0-4DCA-995E-A574-99FDB4E38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8D7E88-DF0F-CAD2-4367-D66D8DD46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37C4EE-D53E-87A3-0A8B-78B79FFA5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F6E962-339E-4F5B-A771-3E412E1F8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F9FD8A-F8C6-6DD2-AA73-87DC879F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E32581-2712-506F-39A9-887796429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4E5779-EA8E-CA04-E365-5B125088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750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2F5EF-DA96-35B5-F8D7-C570432F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5A934B-0C9E-843D-6657-272B4F0B9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23BABD-3A05-2055-CD4C-3DFE8F568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3A92B7-634A-3A60-BBD3-E415D251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4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1E18B2-BF24-7B38-584C-53D7572D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9B38FD-85C4-8D04-2E50-4992C844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800ED9-1518-3926-1FA9-205B6DC9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018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EB27B-E5C6-86EC-B34A-F5E944A18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22DE33-94EC-5B12-B9BA-96E213072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0013D6-739E-333A-DA94-57FD9165B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91FF3A-0BF0-F38B-1A92-FE6B2665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26106A-5F1D-B039-8EBD-34E8BC3A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F0342F-4B4F-3C42-5FAC-3D478D238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78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55F5A-00A1-3852-C295-191D61FD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32E63F-AC20-ACE2-51C9-2F4BBA9D7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3CCCC0-ED74-2227-647F-762B38241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DFAFE7-F830-197D-856D-88874846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1D35C6-BF72-C6FA-0969-E948F74D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646BA6-C051-948B-C753-E1FA6312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64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770AF-E0D6-2FE4-C460-E8F3C4E41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99A25F-76E3-96F2-E6BA-577865418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D5E99-92D2-F85A-16B4-925EF73C0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BB656-B259-9BE3-7DE8-3C5DEDD25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3EAAC4-510C-7D0C-3FA3-7CE3246A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803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6CA15F-FC42-AA94-85C0-5268F847B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D536F0-BE6D-E813-5190-D2D272525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C94721-8F4C-2721-6E9D-DDBEEE9D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3A35CD-4361-617B-3128-6808A84D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E8ACF-063F-C000-3ACC-0BB41315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24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280086-F2AC-AFFC-FE7A-65944F0A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9E4392-5C68-52FD-B327-AA50E160D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39A70-FE48-DF24-7007-09A973EE2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3A2AD-81A2-41B7-B6EA-B5A5D0DBF908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5110B-68A7-2479-2C42-0BDFB33EA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268F55-6E50-3578-83CF-627261D23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F2E7D-27CC-4DBB-B378-D16A7678F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62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692C3-54E2-065A-2588-013F92686A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16~18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AEFF27-CDC2-DA41-886A-7AB5112931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796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A70F8-9DED-8722-E205-734B1704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23268" cy="54240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16 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高速缓存的三种未命中类型和场景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8AF7BD-D394-14EA-7B20-8B31E8E70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155"/>
            <a:ext cx="10515600" cy="5083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、冷未命中：首次访问某段内存数据时，该数据未被载入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，导致的未命中。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、冲突未命中：在直接映射或组相联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结构中，多段不同的内存数据被强制映射到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的同一组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同一行，导致其中部分数据被替换，后续访问被替换数据时引发的未命中。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、容量未命中：程序运行过程中，需频繁访问的 “工作集”（核心数据集合）大小超过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总容量，部分已载入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的数据被替换后，再次访问时引发的未命中。</a:t>
            </a:r>
          </a:p>
        </p:txBody>
      </p:sp>
    </p:spTree>
    <p:extLst>
      <p:ext uri="{BB962C8B-B14F-4D97-AF65-F5344CB8AC3E}">
        <p14:creationId xmlns:p14="http://schemas.microsoft.com/office/powerpoint/2010/main" val="137526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C7E2E4-5A0D-7430-D4A7-64896A2D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027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17</a:t>
            </a:r>
            <a:endParaRPr lang="zh-CN" altLang="en-US" sz="2800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02A13297-1DF1-4761-3884-6BED4A6F4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36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存储地址空间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位      由于容量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=2^n,n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为地址位数，所以地址位数是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6;</a:t>
            </a:r>
          </a:p>
          <a:p>
            <a:pPr marL="0" indent="0"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容量为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字节，每块大小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字节     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B=4 byte/block;</a:t>
            </a:r>
          </a:p>
          <a:p>
            <a:pPr marL="0" indent="0"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映射方式：直接映射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FB1B609-ABAF-5322-D6C6-C0EC66E73BD6}"/>
              </a:ext>
            </a:extLst>
          </p:cNvPr>
          <p:cNvCxnSpPr/>
          <p:nvPr/>
        </p:nvCxnSpPr>
        <p:spPr>
          <a:xfrm>
            <a:off x="3506346" y="1636295"/>
            <a:ext cx="728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56778CE-FD77-681F-09CE-5119C349DD0D}"/>
              </a:ext>
            </a:extLst>
          </p:cNvPr>
          <p:cNvCxnSpPr/>
          <p:nvPr/>
        </p:nvCxnSpPr>
        <p:spPr>
          <a:xfrm>
            <a:off x="5878286" y="2509443"/>
            <a:ext cx="8043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004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8AF981-9A12-3439-61EB-6146B7B13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6">
            <a:extLst>
              <a:ext uri="{FF2B5EF4-FFF2-40B4-BE49-F238E27FC236}">
                <a16:creationId xmlns:a16="http://schemas.microsoft.com/office/drawing/2014/main" id="{A71C8522-8DD6-0197-7224-5FC6742AE5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5716138"/>
              </p:ext>
            </p:extLst>
          </p:nvPr>
        </p:nvGraphicFramePr>
        <p:xfrm>
          <a:off x="116878" y="27501"/>
          <a:ext cx="12004072" cy="7020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312">
                  <a:extLst>
                    <a:ext uri="{9D8B030D-6E8A-4147-A177-3AD203B41FA5}">
                      <a16:colId xmlns:a16="http://schemas.microsoft.com/office/drawing/2014/main" val="2323072965"/>
                    </a:ext>
                  </a:extLst>
                </a:gridCol>
                <a:gridCol w="1473312">
                  <a:extLst>
                    <a:ext uri="{9D8B030D-6E8A-4147-A177-3AD203B41FA5}">
                      <a16:colId xmlns:a16="http://schemas.microsoft.com/office/drawing/2014/main" val="1151420797"/>
                    </a:ext>
                  </a:extLst>
                </a:gridCol>
                <a:gridCol w="1473312">
                  <a:extLst>
                    <a:ext uri="{9D8B030D-6E8A-4147-A177-3AD203B41FA5}">
                      <a16:colId xmlns:a16="http://schemas.microsoft.com/office/drawing/2014/main" val="612394118"/>
                    </a:ext>
                  </a:extLst>
                </a:gridCol>
                <a:gridCol w="1473312">
                  <a:extLst>
                    <a:ext uri="{9D8B030D-6E8A-4147-A177-3AD203B41FA5}">
                      <a16:colId xmlns:a16="http://schemas.microsoft.com/office/drawing/2014/main" val="411491247"/>
                    </a:ext>
                  </a:extLst>
                </a:gridCol>
                <a:gridCol w="1473312">
                  <a:extLst>
                    <a:ext uri="{9D8B030D-6E8A-4147-A177-3AD203B41FA5}">
                      <a16:colId xmlns:a16="http://schemas.microsoft.com/office/drawing/2014/main" val="863748244"/>
                    </a:ext>
                  </a:extLst>
                </a:gridCol>
                <a:gridCol w="1473312">
                  <a:extLst>
                    <a:ext uri="{9D8B030D-6E8A-4147-A177-3AD203B41FA5}">
                      <a16:colId xmlns:a16="http://schemas.microsoft.com/office/drawing/2014/main" val="1929511420"/>
                    </a:ext>
                  </a:extLst>
                </a:gridCol>
                <a:gridCol w="1473312">
                  <a:extLst>
                    <a:ext uri="{9D8B030D-6E8A-4147-A177-3AD203B41FA5}">
                      <a16:colId xmlns:a16="http://schemas.microsoft.com/office/drawing/2014/main" val="4179147920"/>
                    </a:ext>
                  </a:extLst>
                </a:gridCol>
                <a:gridCol w="1690888">
                  <a:extLst>
                    <a:ext uri="{9D8B030D-6E8A-4147-A177-3AD203B41FA5}">
                      <a16:colId xmlns:a16="http://schemas.microsoft.com/office/drawing/2014/main" val="2340178859"/>
                    </a:ext>
                  </a:extLst>
                </a:gridCol>
              </a:tblGrid>
              <a:tr h="906120">
                <a:tc>
                  <a:txBody>
                    <a:bodyPr/>
                    <a:lstStyle/>
                    <a:p>
                      <a:r>
                        <a:rPr lang="zh-CN" altLang="en-US" dirty="0"/>
                        <a:t>访问地址（</a:t>
                      </a:r>
                      <a:r>
                        <a:rPr lang="en-US" altLang="zh-CN" dirty="0"/>
                        <a:t>10</a:t>
                      </a:r>
                      <a:r>
                        <a:rPr lang="zh-CN" altLang="en-US" dirty="0"/>
                        <a:t>进制）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访问地址（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进制）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 Tag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</a:t>
                      </a:r>
                      <a:r>
                        <a:rPr lang="zh-CN" altLang="en-US" dirty="0"/>
                        <a:t>组索引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块内偏移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对应组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根据组索引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hit/miss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Cache</a:t>
                      </a:r>
                      <a:r>
                        <a:rPr lang="zh-CN" altLang="en-US" dirty="0"/>
                        <a:t>状态更新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789984"/>
                  </a:ext>
                </a:extLst>
              </a:tr>
              <a:tr h="1136952">
                <a:tc>
                  <a:txBody>
                    <a:bodyPr/>
                    <a:lstStyle/>
                    <a:p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010010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Set0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Miss(v=0)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set0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v=1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tag=01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Block=Mem[16-19]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808836"/>
                  </a:ext>
                </a:extLst>
              </a:tr>
              <a:tr h="1136952">
                <a:tc>
                  <a:txBody>
                    <a:bodyPr/>
                    <a:lstStyle/>
                    <a:p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Set2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Miss(v=0)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set2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v=1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Tag=10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Block=Mem[40-43]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895803"/>
                  </a:ext>
                </a:extLst>
              </a:tr>
              <a:tr h="999549">
                <a:tc>
                  <a:txBody>
                    <a:bodyPr/>
                    <a:lstStyle/>
                    <a:p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110010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Set0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Miss(tag</a:t>
                      </a:r>
                      <a:r>
                        <a:rPr lang="zh-CN" altLang="en-US" dirty="0"/>
                        <a:t>不匹配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set0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 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更新为 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Block=Mem [48-51]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019035"/>
                  </a:ext>
                </a:extLst>
              </a:tr>
              <a:tr h="999549"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Set0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Miss(tag</a:t>
                      </a:r>
                      <a:r>
                        <a:rPr lang="zh-CN" altLang="en-US" dirty="0"/>
                        <a:t>不匹配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set0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 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更新为 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Block=Mem [16-19]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39702"/>
                  </a:ext>
                </a:extLst>
              </a:tr>
              <a:tr h="434033">
                <a:tc>
                  <a:txBody>
                    <a:bodyPr/>
                    <a:lstStyle/>
                    <a:p>
                      <a:r>
                        <a:rPr lang="en-US" altLang="zh-CN" dirty="0"/>
                        <a:t>43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101011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Set2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Hit(v=1</a:t>
                      </a:r>
                      <a:r>
                        <a:rPr lang="zh-CN" altLang="en-US" dirty="0"/>
                        <a:t>且</a:t>
                      </a:r>
                      <a:r>
                        <a:rPr lang="en-US" altLang="zh-CN" dirty="0"/>
                        <a:t>tag</a:t>
                      </a:r>
                      <a:r>
                        <a:rPr lang="zh-CN" altLang="en-US" dirty="0"/>
                        <a:t>匹配）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无更新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703190"/>
                  </a:ext>
                </a:extLst>
              </a:tr>
              <a:tr h="999549">
                <a:tc>
                  <a:txBody>
                    <a:bodyPr/>
                    <a:lstStyle/>
                    <a:p>
                      <a:r>
                        <a:rPr lang="en-US" altLang="zh-CN" dirty="0"/>
                        <a:t>48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set0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Miss(tag</a:t>
                      </a:r>
                      <a:r>
                        <a:rPr lang="zh-CN" altLang="en-US" dirty="0"/>
                        <a:t>不匹配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set0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 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更新为 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Block=Mem [48-51]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994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871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A6208D6-AF0D-B2B6-1F02-957673286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018859"/>
              </p:ext>
            </p:extLst>
          </p:nvPr>
        </p:nvGraphicFramePr>
        <p:xfrm>
          <a:off x="1313161" y="300279"/>
          <a:ext cx="8846840" cy="4924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710">
                  <a:extLst>
                    <a:ext uri="{9D8B030D-6E8A-4147-A177-3AD203B41FA5}">
                      <a16:colId xmlns:a16="http://schemas.microsoft.com/office/drawing/2014/main" val="915773135"/>
                    </a:ext>
                  </a:extLst>
                </a:gridCol>
                <a:gridCol w="2211710">
                  <a:extLst>
                    <a:ext uri="{9D8B030D-6E8A-4147-A177-3AD203B41FA5}">
                      <a16:colId xmlns:a16="http://schemas.microsoft.com/office/drawing/2014/main" val="3985432933"/>
                    </a:ext>
                  </a:extLst>
                </a:gridCol>
                <a:gridCol w="2211710">
                  <a:extLst>
                    <a:ext uri="{9D8B030D-6E8A-4147-A177-3AD203B41FA5}">
                      <a16:colId xmlns:a16="http://schemas.microsoft.com/office/drawing/2014/main" val="122025515"/>
                    </a:ext>
                  </a:extLst>
                </a:gridCol>
                <a:gridCol w="2211710">
                  <a:extLst>
                    <a:ext uri="{9D8B030D-6E8A-4147-A177-3AD203B41FA5}">
                      <a16:colId xmlns:a16="http://schemas.microsoft.com/office/drawing/2014/main" val="465941323"/>
                    </a:ext>
                  </a:extLst>
                </a:gridCol>
              </a:tblGrid>
              <a:tr h="98497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       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          Tag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             Block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787142"/>
                  </a:ext>
                </a:extLst>
              </a:tr>
              <a:tr h="984973">
                <a:tc>
                  <a:txBody>
                    <a:bodyPr/>
                    <a:lstStyle/>
                    <a:p>
                      <a:r>
                        <a:rPr lang="en-US" altLang="zh-CN" dirty="0"/>
                        <a:t>Set0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Mem[48-51]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517283"/>
                  </a:ext>
                </a:extLst>
              </a:tr>
              <a:tr h="984973">
                <a:tc>
                  <a:txBody>
                    <a:bodyPr/>
                    <a:lstStyle/>
                    <a:p>
                      <a:r>
                        <a:rPr lang="en-US" altLang="zh-CN" dirty="0"/>
                        <a:t>Set1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Mem[4-7]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324341"/>
                  </a:ext>
                </a:extLst>
              </a:tr>
              <a:tr h="984973">
                <a:tc>
                  <a:txBody>
                    <a:bodyPr/>
                    <a:lstStyle/>
                    <a:p>
                      <a:r>
                        <a:rPr lang="en-US" altLang="zh-CN" dirty="0"/>
                        <a:t>Set2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Mem[40-43]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649114"/>
                  </a:ext>
                </a:extLst>
              </a:tr>
              <a:tr h="984973">
                <a:tc>
                  <a:txBody>
                    <a:bodyPr/>
                    <a:lstStyle/>
                    <a:p>
                      <a:r>
                        <a:rPr lang="en-US" altLang="zh-CN" dirty="0"/>
                        <a:t>Set3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------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-------------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879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762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901BB1-7460-6259-CF6B-9553169068EA}"/>
              </a:ext>
            </a:extLst>
          </p:cNvPr>
          <p:cNvSpPr txBox="1"/>
          <p:nvPr/>
        </p:nvSpPr>
        <p:spPr>
          <a:xfrm>
            <a:off x="447039" y="214710"/>
            <a:ext cx="5852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18</a:t>
            </a:r>
            <a:r>
              <a:rPr lang="zh-CN" altLang="en-US" sz="2400" dirty="0"/>
              <a:t>         </a:t>
            </a:r>
            <a:r>
              <a:rPr lang="en-US" altLang="zh-CN" sz="2400" dirty="0"/>
              <a:t> Intel Core i7-14700K </a:t>
            </a:r>
            <a:r>
              <a:rPr lang="zh-CN" altLang="en-US" sz="2400" dirty="0"/>
              <a:t>机型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D0BCE5-BC28-6D92-1C9E-31CD94F6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483" y="792480"/>
            <a:ext cx="8363432" cy="606552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0F88036-4886-4283-5E5B-AAEF039BA94E}"/>
              </a:ext>
            </a:extLst>
          </p:cNvPr>
          <p:cNvSpPr txBox="1"/>
          <p:nvPr/>
        </p:nvSpPr>
        <p:spPr>
          <a:xfrm>
            <a:off x="9895840" y="1185334"/>
            <a:ext cx="1896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L0</a:t>
            </a:r>
            <a:r>
              <a:rPr lang="zh-CN" altLang="en-US" dirty="0"/>
              <a:t>：约 </a:t>
            </a:r>
            <a:r>
              <a:rPr lang="en-US" altLang="zh-CN" dirty="0"/>
              <a:t>64KB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ACF007-1CBC-8776-AA30-D5593CE8B01E}"/>
              </a:ext>
            </a:extLst>
          </p:cNvPr>
          <p:cNvSpPr txBox="1"/>
          <p:nvPr/>
        </p:nvSpPr>
        <p:spPr>
          <a:xfrm>
            <a:off x="8981440" y="1624354"/>
            <a:ext cx="2838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L1</a:t>
            </a:r>
            <a:r>
              <a:rPr lang="zh-CN" altLang="en-US" dirty="0"/>
              <a:t>：每核 </a:t>
            </a:r>
            <a:r>
              <a:rPr lang="en-US" altLang="zh-CN" dirty="0"/>
              <a:t>32KB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核共</a:t>
            </a:r>
            <a:r>
              <a:rPr lang="en-US" altLang="zh-CN" dirty="0"/>
              <a:t>1024KB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4F1257-3B87-AAE5-5F57-9D45A715C98A}"/>
              </a:ext>
            </a:extLst>
          </p:cNvPr>
          <p:cNvSpPr txBox="1"/>
          <p:nvPr/>
        </p:nvSpPr>
        <p:spPr>
          <a:xfrm>
            <a:off x="9245599" y="2270685"/>
            <a:ext cx="2567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L2</a:t>
            </a:r>
            <a:r>
              <a:rPr lang="zh-CN" altLang="en-US" dirty="0"/>
              <a:t>：每核 </a:t>
            </a:r>
            <a:r>
              <a:rPr lang="en-US" altLang="zh-CN" dirty="0"/>
              <a:t>256KB</a:t>
            </a:r>
            <a:r>
              <a:rPr lang="zh-CN" altLang="en-US" dirty="0"/>
              <a:t>，</a:t>
            </a:r>
            <a:r>
              <a:rPr lang="en-US" altLang="zh-CN" dirty="0"/>
              <a:t>16 </a:t>
            </a:r>
            <a:r>
              <a:rPr lang="zh-CN" altLang="en-US" dirty="0"/>
              <a:t>核共 </a:t>
            </a:r>
            <a:r>
              <a:rPr lang="en-US" altLang="zh-CN" dirty="0"/>
              <a:t>4096KB</a:t>
            </a:r>
            <a:r>
              <a:rPr lang="zh-CN" altLang="en-US" dirty="0"/>
              <a:t>（</a:t>
            </a:r>
            <a:r>
              <a:rPr lang="en-US" altLang="zh-CN" dirty="0"/>
              <a:t>4MB</a:t>
            </a:r>
            <a:r>
              <a:rPr lang="zh-CN" altLang="en-US" dirty="0"/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43FFE8-8601-3835-29ED-EE9E8AE8A257}"/>
              </a:ext>
            </a:extLst>
          </p:cNvPr>
          <p:cNvSpPr txBox="1"/>
          <p:nvPr/>
        </p:nvSpPr>
        <p:spPr>
          <a:xfrm>
            <a:off x="9347199" y="3194015"/>
            <a:ext cx="2567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L3</a:t>
            </a:r>
            <a:r>
              <a:rPr lang="zh-CN" altLang="en-US" dirty="0"/>
              <a:t>：</a:t>
            </a:r>
            <a:r>
              <a:rPr lang="en-US" altLang="zh-CN" dirty="0"/>
              <a:t>36MB</a:t>
            </a:r>
            <a:r>
              <a:rPr lang="zh-CN" altLang="en-US" dirty="0"/>
              <a:t>（全核共享）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5C1AED-28B3-3177-1031-DBA3B07152CE}"/>
              </a:ext>
            </a:extLst>
          </p:cNvPr>
          <p:cNvSpPr txBox="1"/>
          <p:nvPr/>
        </p:nvSpPr>
        <p:spPr>
          <a:xfrm>
            <a:off x="9929708" y="3971903"/>
            <a:ext cx="186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L4</a:t>
            </a:r>
            <a:r>
              <a:rPr lang="zh-CN" altLang="en-US" dirty="0"/>
              <a:t>：内存条</a:t>
            </a:r>
            <a:r>
              <a:rPr lang="en-US" altLang="zh-CN" dirty="0"/>
              <a:t>64GB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EFB968-5CEC-57B5-F465-3BEA04E5EB69}"/>
              </a:ext>
            </a:extLst>
          </p:cNvPr>
          <p:cNvSpPr txBox="1"/>
          <p:nvPr/>
        </p:nvSpPr>
        <p:spPr>
          <a:xfrm>
            <a:off x="9929708" y="4734560"/>
            <a:ext cx="203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L5</a:t>
            </a:r>
            <a:r>
              <a:rPr lang="zh-CN" altLang="en-US" dirty="0"/>
              <a:t>：本地磁盘</a:t>
            </a:r>
            <a:r>
              <a:rPr lang="en-US" altLang="zh-CN" dirty="0"/>
              <a:t>2TB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FB81CB-9793-279A-E99D-29AEB2507A76}"/>
              </a:ext>
            </a:extLst>
          </p:cNvPr>
          <p:cNvSpPr txBox="1"/>
          <p:nvPr/>
        </p:nvSpPr>
        <p:spPr>
          <a:xfrm>
            <a:off x="10480915" y="5696373"/>
            <a:ext cx="1602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L6</a:t>
            </a:r>
            <a:r>
              <a:rPr lang="zh-CN" altLang="en-US" dirty="0"/>
              <a:t>：按需分配</a:t>
            </a:r>
          </a:p>
        </p:txBody>
      </p:sp>
    </p:spTree>
    <p:extLst>
      <p:ext uri="{BB962C8B-B14F-4D97-AF65-F5344CB8AC3E}">
        <p14:creationId xmlns:p14="http://schemas.microsoft.com/office/powerpoint/2010/main" val="3816247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447</Words>
  <Application>Microsoft Office PowerPoint</Application>
  <PresentationFormat>宽屏</PresentationFormat>
  <Paragraphs>99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Office 主题​​</vt:lpstr>
      <vt:lpstr>16~18</vt:lpstr>
      <vt:lpstr>16   高速缓存的三种未命中类型和场景</vt:lpstr>
      <vt:lpstr>17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炳珲 丁</dc:creator>
  <cp:lastModifiedBy>炳珲 丁</cp:lastModifiedBy>
  <cp:revision>7</cp:revision>
  <dcterms:created xsi:type="dcterms:W3CDTF">2025-11-19T02:29:29Z</dcterms:created>
  <dcterms:modified xsi:type="dcterms:W3CDTF">2025-11-19T06:47:53Z</dcterms:modified>
</cp:coreProperties>
</file>