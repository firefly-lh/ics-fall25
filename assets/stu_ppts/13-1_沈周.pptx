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研讨题</a:t>
            </a:r>
            <a:r>
              <a:rPr lang="en-US" altLang="zh-CN"/>
              <a:t>13-1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(1)</a:t>
            </a:r>
            <a:r>
              <a:rPr lang="zh-CN" altLang="en-US"/>
              <a:t>回顾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局部性原理</a:t>
            </a:r>
            <a:r>
              <a:rPr lang="en-US" altLang="zh-CN"/>
              <a:t>:</a:t>
            </a:r>
            <a:r>
              <a:rPr lang="zh-CN" altLang="en-US"/>
              <a:t>程序往往使用的数据和指令的地址接近或等于它们最近使用的地址</a:t>
            </a:r>
            <a:endParaRPr lang="zh-CN" altLang="en-US"/>
          </a:p>
          <a:p>
            <a:r>
              <a:rPr lang="zh-CN" altLang="en-US"/>
              <a:t>时间局部性</a:t>
            </a:r>
            <a:r>
              <a:rPr lang="en-US" altLang="zh-CN"/>
              <a:t>:</a:t>
            </a:r>
            <a:r>
              <a:rPr lang="zh-CN" altLang="en-US"/>
              <a:t>最近被访问过的数据或指令，在不久的将来很可能再次被访问</a:t>
            </a:r>
            <a:endParaRPr lang="zh-CN" altLang="en-US"/>
          </a:p>
          <a:p>
            <a:r>
              <a:rPr lang="zh-CN" altLang="en-US"/>
              <a:t>空间局部性</a:t>
            </a:r>
            <a:r>
              <a:rPr lang="en-US" altLang="zh-CN"/>
              <a:t>:</a:t>
            </a:r>
            <a:r>
              <a:rPr lang="zh-CN" altLang="en-US"/>
              <a:t>访问某个地址后，接下来很可能访问其邻近地址的数据或指令</a:t>
            </a:r>
            <a:endParaRPr lang="zh-CN" altLang="en-US"/>
          </a:p>
          <a:p>
            <a:r>
              <a:rPr lang="zh-CN" altLang="en-US"/>
              <a:t>存储层次</a:t>
            </a:r>
            <a:r>
              <a:rPr lang="en-US" altLang="zh-CN"/>
              <a:t>:</a:t>
            </a:r>
            <a:r>
              <a:rPr lang="zh-CN" altLang="en-US"/>
              <a:t>计算机系统中不同层次的存储设备，从快速、小容量、昂贵的存储器（如寄存器、缓存）到大容量、慢速、廉价的存储器（如主存、磁盘）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(1)</a:t>
            </a:r>
            <a:r>
              <a:rPr lang="zh-CN" altLang="en-US"/>
              <a:t>回顾</a:t>
            </a:r>
            <a:endParaRPr lang="zh-CN" altLang="en-US"/>
          </a:p>
        </p:txBody>
      </p:sp>
      <p:pic>
        <p:nvPicPr>
          <p:cNvPr id="4" name="内容占位符 3" descr="屏幕截图_5-11-2025_0721_course.pku.edu.c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07055" y="1825625"/>
            <a:ext cx="597725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(1)</a:t>
            </a:r>
            <a:r>
              <a:rPr lang="zh-CN" altLang="en-US"/>
              <a:t>回顾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缓存与主存的关系</a:t>
            </a:r>
            <a:r>
              <a:rPr lang="en-US" altLang="zh-CN"/>
              <a:t>:</a:t>
            </a:r>
            <a:r>
              <a:rPr lang="zh-CN" altLang="en-US"/>
              <a:t>缓存</a:t>
            </a:r>
            <a:r>
              <a:rPr lang="en-US" altLang="zh-CN"/>
              <a:t>:</a:t>
            </a:r>
            <a:r>
              <a:rPr lang="zh-CN" altLang="en-US"/>
              <a:t>小而快的存储设备，用于暂存主存中活跃数据的副本。主存</a:t>
            </a:r>
            <a:r>
              <a:rPr lang="en-US"/>
              <a:t>:</a:t>
            </a:r>
            <a:r>
              <a:rPr lang="zh-CN" altLang="en-US"/>
              <a:t>大而慢的</a:t>
            </a:r>
            <a:r>
              <a:rPr lang="zh-CN" altLang="en-US"/>
              <a:t>存储设备，存储完整的程序和数据。数据传输单位</a:t>
            </a:r>
            <a:r>
              <a:rPr lang="en-US" altLang="zh-CN"/>
              <a:t>:</a:t>
            </a:r>
            <a:r>
              <a:rPr lang="zh-CN" altLang="en-US"/>
              <a:t>数据以固定大小的块为单位在缓存和主存之间传输。</a:t>
            </a:r>
            <a:endParaRPr lang="zh-CN" altLang="en-US"/>
          </a:p>
          <a:p>
            <a:r>
              <a:rPr lang="zh-CN" altLang="en-US"/>
              <a:t>命中</a:t>
            </a:r>
            <a:r>
              <a:rPr lang="en-US" altLang="zh-CN"/>
              <a:t>:</a:t>
            </a:r>
            <a:r>
              <a:rPr lang="zh-CN" altLang="en-US"/>
              <a:t>当</a:t>
            </a:r>
            <a:r>
              <a:rPr lang="en-US" altLang="zh-CN"/>
              <a:t>CPU</a:t>
            </a:r>
            <a:r>
              <a:rPr lang="zh-CN" altLang="en-US"/>
              <a:t>请求的数据在缓存中存在时，称为命中。数据直接从缓存中读取，无需访问主存，显著提升访问速度。</a:t>
            </a:r>
            <a:endParaRPr lang="zh-CN" altLang="en-US"/>
          </a:p>
          <a:p>
            <a:r>
              <a:rPr lang="zh-CN" altLang="en-US"/>
              <a:t>未命中</a:t>
            </a:r>
            <a:r>
              <a:rPr lang="en-US" altLang="zh-CN"/>
              <a:t>:</a:t>
            </a:r>
            <a:r>
              <a:rPr lang="zh-CN" altLang="en-US"/>
              <a:t>当</a:t>
            </a:r>
            <a:r>
              <a:rPr lang="en-US" altLang="zh-CN"/>
              <a:t>CPU</a:t>
            </a:r>
            <a:r>
              <a:rPr lang="zh-CN" altLang="en-US"/>
              <a:t>请求的数据不在缓存中时，称为未命中。数据需要从主存中读取，并将整个数据块调入缓存。根据放置策略决定新块存入缓存的哪个位置。根据替换策略决定哪个旧块被驱逐。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(1)</a:t>
            </a:r>
            <a:r>
              <a:rPr lang="zh-CN" altLang="en-US"/>
              <a:t>回顾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三种缓存未命中类型</a:t>
            </a:r>
            <a:r>
              <a:rPr lang="en-US" altLang="zh-CN"/>
              <a:t>:</a:t>
            </a:r>
            <a:endParaRPr lang="zh-CN" altLang="en-US"/>
          </a:p>
          <a:p>
            <a:r>
              <a:rPr lang="zh-CN" altLang="en-US"/>
              <a:t>冷未命中</a:t>
            </a:r>
            <a:r>
              <a:rPr lang="en-US"/>
              <a:t>:</a:t>
            </a:r>
            <a:r>
              <a:rPr lang="zh-CN" altLang="en-US"/>
              <a:t>原因</a:t>
            </a:r>
            <a:r>
              <a:rPr lang="en-US" altLang="zh-CN"/>
              <a:t>:</a:t>
            </a:r>
            <a:r>
              <a:rPr lang="zh-CN" altLang="en-US"/>
              <a:t>程序首次访问某个数据块，缓存中必然没有。特点</a:t>
            </a:r>
            <a:r>
              <a:rPr lang="en-US" altLang="zh-CN"/>
              <a:t>:</a:t>
            </a:r>
            <a:r>
              <a:rPr lang="zh-CN" altLang="en-US"/>
              <a:t>无法避免，但可以通过预取技术减少影响。</a:t>
            </a:r>
            <a:endParaRPr lang="zh-CN" altLang="en-US"/>
          </a:p>
          <a:p>
            <a:r>
              <a:rPr lang="zh-CN" altLang="en-US"/>
              <a:t>容量未命中</a:t>
            </a:r>
            <a:r>
              <a:rPr lang="en-US" altLang="zh-CN"/>
              <a:t>:</a:t>
            </a:r>
            <a:r>
              <a:rPr lang="zh-CN" altLang="en-US"/>
              <a:t>原因</a:t>
            </a:r>
            <a:r>
              <a:rPr lang="en-US" altLang="zh-CN"/>
              <a:t>:</a:t>
            </a:r>
            <a:r>
              <a:rPr lang="zh-CN" altLang="en-US"/>
              <a:t>工作集（活跃数据集合）的大小超过缓存容量。特点</a:t>
            </a:r>
            <a:r>
              <a:rPr lang="en-US" altLang="zh-CN"/>
              <a:t>:</a:t>
            </a:r>
            <a:r>
              <a:rPr lang="zh-CN" altLang="en-US"/>
              <a:t>可通过增大缓存容量或优化程序以减少工作集来缓解。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冲突未命中</a:t>
            </a:r>
            <a:r>
              <a:rPr lang="en-US"/>
              <a:t>:</a:t>
            </a:r>
            <a:r>
              <a:rPr lang="zh-CN" altLang="en-US"/>
              <a:t>原因</a:t>
            </a:r>
            <a:r>
              <a:rPr lang="en-US" altLang="zh-CN"/>
              <a:t>:</a:t>
            </a:r>
            <a:r>
              <a:rPr lang="zh-CN" altLang="en-US"/>
              <a:t>多个数据块映射到缓存的同一位置，导致频繁替换。示例</a:t>
            </a:r>
            <a:r>
              <a:rPr lang="en-US" altLang="zh-CN"/>
              <a:t>:</a:t>
            </a:r>
            <a:r>
              <a:rPr lang="zh-CN" altLang="en-US"/>
              <a:t>在直接映射缓存中，块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en-US" altLang="zh-CN"/>
              <a:t>16</a:t>
            </a:r>
            <a:r>
              <a:rPr lang="zh-CN" altLang="en-US"/>
              <a:t>等都映射到同一行，交替访问时会产生大量冲突未命中。缓解方法</a:t>
            </a:r>
            <a:r>
              <a:rPr lang="en-US" altLang="zh-CN"/>
              <a:t>:</a:t>
            </a:r>
            <a:r>
              <a:rPr lang="zh-CN" altLang="en-US"/>
              <a:t>提高缓存的相联度（如使用</a:t>
            </a:r>
            <a:r>
              <a:rPr lang="en-US" altLang="zh-CN"/>
              <a:t>2</a:t>
            </a:r>
            <a:r>
              <a:rPr lang="zh-CN" altLang="en-US"/>
              <a:t>路、</a:t>
            </a:r>
            <a:r>
              <a:rPr lang="en-US" altLang="zh-CN"/>
              <a:t>4</a:t>
            </a:r>
            <a:r>
              <a:rPr lang="zh-CN" altLang="en-US"/>
              <a:t>路组相联缓存）。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(2)</a:t>
            </a:r>
            <a:r>
              <a:rPr lang="zh-CN" altLang="en-US"/>
              <a:t>有了</a:t>
            </a:r>
            <a:r>
              <a:rPr lang="en-US" altLang="zh-CN"/>
              <a:t>Cache</a:t>
            </a:r>
            <a:r>
              <a:rPr lang="zh-CN" altLang="en-US"/>
              <a:t>之后的读写内存指令的操作流程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读操作流程：</a:t>
            </a:r>
            <a:r>
              <a:rPr lang="en-US" altLang="zh-CN"/>
              <a:t>1. CPU</a:t>
            </a:r>
            <a:r>
              <a:rPr lang="zh-CN" altLang="en-US"/>
              <a:t>首先检查所需数据是否在</a:t>
            </a:r>
            <a:r>
              <a:rPr lang="en-US" altLang="zh-CN"/>
              <a:t>Cache</a:t>
            </a:r>
            <a:r>
              <a:rPr lang="zh-CN" altLang="en-US"/>
              <a:t>中。</a:t>
            </a:r>
            <a:r>
              <a:rPr lang="en-US" altLang="zh-CN"/>
              <a:t>2.</a:t>
            </a:r>
            <a:r>
              <a:rPr lang="zh-CN" altLang="en-US"/>
              <a:t>如果数据在</a:t>
            </a:r>
            <a:r>
              <a:rPr lang="en-US" altLang="zh-CN"/>
              <a:t>Cache</a:t>
            </a:r>
            <a:r>
              <a:rPr lang="zh-CN" altLang="en-US"/>
              <a:t>中（命中），则直接从</a:t>
            </a:r>
            <a:r>
              <a:rPr lang="en-US" altLang="zh-CN"/>
              <a:t>Cache</a:t>
            </a:r>
            <a:r>
              <a:rPr lang="zh-CN" altLang="en-US"/>
              <a:t>读取数据。</a:t>
            </a:r>
            <a:r>
              <a:rPr lang="en-US" altLang="zh-CN"/>
              <a:t>3.</a:t>
            </a:r>
            <a:r>
              <a:rPr lang="zh-CN" altLang="en-US"/>
              <a:t>如果数据不在</a:t>
            </a:r>
            <a:r>
              <a:rPr lang="en-US" altLang="zh-CN"/>
              <a:t>Cache</a:t>
            </a:r>
            <a:r>
              <a:rPr lang="zh-CN" altLang="en-US"/>
              <a:t>中（未命中），则从主存中读取数据，并将数据块存入</a:t>
            </a:r>
            <a:r>
              <a:rPr lang="en-US" altLang="zh-CN"/>
              <a:t>Cache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写操作流程：</a:t>
            </a:r>
            <a:r>
              <a:rPr lang="en-US" altLang="zh-CN"/>
              <a:t>1. CPU</a:t>
            </a:r>
            <a:r>
              <a:rPr lang="zh-CN" altLang="en-US"/>
              <a:t>首先检查所需数据是否在</a:t>
            </a:r>
            <a:r>
              <a:rPr lang="en-US" altLang="zh-CN"/>
              <a:t>Cache</a:t>
            </a:r>
            <a:r>
              <a:rPr lang="zh-CN" altLang="en-US"/>
              <a:t>中</a:t>
            </a:r>
            <a:r>
              <a:rPr lang="en-US" altLang="zh-CN"/>
              <a:t>2.</a:t>
            </a:r>
            <a:r>
              <a:rPr lang="zh-CN" altLang="en-US"/>
              <a:t>如果数据在</a:t>
            </a:r>
            <a:r>
              <a:rPr lang="en-US" altLang="zh-CN"/>
              <a:t>Cache</a:t>
            </a:r>
            <a:r>
              <a:rPr lang="zh-CN" altLang="en-US"/>
              <a:t>中（命中），则直接更新</a:t>
            </a:r>
            <a:r>
              <a:rPr lang="en-US" altLang="zh-CN"/>
              <a:t>Cache</a:t>
            </a:r>
            <a:r>
              <a:rPr lang="zh-CN" altLang="en-US"/>
              <a:t>中的数据，并根据写策略（写回或写穿）决定是否更新主存。写穿：数据同时写入缓存和主存，确保数据一致性，但写操作速度较慢。写回：数据仅写入缓存，并标记为</a:t>
            </a:r>
            <a:r>
              <a:rPr lang="en-US" altLang="zh-CN"/>
              <a:t>“</a:t>
            </a:r>
            <a:r>
              <a:rPr lang="zh-CN" altLang="en-US"/>
              <a:t>脏数据</a:t>
            </a:r>
            <a:r>
              <a:rPr lang="en-US" altLang="zh-CN"/>
              <a:t>”</a:t>
            </a:r>
            <a:r>
              <a:rPr lang="zh-CN" altLang="en-US"/>
              <a:t>。只有当该数据块被替换出缓存时，才将</a:t>
            </a:r>
            <a:r>
              <a:rPr lang="en-US" altLang="zh-CN"/>
              <a:t>“</a:t>
            </a:r>
            <a:r>
              <a:rPr lang="zh-CN" altLang="en-US"/>
              <a:t>脏数据</a:t>
            </a:r>
            <a:r>
              <a:rPr lang="en-US" altLang="zh-CN"/>
              <a:t>”</a:t>
            </a:r>
            <a:r>
              <a:rPr lang="zh-CN" altLang="en-US"/>
              <a:t>写回主存，写操作速度快，但主存数据可能不是最新的。</a:t>
            </a:r>
            <a:r>
              <a:rPr lang="en-US" altLang="zh-CN"/>
              <a:t>3.</a:t>
            </a:r>
            <a:r>
              <a:rPr lang="zh-CN" altLang="en-US"/>
              <a:t>如果数据不在</a:t>
            </a:r>
            <a:r>
              <a:rPr lang="en-US" altLang="zh-CN"/>
              <a:t>Cache</a:t>
            </a:r>
            <a:r>
              <a:rPr lang="zh-CN" altLang="en-US"/>
              <a:t>中（未命中），则根据写策略（写分配或非写分配）决定是否将数据块读入</a:t>
            </a:r>
            <a:r>
              <a:rPr lang="en-US" altLang="zh-CN"/>
              <a:t>Cache</a:t>
            </a:r>
            <a:r>
              <a:rPr lang="zh-CN" altLang="en-US"/>
              <a:t>并更新。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(3)</a:t>
            </a:r>
            <a:r>
              <a:rPr lang="zh-CN" altLang="en-US"/>
              <a:t>分析直接映射</a:t>
            </a:r>
            <a:r>
              <a:rPr lang="en-US" altLang="zh-CN"/>
              <a:t>Cache</a:t>
            </a:r>
            <a:r>
              <a:rPr lang="zh-CN" altLang="en-US"/>
              <a:t>（</a:t>
            </a:r>
            <a:r>
              <a:rPr lang="en-US" altLang="zh-CN"/>
              <a:t>E=1</a:t>
            </a:r>
            <a:r>
              <a:rPr lang="zh-CN" altLang="en-US"/>
              <a:t>）的结构，设计一个类似的访问序列，并展现</a:t>
            </a:r>
            <a:r>
              <a:rPr lang="en-US" altLang="zh-CN"/>
              <a:t>hit</a:t>
            </a:r>
            <a:r>
              <a:rPr lang="zh-CN" altLang="en-US"/>
              <a:t>和</a:t>
            </a:r>
            <a:r>
              <a:rPr lang="en-US" altLang="zh-CN"/>
              <a:t>miss</a:t>
            </a:r>
            <a:r>
              <a:rPr lang="zh-CN" altLang="en-US"/>
              <a:t>的场</a:t>
            </a:r>
            <a:r>
              <a:rPr lang="zh-CN" altLang="en-US"/>
              <a:t>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分析直接映射缓存（</a:t>
            </a:r>
            <a:r>
              <a:rPr lang="en-US" altLang="zh-CN"/>
              <a:t>E=1</a:t>
            </a:r>
            <a:r>
              <a:rPr lang="zh-CN" altLang="en-US"/>
              <a:t>）的结构</a:t>
            </a:r>
            <a:r>
              <a:rPr lang="en-US" altLang="zh-CN"/>
              <a:t>:</a:t>
            </a:r>
            <a:r>
              <a:rPr lang="zh-CN" altLang="en-US"/>
              <a:t>直接映射缓存是最简单的缓存结构形式，其特点是每个缓存组中只有一行（</a:t>
            </a:r>
            <a:r>
              <a:rPr lang="en-US" altLang="zh-CN"/>
              <a:t>E=1</a:t>
            </a:r>
            <a:r>
              <a:rPr lang="zh-CN" altLang="en-US"/>
              <a:t>）。数据块从主存映射到缓存时，根据地址中的组索引位确定存入哪一组，同一组的地址会映射到同一行，若该行已被占用则会发生替换。直接映射缓存的结构简单，易于实现，但其局限性在于容易产生冲突未命中。因为每个组只有一行，如果有多个数据块映射到同一组，就会频繁替换，导致较多的未命中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(3)</a:t>
            </a:r>
            <a:r>
              <a:rPr lang="zh-CN" altLang="en-US"/>
              <a:t>分析直接映射</a:t>
            </a:r>
            <a:r>
              <a:rPr lang="en-US" altLang="zh-CN"/>
              <a:t>Cache</a:t>
            </a:r>
            <a:r>
              <a:rPr lang="zh-CN" altLang="en-US"/>
              <a:t>（</a:t>
            </a:r>
            <a:r>
              <a:rPr lang="en-US" altLang="zh-CN"/>
              <a:t>E=1</a:t>
            </a:r>
            <a:r>
              <a:rPr lang="zh-CN" altLang="en-US"/>
              <a:t>）的结构，设计一个类似的访问序列，并展现</a:t>
            </a:r>
            <a:r>
              <a:rPr lang="en-US" altLang="zh-CN"/>
              <a:t>hit</a:t>
            </a:r>
            <a:r>
              <a:rPr lang="zh-CN" altLang="en-US"/>
              <a:t>和</a:t>
            </a:r>
            <a:r>
              <a:rPr lang="en-US" altLang="zh-CN"/>
              <a:t>miss</a:t>
            </a:r>
            <a:r>
              <a:rPr lang="zh-CN" altLang="en-US"/>
              <a:t>的场景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设计访问序列并展现</a:t>
            </a:r>
            <a:r>
              <a:rPr lang="en-US" altLang="zh-CN"/>
              <a:t>hit</a:t>
            </a:r>
            <a:r>
              <a:rPr lang="zh-CN" altLang="en-US"/>
              <a:t>和</a:t>
            </a:r>
            <a:r>
              <a:rPr lang="en-US" altLang="zh-CN"/>
              <a:t>miss</a:t>
            </a:r>
            <a:r>
              <a:rPr lang="zh-CN" altLang="en-US"/>
              <a:t>场景</a:t>
            </a:r>
            <a:r>
              <a:rPr lang="en-US" altLang="zh-CN"/>
              <a:t>:</a:t>
            </a:r>
            <a:r>
              <a:rPr lang="zh-CN" altLang="en-US"/>
              <a:t>我们以课件第</a:t>
            </a:r>
            <a:r>
              <a:rPr lang="en-US" altLang="zh-CN"/>
              <a:t>13</a:t>
            </a:r>
            <a:r>
              <a:rPr lang="zh-CN" altLang="en-US"/>
              <a:t>页的示例为基础，假设缓存有</a:t>
            </a:r>
            <a:r>
              <a:rPr lang="en-US" altLang="zh-CN"/>
              <a:t>4</a:t>
            </a:r>
            <a:r>
              <a:rPr lang="zh-CN" altLang="en-US"/>
              <a:t>个组（</a:t>
            </a:r>
            <a:r>
              <a:rPr lang="en-US" altLang="zh-CN"/>
              <a:t>S=4</a:t>
            </a:r>
            <a:r>
              <a:rPr lang="zh-CN" altLang="en-US"/>
              <a:t>），块大小为</a:t>
            </a:r>
            <a:r>
              <a:rPr lang="en-US" altLang="zh-CN"/>
              <a:t>2</a:t>
            </a:r>
            <a:r>
              <a:rPr lang="zh-CN" altLang="en-US"/>
              <a:t>字节（</a:t>
            </a:r>
            <a:r>
              <a:rPr lang="en-US" altLang="zh-CN"/>
              <a:t>B=2</a:t>
            </a:r>
            <a:r>
              <a:rPr lang="zh-CN" altLang="en-US"/>
              <a:t>）。设计访问序列为：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en-US" altLang="zh-CN"/>
              <a:t>0</a:t>
            </a:r>
            <a:r>
              <a:rPr lang="zh-CN" altLang="en-US"/>
              <a:t>。访问过程及</a:t>
            </a:r>
            <a:r>
              <a:rPr lang="en-US" altLang="zh-CN"/>
              <a:t>hit/miss</a:t>
            </a:r>
            <a:r>
              <a:rPr lang="zh-CN" altLang="en-US"/>
              <a:t>情况：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在上述过程中，每次访问都导致未命中，因为缓存容量较小且访问地址分布较广，超出了缓存的容量，导致频繁替换。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69035" y="3012440"/>
          <a:ext cx="10031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390"/>
                <a:gridCol w="1423670"/>
                <a:gridCol w="713803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访问地址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是否命中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缓存状态（</a:t>
                      </a:r>
                      <a:r>
                        <a:rPr lang="en-US" altLang="zh-CN"/>
                        <a:t>Set 0 - Set 3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[M[0-1]]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[M[0-1]], Set 1: [M[2-3]]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[M[0-1]], Set 1: [M[2-3]], Set 3: [M[6-7]]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[M[8-9]], Set 1: [M[2-3]], Set 3: [M[6-7]]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[M[0-1]], Set 1: [M[2-3]], Set 3: [M[6-7]]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(4)</a:t>
            </a:r>
            <a:r>
              <a:rPr lang="zh-CN" altLang="en-US"/>
              <a:t>分析</a:t>
            </a:r>
            <a:r>
              <a:rPr lang="en-US" altLang="zh-CN"/>
              <a:t>2</a:t>
            </a:r>
            <a:r>
              <a:rPr lang="zh-CN" altLang="en-US"/>
              <a:t>路组相联</a:t>
            </a:r>
            <a:r>
              <a:rPr lang="en-US" altLang="zh-CN"/>
              <a:t>Cache</a:t>
            </a:r>
            <a:r>
              <a:rPr lang="zh-CN" altLang="en-US"/>
              <a:t>（</a:t>
            </a:r>
            <a:r>
              <a:rPr lang="en-US" altLang="zh-CN"/>
              <a:t>E=2</a:t>
            </a:r>
            <a:r>
              <a:rPr lang="zh-CN" altLang="en-US"/>
              <a:t>）</a:t>
            </a:r>
            <a:r>
              <a:rPr lang="zh-CN" altLang="en-US"/>
              <a:t>的结构，设计一个类似的访问序列，并展现</a:t>
            </a:r>
            <a:r>
              <a:rPr lang="en-US" altLang="zh-CN"/>
              <a:t>hit</a:t>
            </a:r>
            <a:r>
              <a:rPr lang="zh-CN" altLang="en-US"/>
              <a:t>和</a:t>
            </a:r>
            <a:r>
              <a:rPr lang="en-US" altLang="zh-CN"/>
              <a:t>miss</a:t>
            </a:r>
            <a:r>
              <a:rPr lang="zh-CN" altLang="en-US"/>
              <a:t>的场景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分析</a:t>
            </a:r>
            <a:r>
              <a:rPr lang="en-US" altLang="zh-CN"/>
              <a:t>2</a:t>
            </a:r>
            <a:r>
              <a:rPr lang="zh-CN" altLang="en-US"/>
              <a:t>路组相联缓存（</a:t>
            </a:r>
            <a:r>
              <a:rPr lang="en-US" altLang="zh-CN"/>
              <a:t>E=2</a:t>
            </a:r>
            <a:r>
              <a:rPr lang="zh-CN" altLang="en-US"/>
              <a:t>）的结构</a:t>
            </a:r>
            <a:r>
              <a:rPr lang="en-US" altLang="zh-CN"/>
              <a:t>:2</a:t>
            </a:r>
            <a:r>
              <a:rPr lang="zh-CN" altLang="en-US"/>
              <a:t>路组相联缓存（</a:t>
            </a:r>
            <a:r>
              <a:rPr lang="en-US" altLang="zh-CN"/>
              <a:t>E=2</a:t>
            </a:r>
            <a:r>
              <a:rPr lang="zh-CN" altLang="en-US"/>
              <a:t>）的特点是每个组包含</a:t>
            </a:r>
            <a:r>
              <a:rPr lang="en-US" altLang="zh-CN"/>
              <a:t>2</a:t>
            </a:r>
            <a:r>
              <a:rPr lang="zh-CN" altLang="en-US"/>
              <a:t>行，数据块根据地址的组索引位映射到对应的组中。同一组内的</a:t>
            </a:r>
            <a:r>
              <a:rPr lang="en-US" altLang="zh-CN"/>
              <a:t>2</a:t>
            </a:r>
            <a:r>
              <a:rPr lang="zh-CN" altLang="en-US"/>
              <a:t>行都可以存储数据块，从而减少冲突未命中的概率。相比直接映射缓存，</a:t>
            </a:r>
            <a:r>
              <a:rPr lang="en-US" altLang="zh-CN"/>
              <a:t>2</a:t>
            </a:r>
            <a:r>
              <a:rPr lang="zh-CN" altLang="en-US"/>
              <a:t>路组相联缓存通过增加每个组的行数，提供了更高的灵活性和更好的性能。</a:t>
            </a:r>
            <a:endParaRPr lang="zh-CN" altLang="en-US"/>
          </a:p>
          <a:p>
            <a:r>
              <a:rPr lang="zh-CN" altLang="en-US"/>
              <a:t>设计访问序列并展现</a:t>
            </a:r>
            <a:r>
              <a:rPr lang="en-US" altLang="zh-CN"/>
              <a:t>hit</a:t>
            </a:r>
            <a:r>
              <a:rPr lang="zh-CN" altLang="en-US"/>
              <a:t>和</a:t>
            </a:r>
            <a:r>
              <a:rPr lang="en-US" altLang="zh-CN"/>
              <a:t>miss</a:t>
            </a:r>
            <a:r>
              <a:rPr lang="zh-CN" altLang="en-US"/>
              <a:t>场景</a:t>
            </a:r>
            <a:r>
              <a:rPr lang="en-US" altLang="zh-CN"/>
              <a:t>:</a:t>
            </a:r>
            <a:r>
              <a:rPr lang="zh-CN" altLang="en-US"/>
              <a:t>我们以课件第</a:t>
            </a:r>
            <a:r>
              <a:rPr lang="en-US" altLang="zh-CN"/>
              <a:t>17</a:t>
            </a:r>
            <a:r>
              <a:rPr lang="zh-CN" altLang="en-US"/>
              <a:t>页的示例为基础，假设缓存有</a:t>
            </a:r>
            <a:r>
              <a:rPr lang="en-US" altLang="zh-CN"/>
              <a:t>2</a:t>
            </a:r>
            <a:r>
              <a:rPr lang="zh-CN" altLang="en-US"/>
              <a:t>个组（</a:t>
            </a:r>
            <a:r>
              <a:rPr lang="en-US" altLang="zh-CN"/>
              <a:t>S=2</a:t>
            </a:r>
            <a:r>
              <a:rPr lang="zh-CN" altLang="en-US"/>
              <a:t>），每组</a:t>
            </a:r>
            <a:r>
              <a:rPr lang="en-US" altLang="zh-CN"/>
              <a:t>2</a:t>
            </a:r>
            <a:r>
              <a:rPr lang="zh-CN" altLang="en-US"/>
              <a:t>行（</a:t>
            </a:r>
            <a:r>
              <a:rPr lang="en-US" altLang="zh-CN"/>
              <a:t>E=2</a:t>
            </a:r>
            <a:r>
              <a:rPr lang="zh-CN" altLang="en-US"/>
              <a:t>），块大小为</a:t>
            </a:r>
            <a:r>
              <a:rPr lang="en-US" altLang="zh-CN"/>
              <a:t>2</a:t>
            </a:r>
            <a:r>
              <a:rPr lang="zh-CN" altLang="en-US"/>
              <a:t>字节（</a:t>
            </a:r>
            <a:r>
              <a:rPr lang="en-US" altLang="zh-CN"/>
              <a:t>B=2</a:t>
            </a:r>
            <a:r>
              <a:rPr lang="zh-CN" altLang="en-US"/>
              <a:t>）。设计访问序列为：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8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访问过程及</a:t>
            </a:r>
            <a:r>
              <a:rPr lang="en-US" altLang="zh-CN"/>
              <a:t>hit/miss</a:t>
            </a:r>
            <a:r>
              <a:rPr lang="zh-CN" altLang="en-US"/>
              <a:t>情况：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(4)</a:t>
            </a:r>
            <a:r>
              <a:rPr lang="zh-CN" altLang="en-US"/>
              <a:t>分析</a:t>
            </a:r>
            <a:r>
              <a:rPr lang="en-US" altLang="zh-CN"/>
              <a:t>2</a:t>
            </a:r>
            <a:r>
              <a:rPr lang="zh-CN" altLang="en-US"/>
              <a:t>路组相联</a:t>
            </a:r>
            <a:r>
              <a:rPr lang="en-US" altLang="zh-CN"/>
              <a:t>Cache</a:t>
            </a:r>
            <a:r>
              <a:rPr lang="zh-CN" altLang="en-US"/>
              <a:t>（</a:t>
            </a:r>
            <a:r>
              <a:rPr lang="en-US" altLang="zh-CN"/>
              <a:t>E=2</a:t>
            </a:r>
            <a:r>
              <a:rPr lang="zh-CN" altLang="en-US"/>
              <a:t>）的结构，设计一个类似的访问序列，并展现</a:t>
            </a:r>
            <a:r>
              <a:rPr lang="en-US" altLang="zh-CN"/>
              <a:t>hit</a:t>
            </a:r>
            <a:r>
              <a:rPr lang="zh-CN" altLang="en-US"/>
              <a:t>和</a:t>
            </a:r>
            <a:r>
              <a:rPr lang="en-US" altLang="zh-CN"/>
              <a:t>miss</a:t>
            </a:r>
            <a:r>
              <a:rPr lang="zh-CN" altLang="en-US"/>
              <a:t>的场景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</p:nvPr>
        </p:nvGraphicFramePr>
        <p:xfrm>
          <a:off x="838200" y="1825625"/>
          <a:ext cx="10515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432560"/>
                <a:gridCol w="78333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访问地址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是否命中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缓存状态（</a:t>
                      </a:r>
                      <a:r>
                        <a:rPr lang="en-US" altLang="zh-CN"/>
                        <a:t>Set 0 - Set 3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[Row 0: M[0-1], Row 1: -]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[Row 0: M[0-1], Row 1: M[8-9]]	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Hit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[Row 0: M[0-1], Row 1: M[8-9]]	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Hit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 0: [Row 0: M[0-1], Row 1: M[8-9]]	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(5)</a:t>
            </a:r>
            <a:r>
              <a:rPr lang="zh-CN" altLang="en-US"/>
              <a:t>分析</a:t>
            </a:r>
            <a:r>
              <a:rPr lang="en-US" altLang="zh-CN"/>
              <a:t>Cache</a:t>
            </a:r>
            <a:r>
              <a:rPr lang="zh-CN" altLang="en-US"/>
              <a:t>结构的通用形式，并以读操作为例，讲解流程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fontAlgn="auto"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</a:rPr>
              <a:t>Cache</a:t>
            </a:r>
            <a:r>
              <a:rPr lang="zh-CN" altLang="en-US">
                <a:solidFill>
                  <a:schemeClr val="tx1"/>
                </a:solidFill>
              </a:rPr>
              <a:t>结构的通用形式</a:t>
            </a:r>
            <a:r>
              <a:rPr lang="en-US" altLang="zh-CN">
                <a:solidFill>
                  <a:schemeClr val="tx1"/>
                </a:solidFill>
              </a:rPr>
              <a:t>:Cache</a:t>
            </a:r>
            <a:r>
              <a:rPr lang="zh-CN" altLang="en-US">
                <a:solidFill>
                  <a:schemeClr val="tx1"/>
                </a:solidFill>
              </a:rPr>
              <a:t>的通用结构由以下参数定义</a:t>
            </a:r>
            <a:r>
              <a:rPr lang="en-US" altLang="zh-CN">
                <a:solidFill>
                  <a:schemeClr val="tx1"/>
                </a:solidFill>
              </a:rPr>
              <a:t>:S:</a:t>
            </a:r>
            <a:r>
              <a:rPr lang="zh-CN" altLang="en-US">
                <a:solidFill>
                  <a:schemeClr val="tx1"/>
                </a:solidFill>
              </a:rPr>
              <a:t>组的数量，通常表示为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 s </a:t>
            </a:r>
            <a:r>
              <a:rPr lang="zh-CN" altLang="en-US">
                <a:solidFill>
                  <a:schemeClr val="tx1"/>
                </a:solidFill>
              </a:rPr>
              <a:t>次方。</a:t>
            </a:r>
            <a:r>
              <a:rPr lang="en-US" altLang="zh-CN">
                <a:solidFill>
                  <a:schemeClr val="tx1"/>
                </a:solidFill>
              </a:rPr>
              <a:t>E:</a:t>
            </a:r>
            <a:r>
              <a:rPr lang="zh-CN" altLang="en-US">
                <a:solidFill>
                  <a:schemeClr val="tx1"/>
                </a:solidFill>
              </a:rPr>
              <a:t>每组的行数，即每组可以存储的数据块数量。</a:t>
            </a:r>
            <a:r>
              <a:rPr lang="en-US" altLang="zh-CN">
                <a:solidFill>
                  <a:schemeClr val="tx1"/>
                </a:solidFill>
              </a:rPr>
              <a:t>B:</a:t>
            </a:r>
            <a:r>
              <a:rPr lang="zh-CN" altLang="en-US">
                <a:solidFill>
                  <a:schemeClr val="tx1"/>
                </a:solidFill>
              </a:rPr>
              <a:t>块大小，即每个数据块的大小，通常表示为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 b </a:t>
            </a:r>
            <a:r>
              <a:rPr lang="zh-CN" altLang="en-US">
                <a:solidFill>
                  <a:schemeClr val="tx1"/>
                </a:solidFill>
              </a:rPr>
              <a:t>次方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字节。</a:t>
            </a:r>
            <a:r>
              <a:rPr lang="en-US" altLang="zh-CN">
                <a:solidFill>
                  <a:schemeClr val="tx1"/>
                </a:solidFill>
              </a:rPr>
              <a:t>Cache</a:t>
            </a:r>
            <a:r>
              <a:rPr lang="zh-CN" altLang="en-US">
                <a:solidFill>
                  <a:schemeClr val="tx1"/>
                </a:solidFill>
              </a:rPr>
              <a:t>的总大小为：</a:t>
            </a:r>
            <a:r>
              <a:rPr lang="en-US" altLang="zh-CN">
                <a:solidFill>
                  <a:schemeClr val="tx1"/>
                </a:solidFill>
              </a:rPr>
              <a:t>:Cache Size = S </a:t>
            </a:r>
            <a:r>
              <a:rPr lang="en-US" altLang="en-US">
                <a:solidFill>
                  <a:schemeClr val="tx1"/>
                </a:solidFill>
              </a:rPr>
              <a:t>×</a:t>
            </a:r>
            <a:r>
              <a:rPr lang="en-US" altLang="zh-CN">
                <a:solidFill>
                  <a:schemeClr val="tx1"/>
                </a:solidFill>
              </a:rPr>
              <a:t> E </a:t>
            </a:r>
            <a:r>
              <a:rPr lang="en-US" altLang="en-US">
                <a:solidFill>
                  <a:schemeClr val="tx1"/>
                </a:solidFill>
              </a:rPr>
              <a:t>×</a:t>
            </a:r>
            <a:r>
              <a:rPr lang="en-US" altLang="zh-CN">
                <a:solidFill>
                  <a:schemeClr val="tx1"/>
                </a:solidFill>
              </a:rPr>
              <a:t> B </a:t>
            </a:r>
            <a:endParaRPr lang="en-US" altLang="zh-CN">
              <a:solidFill>
                <a:schemeClr val="tx1"/>
              </a:solidFill>
            </a:endParaRPr>
          </a:p>
          <a:p>
            <a:pPr fontAlgn="auto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读操作流程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读操作的具体流程如下</a:t>
            </a:r>
            <a:r>
              <a:rPr lang="en-US" altLang="zh-CN">
                <a:solidFill>
                  <a:schemeClr val="tx1"/>
                </a:solidFill>
              </a:rPr>
              <a:t>:1.</a:t>
            </a:r>
            <a:r>
              <a:rPr lang="zh-CN" altLang="en-US">
                <a:solidFill>
                  <a:schemeClr val="tx1"/>
                </a:solidFill>
              </a:rPr>
              <a:t>地址分解：将内存地址分解为三个部分</a:t>
            </a:r>
            <a:r>
              <a:rPr lang="en-US" altLang="zh-CN">
                <a:solidFill>
                  <a:schemeClr val="tx1"/>
                </a:solidFill>
              </a:rPr>
              <a:t>:Tag</a:t>
            </a:r>
            <a:r>
              <a:rPr lang="zh-CN" altLang="en-US">
                <a:solidFill>
                  <a:schemeClr val="tx1"/>
                </a:solidFill>
              </a:rPr>
              <a:t>（标记）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用于在</a:t>
            </a:r>
            <a:r>
              <a:rPr lang="en-US" altLang="zh-CN">
                <a:solidFill>
                  <a:schemeClr val="tx1"/>
                </a:solidFill>
              </a:rPr>
              <a:t>Cache</a:t>
            </a:r>
            <a:r>
              <a:rPr lang="zh-CN" altLang="en-US">
                <a:solidFill>
                  <a:schemeClr val="tx1"/>
                </a:solidFill>
              </a:rPr>
              <a:t>中唯一标识一个数据块。</a:t>
            </a:r>
            <a:r>
              <a:rPr lang="en-US" altLang="zh-CN">
                <a:solidFill>
                  <a:schemeClr val="tx1"/>
                </a:solidFill>
              </a:rPr>
              <a:t>Set Index</a:t>
            </a:r>
            <a:r>
              <a:rPr lang="zh-CN" altLang="en-US">
                <a:solidFill>
                  <a:schemeClr val="tx1"/>
                </a:solidFill>
              </a:rPr>
              <a:t>（组索引）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用于确定数据块应该存放在哪个组中。</a:t>
            </a:r>
            <a:r>
              <a:rPr lang="en-US" altLang="zh-CN">
                <a:solidFill>
                  <a:schemeClr val="tx1"/>
                </a:solidFill>
              </a:rPr>
              <a:t>Block Offset</a:t>
            </a:r>
            <a:r>
              <a:rPr lang="zh-CN" altLang="en-US">
                <a:solidFill>
                  <a:schemeClr val="tx1"/>
                </a:solidFill>
              </a:rPr>
              <a:t>（块偏移）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用于确定数据在块内的具体位置。地址分解公式</a:t>
            </a:r>
            <a:r>
              <a:rPr lang="en-US" altLang="zh-CN">
                <a:solidFill>
                  <a:schemeClr val="tx1"/>
                </a:solidFill>
              </a:rPr>
              <a:t>:Address = Tag + Set Index + Block Offset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(5)</a:t>
            </a:r>
            <a:r>
              <a:rPr lang="zh-CN" altLang="en-US"/>
              <a:t>分析</a:t>
            </a:r>
            <a:r>
              <a:rPr lang="en-US" altLang="zh-CN"/>
              <a:t>Cache</a:t>
            </a:r>
            <a:r>
              <a:rPr lang="zh-CN" altLang="en-US"/>
              <a:t>结构的通用形式，并以读操作为例，讲解流程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/>
              <a:t>2. </a:t>
            </a:r>
            <a:r>
              <a:rPr lang="zh-CN" altLang="en-US"/>
              <a:t>查找</a:t>
            </a:r>
            <a:r>
              <a:rPr lang="en-US" altLang="zh-CN"/>
              <a:t>Cache:</a:t>
            </a:r>
            <a:r>
              <a:rPr lang="zh-CN" altLang="en-US"/>
              <a:t>使用</a:t>
            </a:r>
            <a:r>
              <a:rPr lang="en-US" altLang="zh-CN"/>
              <a:t>Set Index</a:t>
            </a:r>
            <a:r>
              <a:rPr lang="zh-CN" altLang="en-US"/>
              <a:t>部分定位到具体的组。在该组内，比较每个行的</a:t>
            </a:r>
            <a:r>
              <a:rPr lang="en-US" altLang="zh-CN"/>
              <a:t>Tag</a:t>
            </a:r>
            <a:r>
              <a:rPr lang="zh-CN" altLang="en-US"/>
              <a:t>是否与请求的</a:t>
            </a:r>
            <a:r>
              <a:rPr lang="en-US" altLang="zh-CN"/>
              <a:t>Tag</a:t>
            </a:r>
            <a:r>
              <a:rPr lang="zh-CN" altLang="en-US"/>
              <a:t>匹配，并检查该行是否有效（</a:t>
            </a:r>
            <a:r>
              <a:rPr lang="en-US" altLang="zh-CN"/>
              <a:t>Valid Bit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命中检查</a:t>
            </a:r>
            <a:r>
              <a:rPr lang="en-US" altLang="zh-CN"/>
              <a:t>:</a:t>
            </a:r>
            <a:r>
              <a:rPr lang="zh-CN" altLang="en-US"/>
              <a:t>如果找到匹配的</a:t>
            </a:r>
            <a:r>
              <a:rPr lang="en-US" altLang="zh-CN"/>
              <a:t>Tag</a:t>
            </a:r>
            <a:r>
              <a:rPr lang="zh-CN" altLang="en-US"/>
              <a:t>且该行有效，则为命中（</a:t>
            </a:r>
            <a:r>
              <a:rPr lang="en-US" altLang="zh-CN"/>
              <a:t>Hit</a:t>
            </a:r>
            <a:r>
              <a:rPr lang="zh-CN" altLang="en-US"/>
              <a:t>）。如果未找到匹配的</a:t>
            </a:r>
            <a:r>
              <a:rPr lang="en-US" altLang="zh-CN"/>
              <a:t>Tag</a:t>
            </a:r>
            <a:r>
              <a:rPr lang="zh-CN" altLang="en-US"/>
              <a:t>或该行无效，则为未命中（</a:t>
            </a:r>
            <a:r>
              <a:rPr lang="en-US" altLang="zh-CN"/>
              <a:t>Miss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数据读取</a:t>
            </a:r>
            <a:r>
              <a:rPr lang="en-US" altLang="zh-CN"/>
              <a:t>:</a:t>
            </a:r>
            <a:r>
              <a:rPr lang="zh-CN" altLang="en-US"/>
              <a:t>命中</a:t>
            </a:r>
            <a:r>
              <a:rPr lang="en-US" altLang="zh-CN"/>
              <a:t>:</a:t>
            </a:r>
            <a:r>
              <a:rPr lang="zh-CN" altLang="en-US"/>
              <a:t>从</a:t>
            </a:r>
            <a:r>
              <a:rPr lang="en-US" altLang="zh-CN"/>
              <a:t>Cache</a:t>
            </a:r>
            <a:r>
              <a:rPr lang="zh-CN" altLang="en-US"/>
              <a:t>中读取数据，并根据</a:t>
            </a:r>
            <a:r>
              <a:rPr lang="en-US" altLang="zh-CN"/>
              <a:t>Block Offset</a:t>
            </a:r>
            <a:r>
              <a:rPr lang="zh-CN" altLang="en-US"/>
              <a:t>返回具体的数据字节。未命中</a:t>
            </a:r>
            <a:r>
              <a:rPr lang="en-US" altLang="zh-CN"/>
              <a:t>:</a:t>
            </a:r>
            <a:r>
              <a:rPr lang="zh-CN" altLang="en-US"/>
              <a:t>从主存中读取包含请求数据的整个数据块，并将其存入</a:t>
            </a:r>
            <a:r>
              <a:rPr lang="en-US" altLang="zh-CN"/>
              <a:t>Cache</a:t>
            </a:r>
            <a:r>
              <a:rPr lang="zh-CN" altLang="en-US"/>
              <a:t>（可能需要替换旧数据块），然后从</a:t>
            </a:r>
            <a:r>
              <a:rPr lang="en-US" altLang="zh-CN"/>
              <a:t>Cache</a:t>
            </a:r>
            <a:r>
              <a:rPr lang="zh-CN" altLang="en-US"/>
              <a:t>中读取数据并返回。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(6)</a:t>
            </a:r>
            <a:r>
              <a:rPr lang="zh-CN" altLang="en-US"/>
              <a:t>讲解写操作的流程和不同实现形式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/>
          </a:bodyPr>
          <a:p>
            <a:r>
              <a:rPr lang="zh-CN" altLang="en-US"/>
              <a:t>写操作的流程</a:t>
            </a:r>
            <a:r>
              <a:rPr lang="en-US" altLang="zh-CN"/>
              <a:t>:</a:t>
            </a:r>
            <a:r>
              <a:rPr lang="zh-CN" altLang="en-US"/>
              <a:t>写操作的流程分为两种主要实现形式</a:t>
            </a:r>
            <a:r>
              <a:rPr lang="en-US" altLang="zh-CN"/>
              <a:t>:</a:t>
            </a:r>
            <a:r>
              <a:rPr lang="zh-CN" altLang="en-US"/>
              <a:t>写穿（</a:t>
            </a:r>
            <a:r>
              <a:rPr lang="en-US" altLang="zh-CN"/>
              <a:t>Write-Through</a:t>
            </a:r>
            <a:r>
              <a:rPr lang="zh-CN" altLang="en-US"/>
              <a:t>）和写回（</a:t>
            </a:r>
            <a:r>
              <a:rPr lang="en-US" altLang="zh-CN"/>
              <a:t>Write-Back</a:t>
            </a:r>
            <a:r>
              <a:rPr lang="zh-CN" altLang="en-US"/>
              <a:t>）。每种实现形式又分为两种策略</a:t>
            </a:r>
            <a:r>
              <a:rPr lang="en-US" altLang="zh-CN"/>
              <a:t>:</a:t>
            </a:r>
            <a:r>
              <a:rPr lang="zh-CN" altLang="en-US"/>
              <a:t>写分配（</a:t>
            </a:r>
            <a:r>
              <a:rPr lang="en-US" altLang="zh-CN"/>
              <a:t>Write-Allocate</a:t>
            </a:r>
            <a:r>
              <a:rPr lang="zh-CN" altLang="en-US"/>
              <a:t>）和非写分配（</a:t>
            </a:r>
            <a:r>
              <a:rPr lang="en-US" altLang="zh-CN"/>
              <a:t>No-Write-Allocate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写穿策略下，数据在写入缓存的同时，立即写入主存。这种策略确保主存中的数据始终是最新的，但每次写操作都需要访问主存，速度较慢。</a:t>
            </a:r>
            <a:r>
              <a:rPr lang="en-US" altLang="zh-CN"/>
              <a:t>1. </a:t>
            </a:r>
            <a:r>
              <a:rPr lang="zh-CN" altLang="en-US"/>
              <a:t>写命中：数据直接写入缓存和主存。</a:t>
            </a:r>
            <a:r>
              <a:rPr lang="en-US" altLang="zh-CN"/>
              <a:t>2.</a:t>
            </a:r>
            <a:r>
              <a:rPr lang="zh-CN" altLang="en-US"/>
              <a:t>写未命中：根据写分配策略，数据块从主存读入缓存，然后更新缓存和主存中的数据。根据非写分配策略，数据直接写入主存，不读入缓存。</a:t>
            </a:r>
            <a:endParaRPr lang="zh-CN" altLang="en-US"/>
          </a:p>
          <a:p>
            <a:r>
              <a:rPr lang="zh-CN" altLang="en-US"/>
              <a:t>写回策略下，数据只写入缓存，并设置脏位（</a:t>
            </a:r>
            <a:r>
              <a:rPr lang="en-US" altLang="zh-CN"/>
              <a:t>Dirty Bit</a:t>
            </a:r>
            <a:r>
              <a:rPr lang="zh-CN" altLang="en-US"/>
              <a:t>）标记该数据块已修改。只有当该数据块被替换出缓存时，才将脏数据写回主存。这种策略写操作速度快，但主存中的数据可能不是最新的。</a:t>
            </a:r>
            <a:r>
              <a:rPr lang="en-US" altLang="zh-CN"/>
              <a:t>1. </a:t>
            </a:r>
            <a:r>
              <a:rPr lang="zh-CN" altLang="en-US"/>
              <a:t>写命中：数据写入缓存，并设置脏位为</a:t>
            </a:r>
            <a:r>
              <a:rPr lang="en-US" altLang="zh-CN"/>
              <a:t>1</a:t>
            </a:r>
            <a:r>
              <a:rPr lang="zh-CN" altLang="en-US"/>
              <a:t>。</a:t>
            </a:r>
            <a:r>
              <a:rPr lang="en-US" altLang="zh-CN"/>
              <a:t>2. </a:t>
            </a:r>
            <a:r>
              <a:rPr lang="zh-CN" altLang="en-US"/>
              <a:t>写未命中：根据写分配策略，数据块从主存读入缓存，更新缓存中的数据，并设置脏位为</a:t>
            </a:r>
            <a:r>
              <a:rPr lang="en-US" altLang="zh-CN"/>
              <a:t>1</a:t>
            </a:r>
            <a:r>
              <a:rPr lang="zh-CN" altLang="en-US"/>
              <a:t>。根据非写分配策略，数据直接写入主存，不读入缓存。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(7)</a:t>
            </a:r>
            <a:r>
              <a:rPr lang="zh-CN" altLang="en-US"/>
              <a:t>分析</a:t>
            </a:r>
            <a:r>
              <a:rPr lang="en-US" altLang="zh-CN"/>
              <a:t>Cache</a:t>
            </a:r>
            <a:r>
              <a:rPr lang="zh-CN" altLang="en-US"/>
              <a:t>对地址各位域分解的设计考虑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en-US" altLang="zh-CN"/>
              <a:t>Cache</a:t>
            </a:r>
            <a:r>
              <a:rPr lang="zh-CN" altLang="en-US"/>
              <a:t>对地址各位域分解的设计考虑</a:t>
            </a:r>
            <a:r>
              <a:rPr lang="en-US" altLang="zh-CN"/>
              <a:t>:Cache</a:t>
            </a:r>
            <a:r>
              <a:rPr lang="zh-CN" altLang="en-US"/>
              <a:t>通过将内存地址分解为三个部分来高效管理和访问数据块</a:t>
            </a:r>
            <a:r>
              <a:rPr lang="en-US" altLang="zh-CN"/>
              <a:t>:Tag</a:t>
            </a:r>
            <a:r>
              <a:rPr lang="zh-CN" altLang="en-US"/>
              <a:t>（标记）、</a:t>
            </a:r>
            <a:r>
              <a:rPr lang="en-US" altLang="zh-CN"/>
              <a:t>Set Index</a:t>
            </a:r>
            <a:r>
              <a:rPr lang="zh-CN" altLang="en-US"/>
              <a:t>（组索引）和</a:t>
            </a:r>
            <a:r>
              <a:rPr lang="en-US" altLang="zh-CN"/>
              <a:t>Block Offset</a:t>
            </a:r>
            <a:r>
              <a:rPr lang="zh-CN" altLang="en-US"/>
              <a:t>（块偏移）。这种分解方式的设计考虑如下：</a:t>
            </a:r>
            <a:endParaRPr lang="zh-CN" altLang="en-US"/>
          </a:p>
          <a:p>
            <a:r>
              <a:rPr lang="en-US" altLang="zh-CN"/>
              <a:t>1. Tag</a:t>
            </a:r>
            <a:r>
              <a:rPr lang="zh-CN" altLang="en-US"/>
              <a:t>（标记）</a:t>
            </a:r>
            <a:r>
              <a:rPr lang="en-US" altLang="zh-CN"/>
              <a:t>:</a:t>
            </a:r>
            <a:r>
              <a:rPr lang="zh-CN" altLang="en-US"/>
              <a:t>作用</a:t>
            </a:r>
            <a:r>
              <a:rPr lang="en-US" altLang="zh-CN"/>
              <a:t>:</a:t>
            </a:r>
            <a:r>
              <a:rPr lang="zh-CN" altLang="en-US"/>
              <a:t>唯一标识一个数据块。设计考虑</a:t>
            </a:r>
            <a:r>
              <a:rPr lang="en-US" altLang="zh-CN"/>
              <a:t>:</a:t>
            </a:r>
            <a:r>
              <a:rPr lang="zh-CN" altLang="en-US"/>
              <a:t>需足够长以确保唯一性，同时尽量短以节省存储空间。</a:t>
            </a:r>
            <a:endParaRPr lang="zh-CN" altLang="en-US"/>
          </a:p>
          <a:p>
            <a:r>
              <a:rPr lang="en-US" altLang="zh-CN"/>
              <a:t>2. Set Index</a:t>
            </a:r>
            <a:r>
              <a:rPr lang="zh-CN" altLang="en-US"/>
              <a:t>（组索引）</a:t>
            </a:r>
            <a:r>
              <a:rPr lang="en-US" altLang="zh-CN"/>
              <a:t>:</a:t>
            </a:r>
            <a:r>
              <a:rPr lang="zh-CN" altLang="en-US"/>
              <a:t>作用</a:t>
            </a:r>
            <a:r>
              <a:rPr lang="en-US" altLang="zh-CN"/>
              <a:t>:</a:t>
            </a:r>
            <a:r>
              <a:rPr lang="zh-CN" altLang="en-US"/>
              <a:t>确定数据块存放在哪个组。设计考虑</a:t>
            </a:r>
            <a:r>
              <a:rPr lang="en-US" altLang="zh-CN"/>
              <a:t>:</a:t>
            </a:r>
            <a:r>
              <a:rPr lang="zh-CN" altLang="en-US"/>
              <a:t>位数决定组数。组数多则每组行数少，冲突未命中概率高；组数少则每组行数多，可减少冲突未命中，但增加查找时间。</a:t>
            </a:r>
            <a:endParaRPr lang="zh-CN" altLang="en-US"/>
          </a:p>
          <a:p>
            <a:r>
              <a:rPr lang="en-US" altLang="zh-CN"/>
              <a:t>3. Block Offset</a:t>
            </a:r>
            <a:r>
              <a:rPr lang="zh-CN" altLang="en-US"/>
              <a:t>（块偏移）</a:t>
            </a:r>
            <a:r>
              <a:rPr lang="en-US" altLang="zh-CN"/>
              <a:t>:</a:t>
            </a:r>
            <a:r>
              <a:rPr lang="zh-CN" altLang="en-US"/>
              <a:t>作用</a:t>
            </a:r>
            <a:r>
              <a:rPr lang="en-US" altLang="zh-CN"/>
              <a:t>:</a:t>
            </a:r>
            <a:r>
              <a:rPr lang="zh-CN" altLang="en-US"/>
              <a:t>确定数据在块内的位置。设计考虑</a:t>
            </a:r>
            <a:r>
              <a:rPr lang="en-US" altLang="zh-CN"/>
              <a:t>:</a:t>
            </a:r>
            <a:r>
              <a:rPr lang="zh-CN" altLang="en-US"/>
              <a:t>位数由块大小决定。块大则偏移位多，减少主存访问次数，但增加</a:t>
            </a:r>
            <a:r>
              <a:rPr lang="en-US" altLang="zh-CN"/>
              <a:t>Cache</a:t>
            </a:r>
            <a:r>
              <a:rPr lang="zh-CN" altLang="en-US"/>
              <a:t>行大小和查找时间。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(7)</a:t>
            </a:r>
            <a:r>
              <a:rPr lang="zh-CN" altLang="en-US">
                <a:sym typeface="+mn-ea"/>
              </a:rPr>
              <a:t>分析</a:t>
            </a:r>
            <a:r>
              <a:rPr lang="en-US" altLang="zh-CN">
                <a:sym typeface="+mn-ea"/>
              </a:rPr>
              <a:t>Cache</a:t>
            </a:r>
            <a:r>
              <a:rPr lang="zh-CN" altLang="en-US">
                <a:sym typeface="+mn-ea"/>
              </a:rPr>
              <a:t>对地址各位域分解的设计考虑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中间位索引</a:t>
            </a:r>
            <a:r>
              <a:rPr lang="en-US" altLang="zh-CN"/>
              <a:t> vs </a:t>
            </a:r>
            <a:r>
              <a:rPr lang="zh-CN" altLang="en-US"/>
              <a:t>高位索引</a:t>
            </a:r>
            <a:r>
              <a:rPr lang="en-US" altLang="zh-CN"/>
              <a:t>:1. </a:t>
            </a:r>
            <a:r>
              <a:rPr lang="zh-CN" altLang="en-US"/>
              <a:t>中间位索引（</a:t>
            </a:r>
            <a:r>
              <a:rPr lang="en-US" altLang="zh-CN"/>
              <a:t>Standard Method</a:t>
            </a:r>
            <a:r>
              <a:rPr lang="zh-CN" altLang="en-US"/>
              <a:t>）</a:t>
            </a:r>
            <a:r>
              <a:rPr lang="en-US" altLang="zh-CN"/>
              <a:t>:</a:t>
            </a:r>
            <a:r>
              <a:rPr lang="zh-CN" altLang="en-US"/>
              <a:t>格式</a:t>
            </a:r>
            <a:r>
              <a:rPr lang="en-US" altLang="zh-CN"/>
              <a:t>:TTSSBB</a:t>
            </a:r>
            <a:r>
              <a:rPr lang="zh-CN" altLang="en-US"/>
              <a:t>（</a:t>
            </a:r>
            <a:r>
              <a:rPr lang="en-US" altLang="zh-CN"/>
              <a:t>TT</a:t>
            </a:r>
            <a:r>
              <a:rPr lang="zh-CN" altLang="en-US"/>
              <a:t>为</a:t>
            </a:r>
            <a:r>
              <a:rPr lang="en-US" altLang="zh-CN"/>
              <a:t>Tag</a:t>
            </a:r>
            <a:r>
              <a:rPr lang="zh-CN" altLang="en-US"/>
              <a:t>，</a:t>
            </a:r>
            <a:r>
              <a:rPr lang="en-US" altLang="zh-CN"/>
              <a:t>SS</a:t>
            </a:r>
            <a:r>
              <a:rPr lang="zh-CN" altLang="en-US"/>
              <a:t>为</a:t>
            </a:r>
            <a:r>
              <a:rPr lang="en-US" altLang="zh-CN"/>
              <a:t>Set Index</a:t>
            </a:r>
            <a:r>
              <a:rPr lang="zh-CN" altLang="en-US"/>
              <a:t>，</a:t>
            </a:r>
            <a:r>
              <a:rPr lang="en-US" altLang="zh-CN"/>
              <a:t>BB</a:t>
            </a:r>
            <a:r>
              <a:rPr lang="zh-CN" altLang="en-US"/>
              <a:t>为</a:t>
            </a:r>
            <a:r>
              <a:rPr lang="en-US" altLang="zh-CN"/>
              <a:t>Block Offset</a:t>
            </a:r>
            <a:r>
              <a:rPr lang="zh-CN" altLang="en-US"/>
              <a:t>）。优点</a:t>
            </a:r>
            <a:r>
              <a:rPr lang="en-US" altLang="zh-CN"/>
              <a:t>:</a:t>
            </a:r>
            <a:r>
              <a:rPr lang="zh-CN" altLang="en-US"/>
              <a:t>利用空间局部性，相邻地址映射到不同组，减少冲突未命中。缺点</a:t>
            </a:r>
            <a:r>
              <a:rPr lang="en-US" altLang="zh-CN"/>
              <a:t>:</a:t>
            </a:r>
            <a:r>
              <a:rPr lang="zh-CN" altLang="en-US"/>
              <a:t>特定访问模式下可能导致较高冲突未命中。</a:t>
            </a:r>
            <a:r>
              <a:rPr lang="en-US" altLang="zh-CN"/>
              <a:t>2. </a:t>
            </a:r>
            <a:r>
              <a:rPr lang="zh-CN" altLang="en-US"/>
              <a:t>高位索引（</a:t>
            </a:r>
            <a:r>
              <a:rPr lang="en-US" altLang="zh-CN"/>
              <a:t>Alternative Method</a:t>
            </a:r>
            <a:r>
              <a:rPr lang="zh-CN" altLang="en-US"/>
              <a:t>）</a:t>
            </a:r>
            <a:r>
              <a:rPr lang="en-US" altLang="zh-CN"/>
              <a:t>:</a:t>
            </a:r>
            <a:r>
              <a:rPr lang="zh-CN" altLang="en-US"/>
              <a:t>格式</a:t>
            </a:r>
            <a:r>
              <a:rPr lang="en-US" altLang="zh-CN"/>
              <a:t>:SSTTBB</a:t>
            </a:r>
            <a:r>
              <a:rPr lang="zh-CN" altLang="en-US"/>
              <a:t>。优点</a:t>
            </a:r>
            <a:r>
              <a:rPr lang="en-US" altLang="zh-CN"/>
              <a:t>:</a:t>
            </a:r>
            <a:r>
              <a:rPr lang="zh-CN" altLang="en-US"/>
              <a:t>高空间局部性程序中减少冲突未命中。缺点</a:t>
            </a:r>
            <a:r>
              <a:rPr lang="en-US" altLang="zh-CN"/>
              <a:t>:</a:t>
            </a:r>
            <a:r>
              <a:rPr lang="zh-CN" altLang="en-US"/>
              <a:t>相邻地址可能映射到同一组，导致更多冲突未命中。</a:t>
            </a:r>
            <a:endParaRPr lang="zh-CN" altLang="en-US"/>
          </a:p>
          <a:p>
            <a:r>
              <a:rPr lang="zh-CN" altLang="en-US"/>
              <a:t>总结</a:t>
            </a:r>
            <a:r>
              <a:rPr lang="en-US" altLang="zh-CN"/>
              <a:t>:</a:t>
            </a:r>
            <a:r>
              <a:rPr lang="zh-CN" altLang="en-US"/>
              <a:t>中间位索引</a:t>
            </a:r>
            <a:r>
              <a:rPr lang="en-US" altLang="zh-CN"/>
              <a:t>:</a:t>
            </a:r>
            <a:r>
              <a:rPr lang="zh-CN" altLang="en-US"/>
              <a:t>适用于大多数场景，减少冲突未命中。高位索引</a:t>
            </a:r>
            <a:r>
              <a:rPr lang="en-US" altLang="zh-CN"/>
              <a:t>:</a:t>
            </a:r>
            <a:r>
              <a:rPr lang="zh-CN" altLang="en-US"/>
              <a:t>在特定场景下可能更有效，但可能导致更多冲突未命中。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(8)</a:t>
            </a:r>
            <a:r>
              <a:rPr lang="zh-CN" altLang="en-US"/>
              <a:t>解读酷睿</a:t>
            </a:r>
            <a:r>
              <a:rPr lang="en-US" altLang="zh-CN"/>
              <a:t>i7CPU</a:t>
            </a:r>
            <a:r>
              <a:rPr lang="zh-CN" altLang="en-US"/>
              <a:t>中的</a:t>
            </a:r>
            <a:r>
              <a:rPr lang="en-US" altLang="zh-CN"/>
              <a:t>Cache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酷睿</a:t>
            </a:r>
            <a:r>
              <a:rPr lang="en-US" altLang="zh-CN"/>
              <a:t>i7 CPU</a:t>
            </a:r>
            <a:r>
              <a:rPr lang="zh-CN" altLang="en-US"/>
              <a:t>中的</a:t>
            </a:r>
            <a:r>
              <a:rPr lang="en-US" altLang="zh-CN"/>
              <a:t>Cache</a:t>
            </a:r>
            <a:r>
              <a:rPr lang="zh-CN" altLang="en-US"/>
              <a:t>设计</a:t>
            </a:r>
            <a:r>
              <a:rPr lang="en-US" altLang="zh-CN"/>
              <a:t>:1. Cache</a:t>
            </a:r>
            <a:r>
              <a:rPr lang="zh-CN" altLang="en-US"/>
              <a:t>层级结构酷睿</a:t>
            </a:r>
            <a:r>
              <a:rPr lang="en-US" altLang="zh-CN"/>
              <a:t>i7 CPU</a:t>
            </a:r>
            <a:r>
              <a:rPr lang="zh-CN" altLang="en-US"/>
              <a:t>采用了多级缓存架构，主要包括</a:t>
            </a:r>
            <a:r>
              <a:rPr lang="en-US" altLang="zh-CN"/>
              <a:t>L1</a:t>
            </a:r>
            <a:r>
              <a:rPr lang="zh-CN" altLang="en-US"/>
              <a:t>、</a:t>
            </a:r>
            <a:r>
              <a:rPr lang="en-US" altLang="zh-CN"/>
              <a:t>L2</a:t>
            </a:r>
            <a:r>
              <a:rPr lang="zh-CN" altLang="en-US"/>
              <a:t>和</a:t>
            </a:r>
            <a:r>
              <a:rPr lang="en-US" altLang="zh-CN"/>
              <a:t>L3</a:t>
            </a:r>
            <a:r>
              <a:rPr lang="zh-CN" altLang="en-US"/>
              <a:t>缓存。这种多级缓存设计旨在平衡访问速度和存储容量，以提高整体系统性能。</a:t>
            </a:r>
            <a:r>
              <a:rPr lang="en-US" altLang="zh-CN"/>
              <a:t>L1 Cache:</a:t>
            </a:r>
            <a:r>
              <a:rPr lang="zh-CN" altLang="en-US"/>
              <a:t>大小</a:t>
            </a:r>
            <a:r>
              <a:rPr lang="en-US" altLang="zh-CN"/>
              <a:t>:32KB</a:t>
            </a:r>
            <a:r>
              <a:rPr lang="zh-CN" altLang="en-US"/>
              <a:t>（指令缓存和数据缓存各</a:t>
            </a:r>
            <a:r>
              <a:rPr lang="en-US" altLang="zh-CN"/>
              <a:t>32KB</a:t>
            </a:r>
            <a:r>
              <a:rPr lang="zh-CN" altLang="en-US"/>
              <a:t>）。相联度</a:t>
            </a:r>
            <a:r>
              <a:rPr lang="en-US" altLang="zh-CN"/>
              <a:t>:8</a:t>
            </a:r>
            <a:r>
              <a:rPr lang="zh-CN" altLang="en-US"/>
              <a:t>路组相联。访问时间：约</a:t>
            </a:r>
            <a:r>
              <a:rPr lang="en-US" altLang="zh-CN"/>
              <a:t>4</a:t>
            </a:r>
            <a:r>
              <a:rPr lang="zh-CN" altLang="en-US"/>
              <a:t>个时钟周期。位置</a:t>
            </a:r>
            <a:r>
              <a:rPr lang="en-US" altLang="zh-CN"/>
              <a:t>:</a:t>
            </a:r>
            <a:r>
              <a:rPr lang="zh-CN" altLang="en-US"/>
              <a:t>集成在</a:t>
            </a:r>
            <a:r>
              <a:rPr lang="en-US" altLang="zh-CN"/>
              <a:t>CPU</a:t>
            </a:r>
            <a:r>
              <a:rPr lang="zh-CN" altLang="en-US"/>
              <a:t>核心内部，每个核心独享。</a:t>
            </a:r>
            <a:r>
              <a:rPr lang="en-US" altLang="zh-CN"/>
              <a:t>L2 Cache:</a:t>
            </a:r>
            <a:r>
              <a:rPr lang="zh-CN" altLang="en-US"/>
              <a:t>大小</a:t>
            </a:r>
            <a:r>
              <a:rPr lang="en-US" altLang="zh-CN"/>
              <a:t>:256KB</a:t>
            </a:r>
            <a:r>
              <a:rPr lang="zh-CN" altLang="en-US"/>
              <a:t>。相联度</a:t>
            </a:r>
            <a:r>
              <a:rPr lang="en-US" altLang="zh-CN"/>
              <a:t>:8</a:t>
            </a:r>
            <a:r>
              <a:rPr lang="zh-CN" altLang="en-US"/>
              <a:t>路组相联。访问时间</a:t>
            </a:r>
            <a:r>
              <a:rPr lang="en-US" altLang="zh-CN"/>
              <a:t>:</a:t>
            </a:r>
            <a:r>
              <a:rPr lang="zh-CN" altLang="en-US"/>
              <a:t>约</a:t>
            </a:r>
            <a:r>
              <a:rPr lang="en-US" altLang="zh-CN"/>
              <a:t>10</a:t>
            </a:r>
            <a:r>
              <a:rPr lang="zh-CN" altLang="en-US"/>
              <a:t>个时钟周期。位置：集成在</a:t>
            </a:r>
            <a:r>
              <a:rPr lang="en-US" altLang="zh-CN"/>
              <a:t>CPU</a:t>
            </a:r>
            <a:r>
              <a:rPr lang="zh-CN" altLang="en-US"/>
              <a:t>核心内部，每个核心独享。</a:t>
            </a:r>
            <a:r>
              <a:rPr lang="en-US" altLang="zh-CN"/>
              <a:t>L3 Cache:</a:t>
            </a:r>
            <a:r>
              <a:rPr lang="zh-CN" altLang="en-US"/>
              <a:t>大小</a:t>
            </a:r>
            <a:r>
              <a:rPr lang="en-US" altLang="zh-CN"/>
              <a:t>:8MB</a:t>
            </a:r>
            <a:r>
              <a:rPr lang="zh-CN" altLang="en-US"/>
              <a:t>（不同型号可能有所不同）。相联度</a:t>
            </a:r>
            <a:r>
              <a:rPr lang="en-US" altLang="zh-CN"/>
              <a:t>:16</a:t>
            </a:r>
            <a:r>
              <a:rPr lang="zh-CN" altLang="en-US"/>
              <a:t>路组相联。访问时间</a:t>
            </a:r>
            <a:r>
              <a:rPr lang="en-US" altLang="zh-CN"/>
              <a:t>:</a:t>
            </a:r>
            <a:r>
              <a:rPr lang="zh-CN" altLang="en-US"/>
              <a:t>约</a:t>
            </a:r>
            <a:r>
              <a:rPr lang="en-US" altLang="zh-CN"/>
              <a:t>40-75</a:t>
            </a:r>
            <a:r>
              <a:rPr lang="zh-CN" altLang="en-US"/>
              <a:t>个时钟周期。位置</a:t>
            </a:r>
            <a:r>
              <a:rPr lang="en-US" altLang="zh-CN"/>
              <a:t>:</a:t>
            </a:r>
            <a:r>
              <a:rPr lang="zh-CN" altLang="en-US"/>
              <a:t>集成在</a:t>
            </a:r>
            <a:r>
              <a:rPr lang="en-US" altLang="zh-CN"/>
              <a:t>CPU</a:t>
            </a:r>
            <a:r>
              <a:rPr lang="zh-CN" altLang="en-US"/>
              <a:t>芯片上，由所有核心共享。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(8)</a:t>
            </a:r>
            <a:r>
              <a:rPr lang="zh-CN" altLang="en-US"/>
              <a:t>解读酷睿</a:t>
            </a:r>
            <a:r>
              <a:rPr lang="en-US" altLang="zh-CN"/>
              <a:t>i7CPU</a:t>
            </a:r>
            <a:r>
              <a:rPr lang="zh-CN" altLang="en-US"/>
              <a:t>中的</a:t>
            </a:r>
            <a:r>
              <a:rPr lang="en-US" altLang="zh-CN"/>
              <a:t>Cache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/>
              <a:t>2. Cache</a:t>
            </a:r>
            <a:r>
              <a:rPr lang="zh-CN" altLang="en-US"/>
              <a:t>块大小</a:t>
            </a:r>
            <a:r>
              <a:rPr lang="en-US" altLang="zh-CN"/>
              <a:t>:</a:t>
            </a:r>
            <a:r>
              <a:rPr lang="zh-CN" altLang="en-US"/>
              <a:t>块大小</a:t>
            </a:r>
            <a:r>
              <a:rPr lang="en-US" altLang="zh-CN"/>
              <a:t>:64</a:t>
            </a:r>
            <a:r>
              <a:rPr lang="zh-CN" altLang="en-US"/>
              <a:t>字节。意义</a:t>
            </a:r>
            <a:r>
              <a:rPr lang="en-US" altLang="zh-CN"/>
              <a:t>:</a:t>
            </a:r>
            <a:r>
              <a:rPr lang="zh-CN" altLang="en-US"/>
              <a:t>数据以</a:t>
            </a:r>
            <a:r>
              <a:rPr lang="en-US" altLang="zh-CN"/>
              <a:t>64</a:t>
            </a:r>
            <a:r>
              <a:rPr lang="zh-CN" altLang="en-US"/>
              <a:t>字节为单位在</a:t>
            </a:r>
            <a:r>
              <a:rPr lang="en-US" altLang="zh-CN"/>
              <a:t>Cache</a:t>
            </a:r>
            <a:r>
              <a:rPr lang="zh-CN" altLang="en-US"/>
              <a:t>和主存之间传输，利用空间局部性原理，减少主存访问次数。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示例：</a:t>
            </a:r>
            <a:r>
              <a:rPr lang="en-US" altLang="zh-CN"/>
              <a:t>Core i7 L1 Data Cache</a:t>
            </a:r>
            <a:r>
              <a:rPr lang="zh-CN" altLang="en-US"/>
              <a:t>参数</a:t>
            </a:r>
            <a:r>
              <a:rPr lang="en-US" altLang="zh-CN"/>
              <a:t>:S:64</a:t>
            </a:r>
            <a:r>
              <a:rPr lang="zh-CN" altLang="en-US"/>
              <a:t>组（</a:t>
            </a:r>
            <a:r>
              <a:rPr lang="en-US" altLang="zh-CN"/>
              <a:t>2^6</a:t>
            </a:r>
            <a:r>
              <a:rPr lang="zh-CN" altLang="en-US"/>
              <a:t>）。</a:t>
            </a:r>
            <a:r>
              <a:rPr lang="en-US" altLang="zh-CN"/>
              <a:t>E:8</a:t>
            </a:r>
            <a:r>
              <a:rPr lang="zh-CN" altLang="en-US"/>
              <a:t>路组相联。</a:t>
            </a:r>
            <a:r>
              <a:rPr lang="en-US" altLang="zh-CN"/>
              <a:t>B:64</a:t>
            </a:r>
            <a:r>
              <a:rPr lang="zh-CN" altLang="en-US"/>
              <a:t>字节。缓存大小：</a:t>
            </a:r>
            <a:r>
              <a:rPr lang="en-US" altLang="zh-CN"/>
              <a:t>64 *8 *64 = 32,768 </a:t>
            </a:r>
            <a:r>
              <a:rPr lang="zh-CN" altLang="en-US"/>
              <a:t>字节（</a:t>
            </a:r>
            <a:r>
              <a:rPr lang="en-US" altLang="zh-CN"/>
              <a:t>32KB</a:t>
            </a:r>
            <a:r>
              <a:rPr lang="zh-CN" altLang="en-US"/>
              <a:t>）。地址分解</a:t>
            </a:r>
            <a:r>
              <a:rPr lang="en-US" altLang="zh-CN"/>
              <a:t>:Tag:35</a:t>
            </a:r>
            <a:r>
              <a:rPr lang="zh-CN" altLang="en-US"/>
              <a:t>位（因为总地址为</a:t>
            </a:r>
            <a:r>
              <a:rPr lang="en-US" altLang="zh-CN"/>
              <a:t>47</a:t>
            </a:r>
            <a:r>
              <a:rPr lang="zh-CN" altLang="en-US"/>
              <a:t>位，组索引</a:t>
            </a:r>
            <a:r>
              <a:rPr lang="en-US" altLang="zh-CN"/>
              <a:t>6</a:t>
            </a:r>
            <a:r>
              <a:rPr lang="zh-CN" altLang="en-US"/>
              <a:t>位，块偏移</a:t>
            </a:r>
            <a:r>
              <a:rPr lang="en-US" altLang="zh-CN"/>
              <a:t>6</a:t>
            </a:r>
            <a:r>
              <a:rPr lang="zh-CN" altLang="en-US"/>
              <a:t>位）。</a:t>
            </a:r>
            <a:r>
              <a:rPr lang="en-US" altLang="zh-CN"/>
              <a:t>Set Index:6</a:t>
            </a:r>
            <a:r>
              <a:rPr lang="zh-CN" altLang="en-US"/>
              <a:t>位（</a:t>
            </a:r>
            <a:r>
              <a:rPr lang="en-US" altLang="zh-CN"/>
              <a:t>2^6 = 64 </a:t>
            </a:r>
            <a:r>
              <a:rPr lang="zh-CN" altLang="en-US"/>
              <a:t>组）。</a:t>
            </a:r>
            <a:r>
              <a:rPr lang="en-US" altLang="zh-CN"/>
              <a:t>Block Offset:6</a:t>
            </a:r>
            <a:r>
              <a:rPr lang="zh-CN" altLang="en-US"/>
              <a:t>位（</a:t>
            </a:r>
            <a:r>
              <a:rPr lang="en-US" altLang="zh-CN"/>
              <a:t>2^6 = 64 </a:t>
            </a:r>
            <a:r>
              <a:rPr lang="zh-CN" altLang="en-US"/>
              <a:t>字节）。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(9)</a:t>
            </a:r>
            <a:r>
              <a:rPr lang="zh-CN" altLang="en-US"/>
              <a:t>分析</a:t>
            </a:r>
            <a:r>
              <a:rPr lang="en-US" altLang="zh-CN"/>
              <a:t>Cache</a:t>
            </a:r>
            <a:r>
              <a:rPr lang="zh-CN" altLang="en-US"/>
              <a:t>的重要性能指标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r>
              <a:rPr lang="en-US" altLang="zh-CN"/>
              <a:t>Cache</a:t>
            </a:r>
            <a:r>
              <a:rPr lang="zh-CN" altLang="en-US"/>
              <a:t>的重要性能指标</a:t>
            </a:r>
            <a:r>
              <a:rPr lang="en-US" altLang="zh-CN"/>
              <a:t>:1. </a:t>
            </a:r>
            <a:r>
              <a:rPr lang="zh-CN" altLang="en-US"/>
              <a:t>未命中率（</a:t>
            </a:r>
            <a:r>
              <a:rPr lang="en-US" altLang="zh-CN"/>
              <a:t>Miss Rate</a:t>
            </a:r>
            <a:r>
              <a:rPr lang="zh-CN" altLang="en-US"/>
              <a:t>）定义</a:t>
            </a:r>
            <a:r>
              <a:rPr lang="en-US" altLang="zh-CN"/>
              <a:t>:</a:t>
            </a:r>
            <a:r>
              <a:rPr lang="zh-CN" altLang="en-US"/>
              <a:t>未命中率是指在</a:t>
            </a:r>
            <a:r>
              <a:rPr lang="en-US" altLang="zh-CN"/>
              <a:t>Cache</a:t>
            </a:r>
            <a:r>
              <a:rPr lang="zh-CN" altLang="en-US"/>
              <a:t>中未找到所需数据的请求次数占总请求数的比例。重要性</a:t>
            </a:r>
            <a:r>
              <a:rPr lang="en-US" altLang="zh-CN"/>
              <a:t>:</a:t>
            </a:r>
            <a:r>
              <a:rPr lang="zh-CN" altLang="en-US"/>
              <a:t>未命中率越低，表示大部分数据访问都能在</a:t>
            </a:r>
            <a:r>
              <a:rPr lang="en-US" altLang="zh-CN"/>
              <a:t>Cache</a:t>
            </a:r>
            <a:r>
              <a:rPr lang="zh-CN" altLang="en-US"/>
              <a:t>中直接找到，减少了对主存的访问次数，从而显著提高系统性能。计算公式</a:t>
            </a:r>
            <a:r>
              <a:rPr lang="en-US" altLang="zh-CN"/>
              <a:t>:</a:t>
            </a:r>
            <a:r>
              <a:rPr lang="zh-CN" altLang="en-US"/>
              <a:t>典型值</a:t>
            </a:r>
            <a:r>
              <a:rPr lang="en-US" altLang="zh-CN"/>
              <a:t>:L1</a:t>
            </a:r>
            <a:r>
              <a:rPr lang="zh-CN" altLang="en-US"/>
              <a:t>缓存的未命中率通常在</a:t>
            </a:r>
            <a:r>
              <a:rPr lang="en-US" altLang="zh-CN"/>
              <a:t>3-10%</a:t>
            </a:r>
            <a:r>
              <a:rPr lang="zh-CN" altLang="en-US"/>
              <a:t>，</a:t>
            </a:r>
            <a:r>
              <a:rPr lang="en-US" altLang="zh-CN"/>
              <a:t>L2</a:t>
            </a:r>
            <a:r>
              <a:rPr lang="zh-CN" altLang="en-US"/>
              <a:t>缓存的未命中率通常在</a:t>
            </a:r>
            <a:r>
              <a:rPr lang="en-US" altLang="zh-CN"/>
              <a:t>1%</a:t>
            </a:r>
            <a:r>
              <a:rPr lang="zh-CN" altLang="en-US"/>
              <a:t>以下。</a:t>
            </a:r>
            <a:r>
              <a:rPr lang="en-US" altLang="zh-CN"/>
              <a:t>2. </a:t>
            </a:r>
            <a:r>
              <a:rPr lang="zh-CN" altLang="en-US"/>
              <a:t>命中时间（</a:t>
            </a:r>
            <a:r>
              <a:rPr lang="en-US" altLang="zh-CN"/>
              <a:t>Hit Time</a:t>
            </a:r>
            <a:r>
              <a:rPr lang="zh-CN" altLang="en-US"/>
              <a:t>）定义</a:t>
            </a:r>
            <a:r>
              <a:rPr lang="en-US" altLang="zh-CN"/>
              <a:t>:</a:t>
            </a:r>
            <a:r>
              <a:rPr lang="zh-CN" altLang="en-US"/>
              <a:t>命中时间是指从</a:t>
            </a:r>
            <a:r>
              <a:rPr lang="en-US" altLang="zh-CN"/>
              <a:t>Cache</a:t>
            </a:r>
            <a:r>
              <a:rPr lang="zh-CN" altLang="en-US"/>
              <a:t>中读取数据所需的时间。重要性</a:t>
            </a:r>
            <a:r>
              <a:rPr lang="en-US" altLang="zh-CN"/>
              <a:t>:</a:t>
            </a:r>
            <a:r>
              <a:rPr lang="zh-CN" altLang="en-US"/>
              <a:t>命中时间越短，表示</a:t>
            </a:r>
            <a:r>
              <a:rPr lang="en-US" altLang="zh-CN"/>
              <a:t>Cache</a:t>
            </a:r>
            <a:r>
              <a:rPr lang="zh-CN" altLang="en-US"/>
              <a:t>的访问速度越快，系统性能越高。典型值</a:t>
            </a:r>
            <a:r>
              <a:rPr lang="en-US" altLang="zh-CN"/>
              <a:t>:L1</a:t>
            </a:r>
            <a:r>
              <a:rPr lang="zh-CN" altLang="en-US"/>
              <a:t>缓存</a:t>
            </a:r>
            <a:r>
              <a:rPr lang="en-US" altLang="zh-CN"/>
              <a:t>:</a:t>
            </a:r>
            <a:r>
              <a:rPr lang="zh-CN" altLang="en-US"/>
              <a:t>约</a:t>
            </a:r>
            <a:r>
              <a:rPr lang="en-US" altLang="zh-CN"/>
              <a:t>4</a:t>
            </a:r>
            <a:r>
              <a:rPr lang="zh-CN" altLang="en-US"/>
              <a:t>个时钟周期，</a:t>
            </a:r>
            <a:r>
              <a:rPr lang="en-US" altLang="zh-CN"/>
              <a:t>L2</a:t>
            </a:r>
            <a:r>
              <a:rPr lang="zh-CN" altLang="en-US"/>
              <a:t>缓存</a:t>
            </a:r>
            <a:r>
              <a:rPr lang="en-US" altLang="zh-CN"/>
              <a:t>:</a:t>
            </a:r>
            <a:r>
              <a:rPr lang="zh-CN" altLang="en-US"/>
              <a:t>约</a:t>
            </a:r>
            <a:r>
              <a:rPr lang="en-US" altLang="zh-CN"/>
              <a:t>10</a:t>
            </a:r>
            <a:r>
              <a:rPr lang="zh-CN" altLang="en-US"/>
              <a:t>个时钟周期</a:t>
            </a:r>
            <a:r>
              <a:rPr lang="en-US" altLang="zh-CN"/>
              <a:t>3. </a:t>
            </a:r>
            <a:r>
              <a:rPr lang="zh-CN" altLang="en-US"/>
              <a:t>未命中惩罚（</a:t>
            </a:r>
            <a:r>
              <a:rPr lang="en-US" altLang="zh-CN"/>
              <a:t>Miss Penalty</a:t>
            </a:r>
            <a:r>
              <a:rPr lang="zh-CN" altLang="en-US"/>
              <a:t>）定义</a:t>
            </a:r>
            <a:r>
              <a:rPr lang="en-US" altLang="zh-CN"/>
              <a:t>:</a:t>
            </a:r>
            <a:r>
              <a:rPr lang="zh-CN" altLang="en-US"/>
              <a:t>未命中惩罚是指由于未命中而需要从主存中读取数据所需额外时间。重要性</a:t>
            </a:r>
            <a:r>
              <a:rPr lang="en-US" altLang="zh-CN"/>
              <a:t>:</a:t>
            </a:r>
            <a:r>
              <a:rPr lang="zh-CN" altLang="en-US"/>
              <a:t>未命中惩罚越小，表示在未命中时系统性能下降得越少。典型值</a:t>
            </a:r>
            <a:r>
              <a:rPr lang="en-US" altLang="zh-CN"/>
              <a:t>:</a:t>
            </a:r>
            <a:r>
              <a:rPr lang="zh-CN" altLang="en-US"/>
              <a:t>从主存读取一个数据块通常需要约</a:t>
            </a:r>
            <a:r>
              <a:rPr lang="en-US" altLang="zh-CN"/>
              <a:t>50-200</a:t>
            </a:r>
            <a:r>
              <a:rPr lang="zh-CN" altLang="en-US"/>
              <a:t>个时钟周期。</a:t>
            </a:r>
            <a:endParaRPr lang="zh-CN" altLang="en-US"/>
          </a:p>
          <a:p>
            <a:r>
              <a:rPr lang="zh-CN" altLang="en-US"/>
              <a:t>平均访问时间</a:t>
            </a:r>
            <a:r>
              <a:rPr lang="en-US" altLang="zh-CN"/>
              <a:t>:Average Access Time = Hit Time + (Miss Rate </a:t>
            </a:r>
            <a:r>
              <a:rPr lang="en-US" altLang="en-US"/>
              <a:t>×</a:t>
            </a:r>
            <a:r>
              <a:rPr lang="en-US" altLang="zh-CN"/>
              <a:t> Miss Penalty)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89*137"/>
  <p:tag name="TABLE_ENDDRAG_RECT" val="92*241*789*137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5048</Words>
  <Application>WPS 演示</Application>
  <PresentationFormat>宽屏</PresentationFormat>
  <Paragraphs>159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沈周</cp:lastModifiedBy>
  <cp:revision>5</cp:revision>
  <dcterms:created xsi:type="dcterms:W3CDTF">2023-08-09T12:44:00Z</dcterms:created>
  <dcterms:modified xsi:type="dcterms:W3CDTF">2025-11-04T18:49:54Z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7702C5B058324768914E3401B6A28F6C_12</vt:lpwstr>
  </property>
</Properties>
</file>