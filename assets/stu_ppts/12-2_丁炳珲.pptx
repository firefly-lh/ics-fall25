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57" r:id="rId3"/>
    <p:sldId id="259" r:id="rId4"/>
    <p:sldId id="260" r:id="rId5"/>
    <p:sldId id="268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4" autoAdjust="0"/>
    <p:restoredTop sz="94660"/>
  </p:normalViewPr>
  <p:slideViewPr>
    <p:cSldViewPr snapToGrid="0">
      <p:cViewPr varScale="1">
        <p:scale>
          <a:sx n="94" d="100"/>
          <a:sy n="94" d="100"/>
        </p:scale>
        <p:origin x="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ED202-F602-4449-8A2A-9308B39D7D94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C2BBB4-EE4E-45AD-A523-CE6BB5E95E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585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022B13-40B6-42D4-5A59-F13AFDB16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A32D1F-067E-29A2-57F2-BEFE279D1C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679B0D-D5AA-9F2D-B210-A5180260E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ADE-46C4-4B77-9721-4598EF28B89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442EC0-6D10-0F74-947A-9B5DAF2F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7100A7-41AF-9F6F-F595-68865010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63AC-D2D7-4F02-A550-E7E4537A4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290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129655-F7F3-87E1-3731-DCFBA228C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26FD94-2D1D-34EE-F93E-DF815B781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5AB984-75F7-7B26-8A35-9A59FA647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ADE-46C4-4B77-9721-4598EF28B89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B58AD1-F658-AF1F-C78B-61537D7CD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D7F63F-560E-2D6C-FCB9-5684FEB11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63AC-D2D7-4F02-A550-E7E4537A4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314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918C1-882A-4D8C-9DCE-3F492662B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D09D39-3C23-8D27-1CA0-CF0F3A1A2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0115F9-6304-7A18-DE63-DB5F09069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ADE-46C4-4B77-9721-4598EF28B89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D3372B-EE75-18A6-E331-EE1B1D4D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928746-2268-34A9-3FFB-5CD757105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63AC-D2D7-4F02-A550-E7E4537A4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189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C04F98-B6CF-B85D-37C8-13D417599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DE0C49-ABD3-5B72-60DD-464D23A06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639ACE-B411-83DF-9000-8B03C47DF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2C8A97-3E80-CF2C-687F-4D6171A38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ADE-46C4-4B77-9721-4598EF28B89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0B268B-3175-E7D1-3A9D-2455D27D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F3A4FF-7B75-BF22-6D04-1A7A106E0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63AC-D2D7-4F02-A550-E7E4537A4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781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C083E5-EE20-C182-5784-846BBB175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9766D2-4A7A-ADCF-7D2A-C457F8ABA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E7BCB6-77C8-DC7F-52FF-0021A5794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868D0AC-0A01-BD93-187C-00CE58386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FC4F5C8-9BF8-5935-E181-62D508F3A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0137779-5E96-35C1-064B-8BDA783B9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ADE-46C4-4B77-9721-4598EF28B89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6CEF59-CDF6-EB05-9AAA-EACD5F1EA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04B44C-2CB8-2AD9-7794-5D483A9D1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63AC-D2D7-4F02-A550-E7E4537A4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28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19959C-F378-1F84-38E5-BE24A5CFD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696152-7AE6-BDFC-58BF-4BFBDD5FB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ADE-46C4-4B77-9721-4598EF28B89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B9DBCA-E840-32FB-80F5-A29148E48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08F526-9035-390E-BB0A-C7338B26C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63AC-D2D7-4F02-A550-E7E4537A4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371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4BF228-7634-5E6E-1AC9-BEC3C158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ADE-46C4-4B77-9721-4598EF28B89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C3E533-B5F6-BD11-3E84-45BBC27F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FE11E0-47CB-6291-D2DD-C42C92CB8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63AC-D2D7-4F02-A550-E7E4537A4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934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5B713-F286-DE55-515B-1F668E7AE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7F7D34-F366-57DF-4AFF-1714C1557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E43BFC-D37A-37FC-EC82-614F92C8A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9D7687-D984-96DD-CA0D-EFE233320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ADE-46C4-4B77-9721-4598EF28B89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79E9AB-53FF-3BCE-45FC-D083EB15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F6E5B5-FD35-AF80-4441-7A69F173B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63AC-D2D7-4F02-A550-E7E4537A4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085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8ACD2-069D-41B5-42E2-1CC952AB5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C092A29-ED4E-8444-8A2F-AC0FAD33D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08F359-9C25-87CA-AECA-F12D23F63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0D38B2-9B94-B889-2A8C-217ADBD88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ADE-46C4-4B77-9721-4598EF28B89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A3C18F-09E2-045A-89A0-B0ABCE0F9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12CA2E-D656-3A0F-E073-07A1CB67A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63AC-D2D7-4F02-A550-E7E4537A4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FA996C-50F4-2267-A71B-09ABC1FC3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AF9A8C-63D9-58BD-B2BB-8DF292CA4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7E8092-8DF6-6636-038C-3E22F488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ADE-46C4-4B77-9721-4598EF28B89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0127F4-3542-773C-6F72-CCC89E8D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0E4B01-3F68-91D0-E486-2C28A1CCE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63AC-D2D7-4F02-A550-E7E4537A4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987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D4848F-A9CE-E637-A7A3-6A1E9FA6B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00BDCB-4D4A-0D01-F358-903A9832B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647AD-B064-B3B7-B63C-1A5F4FD7A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ADE-46C4-4B77-9721-4598EF28B89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B77CBC-BE1D-E1E2-A613-BC2E1D6F7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0B53FB-CB2F-1F07-7417-3D78A9B7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63AC-D2D7-4F02-A550-E7E4537A4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103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6D49567-817C-E419-5248-B5F9043AA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CA7877-FB12-3E03-EDFA-91D5F39F6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769A91-F70E-70E9-7C94-9B0BF6993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7FADE-46C4-4B77-9721-4598EF28B89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FD461-0C2A-0C45-58D4-C00C0EAB57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043CF4-E62C-3A03-4995-1D9BD63A7C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D63AC-D2D7-4F02-A550-E7E4537A4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256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03F1D0-6250-23E3-35AB-D182EC071D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研讨题</a:t>
            </a:r>
            <a:r>
              <a:rPr lang="en-US" altLang="zh-CN" b="1" dirty="0"/>
              <a:t>2-2</a:t>
            </a:r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9DA1B3-CAA4-6C71-44DE-78A1D87FE2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908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71A508D-8191-8925-BE9C-FBEAB82AF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25" y="106474"/>
            <a:ext cx="5763429" cy="221963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507E71B-BD61-FA0E-1BE5-2C5BA549BF41}"/>
              </a:ext>
            </a:extLst>
          </p:cNvPr>
          <p:cNvSpPr txBox="1"/>
          <p:nvPr/>
        </p:nvSpPr>
        <p:spPr>
          <a:xfrm>
            <a:off x="928360" y="2189430"/>
            <a:ext cx="10198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zh-CN" altLang="en-US" sz="2000" dirty="0"/>
              <a:t>局部性原理：程序往往会使用那些地址接近或等于其最近使用过的数据和指令。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9C97D0-816C-1334-5925-51CFB9741B0A}"/>
              </a:ext>
            </a:extLst>
          </p:cNvPr>
          <p:cNvSpPr txBox="1"/>
          <p:nvPr/>
        </p:nvSpPr>
        <p:spPr>
          <a:xfrm>
            <a:off x="928360" y="2542591"/>
            <a:ext cx="1430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数据：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AD8B3D-9A0C-1141-D0BC-4FA6BC755DDA}"/>
              </a:ext>
            </a:extLst>
          </p:cNvPr>
          <p:cNvSpPr txBox="1"/>
          <p:nvPr/>
        </p:nvSpPr>
        <p:spPr>
          <a:xfrm>
            <a:off x="928360" y="3067632"/>
            <a:ext cx="963959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时间维度</a:t>
            </a:r>
            <a:r>
              <a:rPr lang="zh-CN" altLang="en-US" sz="2000" dirty="0"/>
              <a:t>：变量</a:t>
            </a:r>
            <a:r>
              <a:rPr lang="en-US" altLang="zh-CN" sz="2000" dirty="0"/>
              <a:t>sum</a:t>
            </a:r>
            <a:r>
              <a:rPr lang="zh-CN" altLang="en-US" sz="2000" dirty="0"/>
              <a:t>每次循环都被赋值和累加，属于“短时间内重复访问的数据”，符合时间局部性特征；而数组</a:t>
            </a:r>
            <a:r>
              <a:rPr lang="en-US" altLang="zh-CN" sz="2000" dirty="0"/>
              <a:t>a</a:t>
            </a:r>
            <a:r>
              <a:rPr lang="zh-CN" altLang="en-US" sz="2000" dirty="0"/>
              <a:t>的每个元素仅访问一次，时间局部性差。</a:t>
            </a:r>
            <a:endParaRPr lang="en-US" altLang="zh-CN" sz="2000" dirty="0"/>
          </a:p>
          <a:p>
            <a:r>
              <a:rPr lang="zh-CN" altLang="en-US" sz="2000" b="1" dirty="0"/>
              <a:t>空间维度</a:t>
            </a:r>
            <a:r>
              <a:rPr lang="zh-CN" altLang="en-US" sz="2000" dirty="0"/>
              <a:t>：</a:t>
            </a:r>
            <a:r>
              <a:rPr lang="zh-CN" altLang="en-US" dirty="0"/>
              <a:t>数组</a:t>
            </a:r>
            <a:r>
              <a:rPr lang="en-US" altLang="zh-CN" dirty="0"/>
              <a:t>a</a:t>
            </a:r>
            <a:r>
              <a:rPr lang="zh-CN" altLang="en-US" dirty="0"/>
              <a:t>的元素在内存中连续存储，访问顺序为</a:t>
            </a:r>
            <a:r>
              <a:rPr lang="en-US" altLang="zh-CN" dirty="0"/>
              <a:t>a[0]→a[1]→…→a[n-1]</a:t>
            </a:r>
            <a:r>
              <a:rPr lang="zh-CN" altLang="en-US" dirty="0"/>
              <a:t>，即步长为</a:t>
            </a:r>
            <a:r>
              <a:rPr lang="en-US" altLang="zh-CN" dirty="0"/>
              <a:t>1</a:t>
            </a:r>
            <a:r>
              <a:rPr lang="zh-CN" altLang="en-US" dirty="0"/>
              <a:t>的引用模式，具有最优的空间局部性；而</a:t>
            </a:r>
            <a:r>
              <a:rPr lang="en-US" altLang="zh-CN" dirty="0"/>
              <a:t>sum</a:t>
            </a:r>
            <a:r>
              <a:rPr lang="zh-CN" altLang="en-US" dirty="0"/>
              <a:t>无空间局部性可言。</a:t>
            </a: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2F5AB8-9EA9-7749-0CF8-8EBBBAF626E2}"/>
              </a:ext>
            </a:extLst>
          </p:cNvPr>
          <p:cNvSpPr txBox="1"/>
          <p:nvPr/>
        </p:nvSpPr>
        <p:spPr>
          <a:xfrm>
            <a:off x="928360" y="4363736"/>
            <a:ext cx="1005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指令：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464960-AA27-871A-0F05-882C92129BC3}"/>
              </a:ext>
            </a:extLst>
          </p:cNvPr>
          <p:cNvSpPr txBox="1"/>
          <p:nvPr/>
        </p:nvSpPr>
        <p:spPr>
          <a:xfrm>
            <a:off x="984201" y="4893679"/>
            <a:ext cx="9416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时间维度</a:t>
            </a:r>
            <a:r>
              <a:rPr lang="zh-CN" altLang="en-US" dirty="0"/>
              <a:t>：循环中的指令被重复执行了</a:t>
            </a:r>
            <a:r>
              <a:rPr lang="en-US" altLang="zh-CN" dirty="0"/>
              <a:t>n</a:t>
            </a:r>
            <a:r>
              <a:rPr lang="zh-CN" altLang="en-US" dirty="0"/>
              <a:t>次，书中强调“循环体越小，循环迭代次数越多，局部性越好”，该循环体具备良好的时间局部性。</a:t>
            </a:r>
            <a:endParaRPr lang="en-US" altLang="zh-CN" dirty="0"/>
          </a:p>
          <a:p>
            <a:r>
              <a:rPr lang="zh-CN" altLang="en-US" b="1" dirty="0"/>
              <a:t>空间维度</a:t>
            </a:r>
            <a:r>
              <a:rPr lang="zh-CN" altLang="en-US" dirty="0"/>
              <a:t>：指令在内存中按顺序存储（编译后指令地址连续），</a:t>
            </a:r>
            <a:r>
              <a:rPr lang="en-US" altLang="zh-CN" dirty="0"/>
              <a:t>CPU </a:t>
            </a:r>
            <a:r>
              <a:rPr lang="zh-CN" altLang="en-US" dirty="0"/>
              <a:t>按 “取指→执行” 的顺序连续读取指令，是顺序引用模式，空间局部性优秀。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450203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1BC8717-408A-837D-7376-FC3254271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81" y="261257"/>
            <a:ext cx="4791589" cy="249569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8FF821D-7623-C9FE-59EB-8972339FF95D}"/>
              </a:ext>
            </a:extLst>
          </p:cNvPr>
          <p:cNvSpPr txBox="1"/>
          <p:nvPr/>
        </p:nvSpPr>
        <p:spPr>
          <a:xfrm>
            <a:off x="5300770" y="673768"/>
            <a:ext cx="58370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 </a:t>
            </a:r>
            <a:r>
              <a:rPr lang="zh-CN" altLang="en-US" sz="2000" dirty="0"/>
              <a:t>语言中二维数组采用</a:t>
            </a:r>
            <a:r>
              <a:rPr lang="zh-CN" altLang="en-US" sz="2000" b="1" dirty="0"/>
              <a:t>行优先（</a:t>
            </a:r>
            <a:r>
              <a:rPr lang="en-US" altLang="zh-CN" sz="2000" b="1" dirty="0"/>
              <a:t>Row-Major</a:t>
            </a:r>
            <a:r>
              <a:rPr lang="zh-CN" altLang="en-US" sz="2000" b="1" dirty="0"/>
              <a:t>）存储</a:t>
            </a:r>
            <a:r>
              <a:rPr lang="zh-CN" altLang="en-US" sz="2000" dirty="0"/>
              <a:t>，即 先存储完第 </a:t>
            </a:r>
            <a:r>
              <a:rPr lang="en-US" altLang="zh-CN" sz="2000" dirty="0"/>
              <a:t>0 </a:t>
            </a:r>
            <a:r>
              <a:rPr lang="zh-CN" altLang="en-US" sz="2000" dirty="0"/>
              <a:t>行所有元素，再存储第 </a:t>
            </a:r>
            <a:r>
              <a:rPr lang="en-US" altLang="zh-CN" sz="2000" dirty="0"/>
              <a:t>1 </a:t>
            </a:r>
            <a:r>
              <a:rPr lang="zh-CN" altLang="en-US" sz="2000" dirty="0"/>
              <a:t>行，以此类推。</a:t>
            </a:r>
          </a:p>
        </p:txBody>
      </p:sp>
      <p:pic>
        <p:nvPicPr>
          <p:cNvPr id="1026" name="Picture 2" descr="二维数组及其动态内存分配_二维数组动态分配内存-CSDN博客">
            <a:extLst>
              <a:ext uri="{FF2B5EF4-FFF2-40B4-BE49-F238E27FC236}">
                <a16:creationId xmlns:a16="http://schemas.microsoft.com/office/drawing/2014/main" id="{9457A907-EB71-3806-EB0A-D8B24DEB8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71894"/>
            <a:ext cx="6436995" cy="3724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03CE95C-76A8-39FA-171C-32F247975B70}"/>
              </a:ext>
            </a:extLst>
          </p:cNvPr>
          <p:cNvSpPr txBox="1"/>
          <p:nvPr/>
        </p:nvSpPr>
        <p:spPr>
          <a:xfrm>
            <a:off x="6190827" y="2113280"/>
            <a:ext cx="51680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按行访问</a:t>
            </a:r>
            <a:r>
              <a:rPr lang="zh-CN" altLang="en-US" dirty="0"/>
              <a:t>：访问顺序与内存存储顺序完全一致（步长 </a:t>
            </a:r>
            <a:r>
              <a:rPr lang="en-US" altLang="zh-CN" dirty="0"/>
              <a:t>- 1</a:t>
            </a:r>
            <a:r>
              <a:rPr lang="zh-CN" altLang="en-US" dirty="0"/>
              <a:t>），无地址跳跃。此时空间局部性优秀（顺序引用模式），时间局部性良好（重复访问</a:t>
            </a:r>
            <a:r>
              <a:rPr lang="en-US" altLang="zh-CN" dirty="0"/>
              <a:t>sum</a:t>
            </a:r>
            <a:r>
              <a:rPr lang="zh-CN" altLang="en-US" dirty="0"/>
              <a:t>）</a:t>
            </a:r>
            <a:endParaRPr lang="zh-CN" altLang="en-US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BD15BA-1A08-F49F-8115-43BC95F8EAB2}"/>
              </a:ext>
            </a:extLst>
          </p:cNvPr>
          <p:cNvSpPr txBox="1"/>
          <p:nvPr/>
        </p:nvSpPr>
        <p:spPr>
          <a:xfrm>
            <a:off x="6190826" y="3359726"/>
            <a:ext cx="56557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按列访问</a:t>
            </a:r>
            <a:r>
              <a:rPr lang="zh-CN" altLang="en-US" dirty="0"/>
              <a:t>：访问顺序为</a:t>
            </a:r>
            <a:r>
              <a:rPr lang="en-US" altLang="zh-CN" dirty="0"/>
              <a:t>a[0][0]→a[1][0]→a[2][0]→a[0][1]</a:t>
            </a:r>
            <a:r>
              <a:rPr lang="zh-CN" altLang="en-US" dirty="0"/>
              <a:t>，地址跳跃幅度为 “</a:t>
            </a:r>
            <a:r>
              <a:rPr lang="en-US" altLang="zh-CN" dirty="0"/>
              <a:t>N× </a:t>
            </a:r>
            <a:r>
              <a:rPr lang="zh-CN" altLang="en-US" dirty="0"/>
              <a:t>元素字节数”，是“步长为</a:t>
            </a:r>
            <a:r>
              <a:rPr lang="en-US" altLang="zh-CN" dirty="0"/>
              <a:t>N</a:t>
            </a:r>
            <a:r>
              <a:rPr lang="zh-CN" altLang="en-US" dirty="0"/>
              <a:t>的引用模式”。此时空间局部性差，仅</a:t>
            </a:r>
            <a:r>
              <a:rPr lang="en-US" altLang="zh-CN" dirty="0"/>
              <a:t>sum</a:t>
            </a:r>
            <a:r>
              <a:rPr lang="zh-CN" altLang="en-US" dirty="0"/>
              <a:t>保持空间局部性，当</a:t>
            </a:r>
            <a:r>
              <a:rPr lang="en-US" altLang="zh-CN" dirty="0"/>
              <a:t>M </a:t>
            </a:r>
            <a:r>
              <a:rPr lang="zh-CN" altLang="en-US" dirty="0"/>
              <a:t>较小时局部性差异不明显，当</a:t>
            </a:r>
            <a:r>
              <a:rPr lang="en-US" altLang="zh-CN" dirty="0"/>
              <a:t>M </a:t>
            </a:r>
            <a:r>
              <a:rPr lang="zh-CN" altLang="en-US" dirty="0"/>
              <a:t>较大时性能差距显著。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521727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0B416B3-9531-D913-29B0-75395966E73F}"/>
              </a:ext>
            </a:extLst>
          </p:cNvPr>
          <p:cNvSpPr txBox="1"/>
          <p:nvPr/>
        </p:nvSpPr>
        <p:spPr>
          <a:xfrm>
            <a:off x="406399" y="982133"/>
            <a:ext cx="9171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多维数组仍遵循</a:t>
            </a:r>
            <a:r>
              <a:rPr lang="zh-CN" altLang="en-US" b="1" dirty="0"/>
              <a:t>行优先存储</a:t>
            </a:r>
            <a:r>
              <a:rPr lang="zh-CN" altLang="en-US" dirty="0"/>
              <a:t>，优先级为 “最内层维度→中间维度→最外层维度”。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AF62E0-82F1-0C07-5436-0749ED772FDD}"/>
              </a:ext>
            </a:extLst>
          </p:cNvPr>
          <p:cNvSpPr txBox="1"/>
          <p:nvPr/>
        </p:nvSpPr>
        <p:spPr>
          <a:xfrm>
            <a:off x="530188" y="274504"/>
            <a:ext cx="3715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多维数组的存储规则</a:t>
            </a:r>
          </a:p>
        </p:txBody>
      </p:sp>
      <p:pic>
        <p:nvPicPr>
          <p:cNvPr id="2050" name="Picture 2" descr="C++ 多维数组 分配连续内存空间_连续内存c++实现-CSDN博客">
            <a:extLst>
              <a:ext uri="{FF2B5EF4-FFF2-40B4-BE49-F238E27FC236}">
                <a16:creationId xmlns:a16="http://schemas.microsoft.com/office/drawing/2014/main" id="{5D55DC41-9CA7-36BE-DF7A-55876D6B8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89" y="1476587"/>
            <a:ext cx="6195732" cy="4558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4905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E591054-F94A-B720-96F0-F6D9793A7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3234"/>
            <a:ext cx="6065362" cy="33908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6A161DD-8851-40A2-8868-C8C05685EA06}"/>
              </a:ext>
            </a:extLst>
          </p:cNvPr>
          <p:cNvSpPr txBox="1"/>
          <p:nvPr/>
        </p:nvSpPr>
        <p:spPr>
          <a:xfrm>
            <a:off x="609600" y="663787"/>
            <a:ext cx="53780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如图，原代码</a:t>
            </a:r>
            <a:r>
              <a:rPr lang="zh-CN" altLang="en-US" b="1" dirty="0"/>
              <a:t>未优化</a:t>
            </a:r>
            <a:r>
              <a:rPr lang="zh-CN" altLang="en-US" dirty="0"/>
              <a:t>的情况下</a:t>
            </a:r>
            <a:endParaRPr lang="en-US" altLang="zh-CN" dirty="0"/>
          </a:p>
          <a:p>
            <a:r>
              <a:rPr lang="zh-CN" altLang="en-US" b="1" dirty="0"/>
              <a:t>访问路径</a:t>
            </a:r>
            <a:r>
              <a:rPr lang="zh-CN" altLang="en-US" dirty="0"/>
              <a:t>：内层循环变量为</a:t>
            </a:r>
            <a:r>
              <a:rPr lang="en-US" altLang="zh-CN" dirty="0"/>
              <a:t>k</a:t>
            </a:r>
            <a:r>
              <a:rPr lang="zh-CN" altLang="en-US" dirty="0"/>
              <a:t>，当</a:t>
            </a:r>
            <a:r>
              <a:rPr lang="en-US" altLang="zh-CN" dirty="0" err="1"/>
              <a:t>i</a:t>
            </a:r>
            <a:r>
              <a:rPr lang="zh-CN" altLang="en-US" dirty="0"/>
              <a:t>、</a:t>
            </a:r>
            <a:r>
              <a:rPr lang="en-US" altLang="zh-CN" dirty="0"/>
              <a:t>j</a:t>
            </a:r>
            <a:r>
              <a:rPr lang="zh-CN" altLang="en-US" dirty="0"/>
              <a:t>固定时，</a:t>
            </a:r>
            <a:r>
              <a:rPr lang="en-US" altLang="zh-CN" dirty="0"/>
              <a:t>k</a:t>
            </a:r>
            <a:r>
              <a:rPr lang="zh-CN" altLang="en-US" dirty="0"/>
              <a:t>从 </a:t>
            </a:r>
            <a:r>
              <a:rPr lang="en-US" altLang="zh-CN" dirty="0"/>
              <a:t>0 </a:t>
            </a:r>
            <a:r>
              <a:rPr lang="zh-CN" altLang="en-US" dirty="0"/>
              <a:t>到 </a:t>
            </a:r>
            <a:r>
              <a:rPr lang="en-US" altLang="zh-CN" dirty="0"/>
              <a:t>N-1</a:t>
            </a:r>
            <a:r>
              <a:rPr lang="zh-CN" altLang="en-US" dirty="0"/>
              <a:t>，访问的元素为</a:t>
            </a:r>
            <a:r>
              <a:rPr lang="en-US" altLang="zh-CN" dirty="0"/>
              <a:t>a[0][</a:t>
            </a:r>
            <a:r>
              <a:rPr lang="en-US" altLang="zh-CN" dirty="0" err="1"/>
              <a:t>i</a:t>
            </a:r>
            <a:r>
              <a:rPr lang="en-US" altLang="zh-CN" dirty="0"/>
              <a:t>][j]→a[1][</a:t>
            </a:r>
            <a:r>
              <a:rPr lang="en-US" altLang="zh-CN" dirty="0" err="1"/>
              <a:t>i</a:t>
            </a:r>
            <a:r>
              <a:rPr lang="en-US" altLang="zh-CN" dirty="0"/>
              <a:t>][j]→………→a[N-1][</a:t>
            </a:r>
            <a:r>
              <a:rPr lang="en-US" altLang="zh-CN" dirty="0" err="1"/>
              <a:t>i</a:t>
            </a:r>
            <a:r>
              <a:rPr lang="en-US" altLang="zh-CN" dirty="0"/>
              <a:t>][j]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地址跳跃幅度为 “中间层维度 </a:t>
            </a:r>
            <a:r>
              <a:rPr lang="en-US" altLang="zh-CN" dirty="0"/>
              <a:t>× </a:t>
            </a:r>
            <a:r>
              <a:rPr lang="zh-CN" altLang="en-US" dirty="0"/>
              <a:t>最内层维度 </a:t>
            </a:r>
            <a:r>
              <a:rPr lang="en-US" altLang="zh-CN" dirty="0"/>
              <a:t>× </a:t>
            </a:r>
            <a:r>
              <a:rPr lang="zh-CN" altLang="en-US" dirty="0"/>
              <a:t>元素字节数”，属于</a:t>
            </a:r>
            <a:r>
              <a:rPr lang="zh-CN" altLang="en-US" b="1" dirty="0"/>
              <a:t>跳跃式访问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b="1" dirty="0"/>
              <a:t>局部性：</a:t>
            </a:r>
            <a:r>
              <a:rPr lang="zh-CN" altLang="en-US" dirty="0"/>
              <a:t>此时，空间局部性差，时间局部性良好。</a:t>
            </a:r>
            <a:endParaRPr lang="zh-CN" altLang="en-US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C6DAA0F-C1AB-E663-AB4D-0E2CF5E0A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837" y="3834005"/>
            <a:ext cx="4420217" cy="179095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0226D38-D7AC-9A13-C0F4-4A4192FC2301}"/>
              </a:ext>
            </a:extLst>
          </p:cNvPr>
          <p:cNvSpPr txBox="1"/>
          <p:nvPr/>
        </p:nvSpPr>
        <p:spPr>
          <a:xfrm>
            <a:off x="609601" y="3429000"/>
            <a:ext cx="52445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优化后</a:t>
            </a:r>
            <a:r>
              <a:rPr lang="zh-CN" altLang="en-US" dirty="0"/>
              <a:t>代码，</a:t>
            </a:r>
            <a:r>
              <a:rPr lang="zh-CN" altLang="en-US" b="1" dirty="0"/>
              <a:t>优化核心</a:t>
            </a:r>
            <a:r>
              <a:rPr lang="zh-CN" altLang="en-US" dirty="0"/>
              <a:t>是 “将</a:t>
            </a:r>
            <a:r>
              <a:rPr lang="zh-CN" altLang="en-US" dirty="0">
                <a:solidFill>
                  <a:srgbClr val="FF0000"/>
                </a:solidFill>
              </a:rPr>
              <a:t>最内层维度</a:t>
            </a:r>
            <a:r>
              <a:rPr lang="zh-CN" altLang="en-US" dirty="0"/>
              <a:t>对应的变量设为</a:t>
            </a:r>
            <a:r>
              <a:rPr lang="zh-CN" altLang="en-US" dirty="0">
                <a:solidFill>
                  <a:srgbClr val="FF0000"/>
                </a:solidFill>
              </a:rPr>
              <a:t>内层循环变量</a:t>
            </a:r>
            <a:r>
              <a:rPr lang="zh-CN" altLang="en-US" dirty="0"/>
              <a:t>”。</a:t>
            </a:r>
            <a:endParaRPr lang="en-US" altLang="zh-CN" dirty="0"/>
          </a:p>
          <a:p>
            <a:r>
              <a:rPr lang="zh-CN" altLang="en-US" b="1" dirty="0"/>
              <a:t>访问路径</a:t>
            </a:r>
            <a:r>
              <a:rPr lang="zh-CN" altLang="en-US" dirty="0"/>
              <a:t>：内层循环变量为</a:t>
            </a:r>
            <a:r>
              <a:rPr lang="en-US" altLang="zh-CN" dirty="0"/>
              <a:t>j</a:t>
            </a:r>
            <a:r>
              <a:rPr lang="zh-CN" altLang="en-US" dirty="0"/>
              <a:t>，当</a:t>
            </a:r>
            <a:r>
              <a:rPr lang="en-US" altLang="zh-CN" dirty="0" err="1"/>
              <a:t>i</a:t>
            </a:r>
            <a:r>
              <a:rPr lang="zh-CN" altLang="en-US" dirty="0"/>
              <a:t>、</a:t>
            </a:r>
            <a:r>
              <a:rPr lang="en-US" altLang="zh-CN" dirty="0"/>
              <a:t>k</a:t>
            </a:r>
            <a:r>
              <a:rPr lang="zh-CN" altLang="en-US" dirty="0"/>
              <a:t>固定时，</a:t>
            </a:r>
            <a:r>
              <a:rPr lang="en-US" altLang="zh-CN" dirty="0"/>
              <a:t>j</a:t>
            </a:r>
            <a:r>
              <a:rPr lang="zh-CN" altLang="en-US" dirty="0"/>
              <a:t>从 </a:t>
            </a:r>
            <a:r>
              <a:rPr lang="en-US" altLang="zh-CN" dirty="0"/>
              <a:t>0 </a:t>
            </a:r>
            <a:r>
              <a:rPr lang="zh-CN" altLang="en-US" dirty="0"/>
              <a:t>到 </a:t>
            </a:r>
            <a:r>
              <a:rPr lang="en-US" altLang="zh-CN" dirty="0"/>
              <a:t>N-1</a:t>
            </a:r>
            <a:r>
              <a:rPr lang="zh-CN" altLang="en-US" dirty="0"/>
              <a:t>，访问的元素为</a:t>
            </a:r>
            <a:r>
              <a:rPr lang="en-US" altLang="zh-CN" dirty="0"/>
              <a:t>a[k][</a:t>
            </a:r>
            <a:r>
              <a:rPr lang="en-US" altLang="zh-CN" dirty="0" err="1"/>
              <a:t>i</a:t>
            </a:r>
            <a:r>
              <a:rPr lang="en-US" altLang="zh-CN" dirty="0"/>
              <a:t>][0]→a[k][</a:t>
            </a:r>
            <a:r>
              <a:rPr lang="en-US" altLang="zh-CN" dirty="0" err="1"/>
              <a:t>i</a:t>
            </a:r>
            <a:r>
              <a:rPr lang="en-US" altLang="zh-CN" dirty="0"/>
              <a:t>][1]→…→a[k][</a:t>
            </a:r>
            <a:r>
              <a:rPr lang="en-US" altLang="zh-CN" dirty="0" err="1"/>
              <a:t>i</a:t>
            </a:r>
            <a:r>
              <a:rPr lang="en-US" altLang="zh-CN" dirty="0"/>
              <a:t>][N-1]</a:t>
            </a:r>
          </a:p>
          <a:p>
            <a:r>
              <a:rPr lang="zh-CN" altLang="en-US" dirty="0"/>
              <a:t>地址连续递增，，属于</a:t>
            </a:r>
            <a:r>
              <a:rPr lang="zh-CN" altLang="en-US" b="1" dirty="0"/>
              <a:t>顺序引用模式</a:t>
            </a:r>
            <a:endParaRPr lang="en-US" altLang="zh-CN" b="1" dirty="0"/>
          </a:p>
          <a:p>
            <a:r>
              <a:rPr lang="zh-CN" altLang="en-US" b="1" dirty="0"/>
              <a:t>局部性：</a:t>
            </a:r>
            <a:r>
              <a:rPr lang="zh-CN" altLang="en-US" dirty="0"/>
              <a:t>此时，空间局部性优秀，时间局部性良好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491841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5874763-3400-8D40-734E-1899CAECF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846" y="745067"/>
            <a:ext cx="6082104" cy="40098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B5AFE42-0FF3-B18E-6F56-0EC981200B32}"/>
              </a:ext>
            </a:extLst>
          </p:cNvPr>
          <p:cNvSpPr txBox="1"/>
          <p:nvPr/>
        </p:nvSpPr>
        <p:spPr>
          <a:xfrm>
            <a:off x="453813" y="521547"/>
            <a:ext cx="5642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存储结构出现原因：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059475-DCBA-4425-E6FC-EB0518BC1635}"/>
              </a:ext>
            </a:extLst>
          </p:cNvPr>
          <p:cNvSpPr txBox="1"/>
          <p:nvPr/>
        </p:nvSpPr>
        <p:spPr>
          <a:xfrm>
            <a:off x="508000" y="1205653"/>
            <a:ext cx="564218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CPU</a:t>
            </a:r>
            <a:r>
              <a:rPr lang="zh-CN" altLang="en-US" b="1" dirty="0"/>
              <a:t>和存储速度的差距扩大</a:t>
            </a:r>
            <a:r>
              <a:rPr lang="zh-CN" altLang="en-US" dirty="0"/>
              <a:t>：</a:t>
            </a:r>
            <a:r>
              <a:rPr lang="en-US" altLang="zh-CN" dirty="0"/>
              <a:t>1985-2015 </a:t>
            </a:r>
            <a:r>
              <a:rPr lang="zh-CN" altLang="en-US" dirty="0"/>
              <a:t>年 </a:t>
            </a:r>
            <a:r>
              <a:rPr lang="en-US" altLang="zh-CN" dirty="0"/>
              <a:t>CPU</a:t>
            </a:r>
            <a:r>
              <a:rPr lang="zh-CN" altLang="en-US" dirty="0"/>
              <a:t>时钟降低至</a:t>
            </a:r>
            <a:r>
              <a:rPr lang="en-US" altLang="zh-CN" dirty="0"/>
              <a:t>0.1ns, </a:t>
            </a:r>
            <a:r>
              <a:rPr lang="zh-CN" altLang="en-US" dirty="0"/>
              <a:t>提速了约</a:t>
            </a:r>
            <a:r>
              <a:rPr lang="en-US" altLang="zh-CN" dirty="0"/>
              <a:t>500</a:t>
            </a:r>
            <a:r>
              <a:rPr lang="zh-CN" altLang="en-US" dirty="0"/>
              <a:t>倍，而 </a:t>
            </a:r>
            <a:r>
              <a:rPr lang="en-US" altLang="zh-CN" dirty="0"/>
              <a:t>DRAM </a:t>
            </a:r>
            <a:r>
              <a:rPr lang="zh-CN" altLang="en-US" dirty="0"/>
              <a:t>访问时间仅从 </a:t>
            </a:r>
            <a:r>
              <a:rPr lang="en-US" altLang="zh-CN" dirty="0"/>
              <a:t>75ns </a:t>
            </a:r>
            <a:r>
              <a:rPr lang="zh-CN" altLang="en-US" dirty="0"/>
              <a:t>降至 </a:t>
            </a:r>
            <a:r>
              <a:rPr lang="en-US" altLang="zh-CN" dirty="0"/>
              <a:t>5ns</a:t>
            </a:r>
            <a:r>
              <a:rPr lang="zh-CN" altLang="en-US" dirty="0"/>
              <a:t>，提速了大约</a:t>
            </a:r>
            <a:r>
              <a:rPr lang="en-US" altLang="zh-CN" dirty="0"/>
              <a:t>15</a:t>
            </a:r>
            <a:r>
              <a:rPr lang="zh-CN" altLang="en-US" dirty="0"/>
              <a:t>倍，磁盘访问时间更慢（约为 </a:t>
            </a:r>
            <a:r>
              <a:rPr lang="en-US" altLang="zh-CN" dirty="0"/>
              <a:t>DRAM </a:t>
            </a:r>
            <a:r>
              <a:rPr lang="zh-CN" altLang="en-US" dirty="0"/>
              <a:t>的 </a:t>
            </a:r>
            <a:r>
              <a:rPr lang="en-US" altLang="zh-CN" dirty="0"/>
              <a:t>2500 </a:t>
            </a:r>
            <a:r>
              <a:rPr lang="zh-CN" altLang="en-US" dirty="0"/>
              <a:t>倍）。若直接访问低速存储，</a:t>
            </a:r>
            <a:r>
              <a:rPr lang="en-US" altLang="zh-CN" dirty="0"/>
              <a:t>CPU </a:t>
            </a:r>
            <a:r>
              <a:rPr lang="zh-CN" altLang="en-US" dirty="0"/>
              <a:t>会大量等待，产生空闲周期。</a:t>
            </a:r>
            <a:endParaRPr lang="en-US" altLang="zh-CN" dirty="0"/>
          </a:p>
          <a:p>
            <a:r>
              <a:rPr lang="zh-CN" altLang="en-US" b="1" dirty="0"/>
              <a:t>快速存储技术</a:t>
            </a:r>
            <a:r>
              <a:rPr lang="zh-CN" altLang="en-US" dirty="0"/>
              <a:t>：速度越快的存储，单位字节成本越高、容量越小，并且需要更多的电力（产生热量）；容量越大的存储（如磁盘），速度越慢、成本越低 </a:t>
            </a:r>
            <a:r>
              <a:rPr lang="en-US" altLang="zh-CN" dirty="0"/>
              <a:t>—— </a:t>
            </a:r>
            <a:r>
              <a:rPr lang="zh-CN" altLang="en-US" dirty="0"/>
              <a:t>无法用单一存储满足 “高速、大容量、低成本” 的需求。</a:t>
            </a:r>
            <a:endParaRPr lang="en-US" altLang="zh-CN" dirty="0"/>
          </a:p>
          <a:p>
            <a:r>
              <a:rPr lang="zh-CN" altLang="en-US" b="1" dirty="0"/>
              <a:t>程序的局部性支撑</a:t>
            </a:r>
            <a:r>
              <a:rPr lang="zh-CN" altLang="en-US" dirty="0"/>
              <a:t>：优秀的程序普遍存在时间和空间局部性，这使得 “用高速存储缓存低速存储的常用数据” 成为可能。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348156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41D6EDC-9D94-FC16-382A-277963C3CF6C}"/>
              </a:ext>
            </a:extLst>
          </p:cNvPr>
          <p:cNvSpPr txBox="1"/>
          <p:nvPr/>
        </p:nvSpPr>
        <p:spPr>
          <a:xfrm>
            <a:off x="433493" y="521547"/>
            <a:ext cx="5113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解决的问题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E93D37-E72A-2E6C-8386-FDAF5AF037C5}"/>
              </a:ext>
            </a:extLst>
          </p:cNvPr>
          <p:cNvSpPr txBox="1"/>
          <p:nvPr/>
        </p:nvSpPr>
        <p:spPr>
          <a:xfrm>
            <a:off x="541867" y="1314027"/>
            <a:ext cx="879856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平衡 “速度 </a:t>
            </a:r>
            <a:r>
              <a:rPr lang="en-US" altLang="zh-CN" b="1" dirty="0"/>
              <a:t>- </a:t>
            </a:r>
            <a:r>
              <a:rPr lang="zh-CN" altLang="en-US" b="1" dirty="0"/>
              <a:t>容量 </a:t>
            </a:r>
            <a:r>
              <a:rPr lang="en-US" altLang="zh-CN" b="1" dirty="0"/>
              <a:t>- </a:t>
            </a:r>
            <a:r>
              <a:rPr lang="zh-CN" altLang="en-US" b="1" dirty="0"/>
              <a:t>成本” 三角关系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通过 “寄存器（</a:t>
            </a:r>
            <a:r>
              <a:rPr lang="en-US" altLang="zh-CN" dirty="0"/>
              <a:t>L0</a:t>
            </a:r>
            <a:r>
              <a:rPr lang="zh-CN" altLang="en-US" dirty="0"/>
              <a:t>）→</a:t>
            </a:r>
            <a:r>
              <a:rPr lang="en-US" altLang="zh-CN" dirty="0"/>
              <a:t>L1/L2/L3 </a:t>
            </a:r>
            <a:r>
              <a:rPr lang="zh-CN" altLang="en-US" dirty="0"/>
              <a:t>缓存（</a:t>
            </a:r>
            <a:r>
              <a:rPr lang="en-US" altLang="zh-CN" dirty="0"/>
              <a:t>SRAM</a:t>
            </a:r>
            <a:r>
              <a:rPr lang="zh-CN" altLang="en-US" dirty="0"/>
              <a:t>）→主存（</a:t>
            </a:r>
            <a:r>
              <a:rPr lang="en-US" altLang="zh-CN" dirty="0"/>
              <a:t>DRAM</a:t>
            </a:r>
            <a:r>
              <a:rPr lang="zh-CN" altLang="en-US" dirty="0"/>
              <a:t>）→本地磁盘（</a:t>
            </a:r>
            <a:r>
              <a:rPr lang="en-US" altLang="zh-CN" dirty="0"/>
              <a:t>L5</a:t>
            </a:r>
            <a:r>
              <a:rPr lang="zh-CN" altLang="en-US" dirty="0"/>
              <a:t>）→远程存储（</a:t>
            </a:r>
            <a:r>
              <a:rPr lang="en-US" altLang="zh-CN" dirty="0"/>
              <a:t>L6</a:t>
            </a:r>
            <a:r>
              <a:rPr lang="zh-CN" altLang="en-US" dirty="0"/>
              <a:t>）” 的层次结构，让 </a:t>
            </a:r>
            <a:r>
              <a:rPr lang="en-US" altLang="zh-CN" dirty="0"/>
              <a:t>CPU </a:t>
            </a:r>
            <a:r>
              <a:rPr lang="zh-CN" altLang="en-US" dirty="0"/>
              <a:t>以接近 </a:t>
            </a:r>
            <a:r>
              <a:rPr lang="en-US" altLang="zh-CN" dirty="0"/>
              <a:t>SRAM </a:t>
            </a:r>
            <a:r>
              <a:rPr lang="zh-CN" altLang="en-US" dirty="0"/>
              <a:t>的速度访问数据（利用局部性命中缓存），同时享受 </a:t>
            </a:r>
            <a:r>
              <a:rPr lang="en-US" altLang="zh-CN" dirty="0"/>
              <a:t>DRAM</a:t>
            </a:r>
            <a:r>
              <a:rPr lang="zh-CN" altLang="en-US" dirty="0"/>
              <a:t>、磁盘的大容量和低价格。</a:t>
            </a:r>
            <a:endParaRPr lang="en-US" altLang="zh-CN" dirty="0"/>
          </a:p>
          <a:p>
            <a:endParaRPr lang="en-US" altLang="zh-CN" sz="2000" dirty="0"/>
          </a:p>
          <a:p>
            <a:r>
              <a:rPr lang="zh-CN" altLang="en-US" b="1" dirty="0"/>
              <a:t>消除 </a:t>
            </a:r>
            <a:r>
              <a:rPr lang="en-US" altLang="zh-CN" b="1" dirty="0"/>
              <a:t>CPU-Memory Gap </a:t>
            </a:r>
            <a:r>
              <a:rPr lang="zh-CN" altLang="en-US" b="1" dirty="0"/>
              <a:t>的性能瓶颈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存储层次通过 “缓存命中” 减少 </a:t>
            </a:r>
            <a:r>
              <a:rPr lang="en-US" altLang="zh-CN" dirty="0"/>
              <a:t>CPU </a:t>
            </a:r>
            <a:r>
              <a:rPr lang="zh-CN" altLang="en-US" dirty="0"/>
              <a:t>等待时间 </a:t>
            </a:r>
            <a:r>
              <a:rPr lang="en-US" altLang="zh-CN" dirty="0"/>
              <a:t>—— </a:t>
            </a:r>
            <a:r>
              <a:rPr lang="zh-CN" altLang="en-US" dirty="0"/>
              <a:t>例如 </a:t>
            </a:r>
            <a:r>
              <a:rPr lang="en-US" altLang="zh-CN" dirty="0"/>
              <a:t>L1 </a:t>
            </a:r>
            <a:r>
              <a:rPr lang="zh-CN" altLang="en-US" dirty="0"/>
              <a:t>缓存命中率达 </a:t>
            </a:r>
            <a:r>
              <a:rPr lang="en-US" altLang="zh-CN" dirty="0"/>
              <a:t>95% </a:t>
            </a:r>
            <a:r>
              <a:rPr lang="zh-CN" altLang="en-US" dirty="0"/>
              <a:t>时，</a:t>
            </a:r>
            <a:r>
              <a:rPr lang="en-US" altLang="zh-CN" dirty="0"/>
              <a:t>CPU </a:t>
            </a:r>
            <a:r>
              <a:rPr lang="zh-CN" altLang="en-US" dirty="0"/>
              <a:t>访问数据的平均延迟接近 </a:t>
            </a:r>
            <a:r>
              <a:rPr lang="en-US" altLang="zh-CN" dirty="0"/>
              <a:t>L1 </a:t>
            </a:r>
            <a:r>
              <a:rPr lang="zh-CN" altLang="en-US" dirty="0"/>
              <a:t>的速度（</a:t>
            </a:r>
            <a:r>
              <a:rPr lang="en-US" altLang="zh-CN" dirty="0"/>
              <a:t>4 </a:t>
            </a:r>
            <a:r>
              <a:rPr lang="zh-CN" altLang="en-US" dirty="0"/>
              <a:t>个时钟周期），而非 </a:t>
            </a:r>
            <a:r>
              <a:rPr lang="en-US" altLang="zh-CN" dirty="0"/>
              <a:t>DRAM </a:t>
            </a:r>
            <a:r>
              <a:rPr lang="zh-CN" altLang="en-US" dirty="0"/>
              <a:t>的 </a:t>
            </a:r>
            <a:r>
              <a:rPr lang="en-US" altLang="zh-CN" dirty="0"/>
              <a:t>100 </a:t>
            </a:r>
            <a:r>
              <a:rPr lang="zh-CN" altLang="en-US" dirty="0"/>
              <a:t>个时钟周期，显著提升系统整体性能。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13232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C901BB1-7460-6259-CF6B-9553169068EA}"/>
              </a:ext>
            </a:extLst>
          </p:cNvPr>
          <p:cNvSpPr txBox="1"/>
          <p:nvPr/>
        </p:nvSpPr>
        <p:spPr>
          <a:xfrm>
            <a:off x="447039" y="352213"/>
            <a:ext cx="585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以</a:t>
            </a:r>
            <a:r>
              <a:rPr lang="en-US" altLang="zh-CN" dirty="0"/>
              <a:t> Intel Core i7-14700K </a:t>
            </a:r>
            <a:r>
              <a:rPr lang="zh-CN" altLang="en-US" dirty="0"/>
              <a:t>机型为例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D0BCE5-BC28-6D92-1C9E-31CD94F6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483" y="792480"/>
            <a:ext cx="8363432" cy="606552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0F88036-4886-4283-5E5B-AAEF039BA94E}"/>
              </a:ext>
            </a:extLst>
          </p:cNvPr>
          <p:cNvSpPr txBox="1"/>
          <p:nvPr/>
        </p:nvSpPr>
        <p:spPr>
          <a:xfrm>
            <a:off x="9895840" y="1185334"/>
            <a:ext cx="1896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L0</a:t>
            </a:r>
            <a:r>
              <a:rPr lang="zh-CN" altLang="en-US" dirty="0"/>
              <a:t>：约 </a:t>
            </a:r>
            <a:r>
              <a:rPr lang="en-US" altLang="zh-CN" dirty="0"/>
              <a:t>64KB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ACF007-1CBC-8776-AA30-D5593CE8B01E}"/>
              </a:ext>
            </a:extLst>
          </p:cNvPr>
          <p:cNvSpPr txBox="1"/>
          <p:nvPr/>
        </p:nvSpPr>
        <p:spPr>
          <a:xfrm>
            <a:off x="8981440" y="1624354"/>
            <a:ext cx="2838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L1</a:t>
            </a:r>
            <a:r>
              <a:rPr lang="zh-CN" altLang="en-US" dirty="0"/>
              <a:t>：每核 </a:t>
            </a:r>
            <a:r>
              <a:rPr lang="en-US" altLang="zh-CN" dirty="0"/>
              <a:t>32KB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核共</a:t>
            </a:r>
            <a:r>
              <a:rPr lang="en-US" altLang="zh-CN" dirty="0"/>
              <a:t>1024KB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4F1257-3B87-AAE5-5F57-9D45A715C98A}"/>
              </a:ext>
            </a:extLst>
          </p:cNvPr>
          <p:cNvSpPr txBox="1"/>
          <p:nvPr/>
        </p:nvSpPr>
        <p:spPr>
          <a:xfrm>
            <a:off x="9245599" y="2270685"/>
            <a:ext cx="2567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L2</a:t>
            </a:r>
            <a:r>
              <a:rPr lang="zh-CN" altLang="en-US" dirty="0"/>
              <a:t>：每核 </a:t>
            </a:r>
            <a:r>
              <a:rPr lang="en-US" altLang="zh-CN" dirty="0"/>
              <a:t>256KB</a:t>
            </a:r>
            <a:r>
              <a:rPr lang="zh-CN" altLang="en-US" dirty="0"/>
              <a:t>，</a:t>
            </a:r>
            <a:r>
              <a:rPr lang="en-US" altLang="zh-CN" dirty="0"/>
              <a:t>16 </a:t>
            </a:r>
            <a:r>
              <a:rPr lang="zh-CN" altLang="en-US" dirty="0"/>
              <a:t>核共 </a:t>
            </a:r>
            <a:r>
              <a:rPr lang="en-US" altLang="zh-CN" dirty="0"/>
              <a:t>4096KB</a:t>
            </a:r>
            <a:r>
              <a:rPr lang="zh-CN" altLang="en-US" dirty="0"/>
              <a:t>（</a:t>
            </a:r>
            <a:r>
              <a:rPr lang="en-US" altLang="zh-CN" dirty="0"/>
              <a:t>4MB</a:t>
            </a:r>
            <a:r>
              <a:rPr lang="zh-CN" altLang="en-US" dirty="0"/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043FFE8-8601-3835-29ED-EE9E8AE8A257}"/>
              </a:ext>
            </a:extLst>
          </p:cNvPr>
          <p:cNvSpPr txBox="1"/>
          <p:nvPr/>
        </p:nvSpPr>
        <p:spPr>
          <a:xfrm>
            <a:off x="9347199" y="3194015"/>
            <a:ext cx="2567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L3</a:t>
            </a:r>
            <a:r>
              <a:rPr lang="zh-CN" altLang="en-US" dirty="0"/>
              <a:t>：</a:t>
            </a:r>
            <a:r>
              <a:rPr lang="en-US" altLang="zh-CN" dirty="0"/>
              <a:t>36MB</a:t>
            </a:r>
            <a:r>
              <a:rPr lang="zh-CN" altLang="en-US" dirty="0"/>
              <a:t>（全核共享）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15C1AED-28B3-3177-1031-DBA3B07152CE}"/>
              </a:ext>
            </a:extLst>
          </p:cNvPr>
          <p:cNvSpPr txBox="1"/>
          <p:nvPr/>
        </p:nvSpPr>
        <p:spPr>
          <a:xfrm>
            <a:off x="9929708" y="3971903"/>
            <a:ext cx="1862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L4</a:t>
            </a:r>
            <a:r>
              <a:rPr lang="zh-CN" altLang="en-US" dirty="0"/>
              <a:t>：内存条</a:t>
            </a:r>
            <a:r>
              <a:rPr lang="en-US" altLang="zh-CN" dirty="0"/>
              <a:t>64GB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2EFB968-5CEC-57B5-F465-3BEA04E5EB69}"/>
              </a:ext>
            </a:extLst>
          </p:cNvPr>
          <p:cNvSpPr txBox="1"/>
          <p:nvPr/>
        </p:nvSpPr>
        <p:spPr>
          <a:xfrm>
            <a:off x="9929708" y="4734560"/>
            <a:ext cx="203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L5</a:t>
            </a:r>
            <a:r>
              <a:rPr lang="zh-CN" altLang="en-US" dirty="0"/>
              <a:t>：本地磁盘</a:t>
            </a:r>
            <a:r>
              <a:rPr lang="en-US" altLang="zh-CN" dirty="0"/>
              <a:t>2TB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4FB81CB-9793-279A-E99D-29AEB2507A76}"/>
              </a:ext>
            </a:extLst>
          </p:cNvPr>
          <p:cNvSpPr txBox="1"/>
          <p:nvPr/>
        </p:nvSpPr>
        <p:spPr>
          <a:xfrm>
            <a:off x="10480915" y="5696373"/>
            <a:ext cx="1602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L6</a:t>
            </a:r>
            <a:r>
              <a:rPr lang="zh-CN" altLang="en-US" dirty="0"/>
              <a:t>：按需分配</a:t>
            </a:r>
          </a:p>
        </p:txBody>
      </p:sp>
    </p:spTree>
    <p:extLst>
      <p:ext uri="{BB962C8B-B14F-4D97-AF65-F5344CB8AC3E}">
        <p14:creationId xmlns:p14="http://schemas.microsoft.com/office/powerpoint/2010/main" val="3816247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7412F86-A680-B09F-F8A3-2F5DB0FF7502}"/>
              </a:ext>
            </a:extLst>
          </p:cNvPr>
          <p:cNvSpPr txBox="1"/>
          <p:nvPr/>
        </p:nvSpPr>
        <p:spPr>
          <a:xfrm>
            <a:off x="494453" y="288703"/>
            <a:ext cx="6278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缓存的一般概念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19565EA-BE94-EC19-88BF-755CF7B85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09227"/>
            <a:ext cx="7843520" cy="516128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A27A73A-A3EA-E9C0-FCCF-12CD7A724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802" y="1300863"/>
            <a:ext cx="2997416" cy="7785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C9368E4-CAF3-BBAF-D952-1DDA5B004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850" y="3780121"/>
            <a:ext cx="3435301" cy="66318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3CF1F85-EA8B-5F7E-BF97-7CE5C55E5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853" y="2428784"/>
            <a:ext cx="3168550" cy="66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02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747E278-3FC2-308A-9FEF-34BEF4DDB664}"/>
              </a:ext>
            </a:extLst>
          </p:cNvPr>
          <p:cNvSpPr txBox="1"/>
          <p:nvPr/>
        </p:nvSpPr>
        <p:spPr>
          <a:xfrm>
            <a:off x="589280" y="535093"/>
            <a:ext cx="55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Cache</a:t>
            </a:r>
            <a:r>
              <a:rPr lang="zh-CN" altLang="en-US" sz="2400" b="1" dirty="0"/>
              <a:t>的基本操作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C7C078-B700-EB32-C665-7B4738454591}"/>
              </a:ext>
            </a:extLst>
          </p:cNvPr>
          <p:cNvSpPr txBox="1"/>
          <p:nvPr/>
        </p:nvSpPr>
        <p:spPr>
          <a:xfrm>
            <a:off x="589280" y="1097280"/>
            <a:ext cx="73219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Cache </a:t>
            </a:r>
            <a:r>
              <a:rPr lang="zh-CN" altLang="en-US" dirty="0"/>
              <a:t>的基本操作围绕  </a:t>
            </a:r>
            <a:r>
              <a:rPr lang="zh-CN" altLang="en-US" dirty="0">
                <a:solidFill>
                  <a:srgbClr val="FF0000"/>
                </a:solidFill>
              </a:rPr>
              <a:t>命中</a:t>
            </a:r>
            <a:r>
              <a:rPr lang="zh-CN" altLang="en-US" dirty="0"/>
              <a:t> 与  </a:t>
            </a:r>
            <a:r>
              <a:rPr lang="zh-CN" altLang="en-US" dirty="0">
                <a:solidFill>
                  <a:srgbClr val="FF0000"/>
                </a:solidFill>
              </a:rPr>
              <a:t>缺失</a:t>
            </a:r>
            <a:r>
              <a:rPr lang="zh-CN" altLang="en-US" dirty="0"/>
              <a:t> 展开，且始终以  </a:t>
            </a:r>
            <a:r>
              <a:rPr lang="zh-CN" altLang="en-US" dirty="0">
                <a:solidFill>
                  <a:srgbClr val="FF0000"/>
                </a:solidFill>
              </a:rPr>
              <a:t>块</a:t>
            </a:r>
            <a:r>
              <a:rPr lang="zh-CN" altLang="en-US" dirty="0"/>
              <a:t> 为数据传输和管理的基本单位 </a:t>
            </a:r>
            <a:r>
              <a:rPr lang="en-US" altLang="zh-CN" dirty="0"/>
              <a:t>—— </a:t>
            </a:r>
            <a:r>
              <a:rPr lang="zh-CN" altLang="en-US" dirty="0"/>
              <a:t>即 </a:t>
            </a:r>
            <a:r>
              <a:rPr lang="en-US" altLang="zh-CN" dirty="0"/>
              <a:t>Cache </a:t>
            </a:r>
            <a:r>
              <a:rPr lang="zh-CN" altLang="en-US" dirty="0"/>
              <a:t>与下一级存储（如主存）之间，均以固定大小的块为单位交换数据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BF1285-7D24-8874-44B0-32DAE84D84BD}"/>
              </a:ext>
            </a:extLst>
          </p:cNvPr>
          <p:cNvSpPr txBox="1"/>
          <p:nvPr/>
        </p:nvSpPr>
        <p:spPr>
          <a:xfrm>
            <a:off x="677333" y="2255521"/>
            <a:ext cx="144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命中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7AAE82B-C73D-5DB4-E5B0-3480DA296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615" y="1754292"/>
            <a:ext cx="6587332" cy="441282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15DF636-D1E7-0558-E260-2312F7DEC58A}"/>
              </a:ext>
            </a:extLst>
          </p:cNvPr>
          <p:cNvSpPr txBox="1"/>
          <p:nvPr/>
        </p:nvSpPr>
        <p:spPr>
          <a:xfrm>
            <a:off x="724747" y="2871893"/>
            <a:ext cx="47918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、地址解析与查找</a:t>
            </a:r>
            <a:r>
              <a:rPr lang="zh-CN" altLang="en-US" dirty="0"/>
              <a:t>：</a:t>
            </a:r>
            <a:r>
              <a:rPr lang="en-US" altLang="zh-CN" dirty="0"/>
              <a:t>CPU </a:t>
            </a:r>
            <a:r>
              <a:rPr lang="zh-CN" altLang="en-US" dirty="0"/>
              <a:t>发出目标内存地址，</a:t>
            </a:r>
            <a:r>
              <a:rPr lang="en-US" altLang="zh-CN" dirty="0"/>
              <a:t>Cache </a:t>
            </a:r>
            <a:r>
              <a:rPr lang="zh-CN" altLang="en-US" dirty="0"/>
              <a:t>控制器将该地址拆分为 “块索引（用于定位 </a:t>
            </a:r>
            <a:r>
              <a:rPr lang="en-US" altLang="zh-CN" dirty="0"/>
              <a:t>Cache </a:t>
            </a:r>
            <a:r>
              <a:rPr lang="zh-CN" altLang="en-US" dirty="0"/>
              <a:t>中的目标组块）” 和 “块内偏移（用于定位块内具体数据）”，并依据块索引在 </a:t>
            </a:r>
            <a:r>
              <a:rPr lang="en-US" altLang="zh-CN" dirty="0"/>
              <a:t>Cache </a:t>
            </a:r>
            <a:r>
              <a:rPr lang="zh-CN" altLang="en-US" dirty="0"/>
              <a:t>中查找对应的块。</a:t>
            </a:r>
            <a:endParaRPr lang="en-US" altLang="zh-CN" dirty="0"/>
          </a:p>
          <a:p>
            <a:r>
              <a:rPr lang="en-US" altLang="zh-CN" b="1" dirty="0"/>
              <a:t>2</a:t>
            </a:r>
            <a:r>
              <a:rPr lang="zh-CN" altLang="en-US" b="1" dirty="0"/>
              <a:t>、数据提取与传输</a:t>
            </a:r>
            <a:r>
              <a:rPr lang="zh-CN" altLang="en-US" dirty="0"/>
              <a:t>：若查找结果显示目标块存在于 </a:t>
            </a:r>
            <a:r>
              <a:rPr lang="en-US" altLang="zh-CN" dirty="0"/>
              <a:t>Cache </a:t>
            </a:r>
            <a:r>
              <a:rPr lang="zh-CN" altLang="en-US" dirty="0"/>
              <a:t>中（命中），</a:t>
            </a:r>
            <a:r>
              <a:rPr lang="en-US" altLang="zh-CN" dirty="0"/>
              <a:t>Cache </a:t>
            </a:r>
            <a:r>
              <a:rPr lang="zh-CN" altLang="en-US" dirty="0"/>
              <a:t>直接从该块内提取 “块内偏移” 指向的具体数据 </a:t>
            </a:r>
            <a:r>
              <a:rPr lang="en-US" altLang="zh-CN" dirty="0"/>
              <a:t>/ </a:t>
            </a:r>
            <a:r>
              <a:rPr lang="zh-CN" altLang="en-US" dirty="0"/>
              <a:t>指令，无需访问下一级存储，直接传输给 </a:t>
            </a:r>
            <a:r>
              <a:rPr lang="en-US" altLang="zh-CN" dirty="0"/>
              <a:t>CPU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特点</a:t>
            </a:r>
            <a:r>
              <a:rPr lang="zh-CN" altLang="en-US" dirty="0"/>
              <a:t>：命中操作的延迟仅取决于 </a:t>
            </a:r>
            <a:r>
              <a:rPr lang="en-US" altLang="zh-CN" dirty="0"/>
              <a:t>Cache </a:t>
            </a:r>
            <a:r>
              <a:rPr lang="zh-CN" altLang="en-US" dirty="0"/>
              <a:t>自身的访问速度，无额外 “等待下一级存储” 的开销。</a:t>
            </a:r>
          </a:p>
        </p:txBody>
      </p:sp>
    </p:spTree>
    <p:extLst>
      <p:ext uri="{BB962C8B-B14F-4D97-AF65-F5344CB8AC3E}">
        <p14:creationId xmlns:p14="http://schemas.microsoft.com/office/powerpoint/2010/main" val="4095989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429FFE7-1511-F5D8-E3D0-E484A0747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768" y="105970"/>
            <a:ext cx="7219818" cy="475728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71BD828-F105-9AA5-7001-5E41F6E822FF}"/>
              </a:ext>
            </a:extLst>
          </p:cNvPr>
          <p:cNvSpPr txBox="1"/>
          <p:nvPr/>
        </p:nvSpPr>
        <p:spPr>
          <a:xfrm>
            <a:off x="406399" y="256847"/>
            <a:ext cx="1517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缺失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0C84E0B-B902-8414-99CB-03EF96386C96}"/>
              </a:ext>
            </a:extLst>
          </p:cNvPr>
          <p:cNvSpPr txBox="1"/>
          <p:nvPr/>
        </p:nvSpPr>
        <p:spPr>
          <a:xfrm>
            <a:off x="487680" y="961813"/>
            <a:ext cx="410464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若目标数据所在的块未存在于 </a:t>
            </a:r>
            <a:r>
              <a:rPr lang="en-US" altLang="zh-CN" dirty="0"/>
              <a:t>Cache </a:t>
            </a:r>
            <a:r>
              <a:rPr lang="zh-CN" altLang="en-US" dirty="0"/>
              <a:t>中，即为 “缺失”，需触发与下一级存储的交互。步骤如下：</a:t>
            </a:r>
            <a:endParaRPr lang="en-US" altLang="zh-CN" dirty="0"/>
          </a:p>
          <a:p>
            <a:r>
              <a:rPr lang="en-US" altLang="zh-CN" b="1" dirty="0"/>
              <a:t>1</a:t>
            </a:r>
            <a:r>
              <a:rPr lang="zh-CN" altLang="en-US" b="1" dirty="0"/>
              <a:t>、缺失判定与请求发起</a:t>
            </a:r>
            <a:r>
              <a:rPr lang="zh-CN" altLang="en-US" dirty="0"/>
              <a:t>：</a:t>
            </a:r>
            <a:r>
              <a:rPr lang="en-US" altLang="zh-CN" dirty="0"/>
              <a:t>Cache </a:t>
            </a:r>
            <a:r>
              <a:rPr lang="zh-CN" altLang="en-US" dirty="0"/>
              <a:t>控制器通过地址查找确认目标块不在 </a:t>
            </a:r>
            <a:r>
              <a:rPr lang="en-US" altLang="zh-CN" dirty="0"/>
              <a:t>Cache </a:t>
            </a:r>
            <a:r>
              <a:rPr lang="zh-CN" altLang="en-US" dirty="0"/>
              <a:t>中后，立即向下一级存储发送请求，请求读取包含目标数据的完整块（块大小与 </a:t>
            </a:r>
            <a:r>
              <a:rPr lang="en-US" altLang="zh-CN" dirty="0"/>
              <a:t>Cache </a:t>
            </a:r>
            <a:r>
              <a:rPr lang="zh-CN" altLang="en-US" dirty="0"/>
              <a:t>块一致）；</a:t>
            </a:r>
            <a:endParaRPr lang="en-US" altLang="zh-CN" dirty="0"/>
          </a:p>
          <a:p>
            <a:r>
              <a:rPr lang="en-US" altLang="zh-CN" b="1" dirty="0"/>
              <a:t>2</a:t>
            </a:r>
            <a:r>
              <a:rPr lang="zh-CN" altLang="en-US" b="1" dirty="0"/>
              <a:t>、块传输与 </a:t>
            </a:r>
            <a:r>
              <a:rPr lang="en-US" altLang="zh-CN" b="1" dirty="0"/>
              <a:t>Cache </a:t>
            </a:r>
            <a:r>
              <a:rPr lang="zh-CN" altLang="en-US" b="1" dirty="0"/>
              <a:t>存储</a:t>
            </a:r>
            <a:r>
              <a:rPr lang="zh-CN" altLang="en-US" dirty="0"/>
              <a:t>：下一级存储将目标块传输至 </a:t>
            </a:r>
            <a:r>
              <a:rPr lang="en-US" altLang="zh-CN" dirty="0"/>
              <a:t>Cache </a:t>
            </a:r>
            <a:r>
              <a:rPr lang="zh-CN" altLang="en-US" dirty="0"/>
              <a:t>后，</a:t>
            </a:r>
            <a:r>
              <a:rPr lang="en-US" altLang="zh-CN" dirty="0"/>
              <a:t>Cache </a:t>
            </a:r>
            <a:r>
              <a:rPr lang="zh-CN" altLang="en-US" dirty="0"/>
              <a:t>需通过 “放置策略” 确定该块在 </a:t>
            </a:r>
            <a:r>
              <a:rPr lang="en-US" altLang="zh-CN" dirty="0"/>
              <a:t>Cache </a:t>
            </a:r>
            <a:r>
              <a:rPr lang="zh-CN" altLang="en-US" dirty="0"/>
              <a:t>中的存储位置 </a:t>
            </a:r>
            <a:r>
              <a:rPr lang="en-US" altLang="zh-CN" dirty="0"/>
              <a:t>—— </a:t>
            </a:r>
            <a:r>
              <a:rPr lang="zh-CN" altLang="en-US" dirty="0"/>
              <a:t>例如直接映射（块仅能存于固定位置）、组相联映射（块可存于指定组内任意位置）等；</a:t>
            </a:r>
            <a:endParaRPr lang="en-US" altLang="zh-CN" dirty="0"/>
          </a:p>
          <a:p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Cache </a:t>
            </a:r>
            <a:r>
              <a:rPr lang="zh-CN" altLang="en-US" b="1" dirty="0"/>
              <a:t>满时的替换处理</a:t>
            </a:r>
            <a:r>
              <a:rPr lang="zh-CN" altLang="en-US" dirty="0"/>
              <a:t>：若 </a:t>
            </a:r>
            <a:r>
              <a:rPr lang="en-US" altLang="zh-CN" dirty="0"/>
              <a:t>Cache </a:t>
            </a:r>
            <a:r>
              <a:rPr lang="zh-CN" altLang="en-US" dirty="0"/>
              <a:t>已无空闲空间存放新块，需通过 “替换策略” 淘汰 </a:t>
            </a:r>
            <a:r>
              <a:rPr lang="en-US" altLang="zh-CN" dirty="0"/>
              <a:t>Cache </a:t>
            </a:r>
            <a:r>
              <a:rPr lang="zh-CN" altLang="en-US" dirty="0"/>
              <a:t>中符合条件的旧块，腾出空间后再存储新块；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28A979-F3B6-FDAC-45A0-ADA4ED42A046}"/>
              </a:ext>
            </a:extLst>
          </p:cNvPr>
          <p:cNvSpPr txBox="1"/>
          <p:nvPr/>
        </p:nvSpPr>
        <p:spPr>
          <a:xfrm>
            <a:off x="5120640" y="5283200"/>
            <a:ext cx="44229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4</a:t>
            </a:r>
            <a:r>
              <a:rPr lang="zh-CN" altLang="en-US" b="1" dirty="0"/>
              <a:t>、数据最终传输</a:t>
            </a:r>
            <a:r>
              <a:rPr lang="zh-CN" altLang="en-US" dirty="0"/>
              <a:t>：新块成功存入 </a:t>
            </a:r>
            <a:r>
              <a:rPr lang="en-US" altLang="zh-CN" dirty="0"/>
              <a:t>Cache </a:t>
            </a:r>
            <a:r>
              <a:rPr lang="zh-CN" altLang="en-US" dirty="0"/>
              <a:t>后，</a:t>
            </a:r>
            <a:r>
              <a:rPr lang="en-US" altLang="zh-CN" dirty="0"/>
              <a:t>Cache </a:t>
            </a:r>
            <a:r>
              <a:rPr lang="zh-CN" altLang="en-US" dirty="0"/>
              <a:t>从该块中提取目标数据 </a:t>
            </a:r>
            <a:r>
              <a:rPr lang="en-US" altLang="zh-CN" dirty="0"/>
              <a:t>/ </a:t>
            </a:r>
            <a:r>
              <a:rPr lang="zh-CN" altLang="en-US" dirty="0"/>
              <a:t>指令，传输给 </a:t>
            </a:r>
            <a:r>
              <a:rPr lang="en-US" altLang="zh-CN" dirty="0"/>
              <a:t>CPU</a:t>
            </a:r>
            <a:r>
              <a:rPr lang="zh-CN" altLang="en-US" dirty="0"/>
              <a:t>，完成一次缺失操作的闭环</a:t>
            </a:r>
          </a:p>
        </p:txBody>
      </p:sp>
    </p:spTree>
    <p:extLst>
      <p:ext uri="{BB962C8B-B14F-4D97-AF65-F5344CB8AC3E}">
        <p14:creationId xmlns:p14="http://schemas.microsoft.com/office/powerpoint/2010/main" val="3194779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6E54E9E-E373-DCE6-4E2D-821D2CAE4994}"/>
              </a:ext>
            </a:extLst>
          </p:cNvPr>
          <p:cNvSpPr txBox="1"/>
          <p:nvPr/>
        </p:nvSpPr>
        <p:spPr>
          <a:xfrm>
            <a:off x="474134" y="331354"/>
            <a:ext cx="725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Cache miss</a:t>
            </a:r>
            <a:r>
              <a:rPr lang="zh-CN" altLang="en-US" sz="2400" dirty="0"/>
              <a:t>的三种情况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E33304-DFA0-DCDA-151F-02395517AE3B}"/>
              </a:ext>
            </a:extLst>
          </p:cNvPr>
          <p:cNvSpPr txBox="1"/>
          <p:nvPr/>
        </p:nvSpPr>
        <p:spPr>
          <a:xfrm>
            <a:off x="401374" y="900854"/>
            <a:ext cx="369988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冷缺失：</a:t>
            </a:r>
            <a:r>
              <a:rPr lang="en-US" altLang="zh-CN" dirty="0"/>
              <a:t>Cache </a:t>
            </a:r>
            <a:r>
              <a:rPr lang="zh-CN" altLang="en-US" dirty="0"/>
              <a:t>为空时，首次访问任何数据块导致的缺失。</a:t>
            </a:r>
            <a:endParaRPr lang="en-US" altLang="zh-CN" dirty="0"/>
          </a:p>
          <a:p>
            <a:r>
              <a:rPr lang="zh-CN" altLang="en-US" dirty="0"/>
              <a:t>冷缺失数量仅与 “首次访问的块数量” 相关，与 </a:t>
            </a:r>
            <a:r>
              <a:rPr lang="en-US" altLang="zh-CN" dirty="0"/>
              <a:t>Cache </a:t>
            </a:r>
            <a:r>
              <a:rPr lang="zh-CN" altLang="en-US" dirty="0"/>
              <a:t>容量无关</a:t>
            </a:r>
            <a:endParaRPr lang="en-US" altLang="zh-CN" dirty="0"/>
          </a:p>
          <a:p>
            <a:endParaRPr lang="en-US" altLang="zh-CN" sz="2000" b="1" dirty="0"/>
          </a:p>
          <a:p>
            <a:r>
              <a:rPr lang="zh-CN" altLang="en-US" sz="2000" b="1" dirty="0"/>
              <a:t>冲突缺失：</a:t>
            </a:r>
            <a:r>
              <a:rPr lang="en-US" altLang="zh-CN" dirty="0"/>
              <a:t>Cache </a:t>
            </a:r>
            <a:r>
              <a:rPr lang="zh-CN" altLang="en-US" dirty="0"/>
              <a:t>容量足够，但多个主存块因 “映射策略限制”，只能映射到 </a:t>
            </a:r>
            <a:r>
              <a:rPr lang="en-US" altLang="zh-CN" dirty="0"/>
              <a:t>Cache </a:t>
            </a:r>
            <a:r>
              <a:rPr lang="zh-CN" altLang="en-US" dirty="0"/>
              <a:t>的同一组，导致已缓存的块被替换而产生的缺失。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大多数缓存将</a:t>
            </a:r>
            <a:r>
              <a:rPr lang="en-US" altLang="zh-CN" dirty="0"/>
              <a:t>k+1</a:t>
            </a:r>
            <a:r>
              <a:rPr lang="zh-CN" altLang="en-US" dirty="0"/>
              <a:t>级的块限制在</a:t>
            </a:r>
            <a:r>
              <a:rPr lang="en-US" altLang="zh-CN" dirty="0"/>
              <a:t>k</a:t>
            </a:r>
            <a:r>
              <a:rPr lang="zh-CN" altLang="en-US" dirty="0"/>
              <a:t>级块的一小部分中，冲突失效发生在</a:t>
            </a:r>
            <a:r>
              <a:rPr lang="en-US" altLang="zh-CN" dirty="0"/>
              <a:t>k</a:t>
            </a:r>
            <a:r>
              <a:rPr lang="zh-CN" altLang="en-US" dirty="0"/>
              <a:t>级缓存足够大</a:t>
            </a:r>
            <a:r>
              <a:rPr lang="zh-CN" altLang="en-US" sz="2000" dirty="0"/>
              <a:t>，</a:t>
            </a:r>
            <a:r>
              <a:rPr lang="zh-CN" altLang="en-US" dirty="0"/>
              <a:t>但多个数据对象都映射到同一个</a:t>
            </a:r>
            <a:r>
              <a:rPr lang="en-US" altLang="zh-CN" dirty="0"/>
              <a:t>k</a:t>
            </a:r>
            <a:r>
              <a:rPr lang="zh-CN" altLang="en-US" dirty="0"/>
              <a:t>级块时。</a:t>
            </a:r>
            <a:endParaRPr lang="zh-CN" altLang="en-US" sz="2000" dirty="0"/>
          </a:p>
        </p:txBody>
      </p:sp>
      <p:pic>
        <p:nvPicPr>
          <p:cNvPr id="3074" name="Picture 2" descr="《计算机系统2》学习笔记-CSDN博客">
            <a:extLst>
              <a:ext uri="{FF2B5EF4-FFF2-40B4-BE49-F238E27FC236}">
                <a16:creationId xmlns:a16="http://schemas.microsoft.com/office/drawing/2014/main" id="{C67100E6-6EE8-2101-A7BB-9CFD5BB7F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773" y="454556"/>
            <a:ext cx="6874933" cy="457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F6B8B1B-6CF3-7644-A9A4-50E4D9A87A42}"/>
              </a:ext>
            </a:extLst>
          </p:cNvPr>
          <p:cNvSpPr txBox="1"/>
          <p:nvPr/>
        </p:nvSpPr>
        <p:spPr>
          <a:xfrm>
            <a:off x="5188373" y="5155790"/>
            <a:ext cx="6265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如图所示：如果程序请求块</a:t>
            </a:r>
            <a:r>
              <a:rPr lang="en-US" altLang="zh-CN" dirty="0"/>
              <a:t>0</a:t>
            </a:r>
            <a:r>
              <a:rPr lang="zh-CN" altLang="en-US" dirty="0"/>
              <a:t>，然后块</a:t>
            </a:r>
            <a:r>
              <a:rPr lang="en-US" altLang="zh-CN" dirty="0"/>
              <a:t>8</a:t>
            </a:r>
            <a:r>
              <a:rPr lang="zh-CN" altLang="en-US" dirty="0"/>
              <a:t>，然后块</a:t>
            </a:r>
            <a:r>
              <a:rPr lang="en-US" altLang="zh-CN" dirty="0"/>
              <a:t>0</a:t>
            </a:r>
            <a:r>
              <a:rPr lang="zh-CN" altLang="en-US" dirty="0"/>
              <a:t>，然后块</a:t>
            </a:r>
            <a:r>
              <a:rPr lang="en-US" altLang="zh-CN" dirty="0"/>
              <a:t>8</a:t>
            </a:r>
            <a:r>
              <a:rPr lang="zh-CN" altLang="en-US" dirty="0"/>
              <a:t>，以此类推，在第</a:t>
            </a:r>
            <a:r>
              <a:rPr lang="en-US" altLang="zh-CN" dirty="0"/>
              <a:t>k</a:t>
            </a:r>
            <a:r>
              <a:rPr lang="zh-CN" altLang="en-US" dirty="0"/>
              <a:t>层的缓存中，对这两个块的每次引用都会不命中，即使这个块总共可以容纳</a:t>
            </a:r>
            <a:r>
              <a:rPr lang="en-US" altLang="zh-CN" dirty="0"/>
              <a:t>4</a:t>
            </a:r>
            <a:r>
              <a:rPr lang="zh-CN" altLang="en-US" dirty="0"/>
              <a:t>个块。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8E8442-C306-FA9B-F9F2-12B5FC91ACB0}"/>
              </a:ext>
            </a:extLst>
          </p:cNvPr>
          <p:cNvSpPr txBox="1"/>
          <p:nvPr/>
        </p:nvSpPr>
        <p:spPr>
          <a:xfrm>
            <a:off x="401374" y="5185040"/>
            <a:ext cx="369988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容量缺失：</a:t>
            </a:r>
            <a:r>
              <a:rPr lang="zh-CN" altLang="en-US" dirty="0"/>
              <a:t>程序的 “工作集” 超过 </a:t>
            </a:r>
            <a:r>
              <a:rPr lang="en-US" altLang="zh-CN" dirty="0"/>
              <a:t>Cache </a:t>
            </a:r>
            <a:r>
              <a:rPr lang="zh-CN" altLang="en-US" dirty="0"/>
              <a:t>总容量，导致部分活跃块被淘汰，再次访问时产生的缺失。</a:t>
            </a:r>
            <a:endParaRPr lang="en-US" altLang="zh-CN" dirty="0"/>
          </a:p>
          <a:p>
            <a:r>
              <a:rPr lang="zh-CN" altLang="en-US" dirty="0"/>
              <a:t>增大</a:t>
            </a:r>
            <a:r>
              <a:rPr lang="en-US" altLang="zh-CN" dirty="0"/>
              <a:t>cache</a:t>
            </a:r>
            <a:r>
              <a:rPr lang="zh-CN" altLang="en-US" dirty="0"/>
              <a:t>容量即可减少容量缺失。</a:t>
            </a:r>
          </a:p>
        </p:txBody>
      </p:sp>
    </p:spTree>
    <p:extLst>
      <p:ext uri="{BB962C8B-B14F-4D97-AF65-F5344CB8AC3E}">
        <p14:creationId xmlns:p14="http://schemas.microsoft.com/office/powerpoint/2010/main" val="3118070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1539</Words>
  <Application>Microsoft Office PowerPoint</Application>
  <PresentationFormat>宽屏</PresentationFormat>
  <Paragraphs>63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研讨题2-2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炳珲 丁</dc:creator>
  <cp:lastModifiedBy>炳珲 丁</cp:lastModifiedBy>
  <cp:revision>11</cp:revision>
  <dcterms:created xsi:type="dcterms:W3CDTF">2025-10-28T12:51:08Z</dcterms:created>
  <dcterms:modified xsi:type="dcterms:W3CDTF">2025-10-28T14:28:22Z</dcterms:modified>
</cp:coreProperties>
</file>