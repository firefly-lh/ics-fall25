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4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3" Type="http://schemas.openxmlformats.org/officeDocument/2006/relationships/image" Target="../media/image1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16.png"/><Relationship Id="rId3" Type="http://schemas.openxmlformats.org/officeDocument/2006/relationships/image" Target="../media/image17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20.png"/><Relationship Id="rId3" Type="http://schemas.openxmlformats.org/officeDocument/2006/relationships/image" Target="../media/image21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image" Target="../media/image20.png"/><Relationship Id="rId3" Type="http://schemas.openxmlformats.org/officeDocument/2006/relationships/image" Target="../media/image22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研讨题</a:t>
            </a:r>
            <a:r>
              <a:rPr lang="en-US" altLang="zh-CN"/>
              <a:t>10-1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张加弛</a:t>
            </a:r>
            <a:endParaRPr lang="zh-CN" altLang="en-US"/>
          </a:p>
          <a:p>
            <a:r>
              <a:rPr lang="en-US" altLang="zh-CN"/>
              <a:t>2025/10/22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5500" y="134690"/>
            <a:ext cx="10969200" cy="705600"/>
          </a:xfrm>
        </p:spPr>
        <p:txBody>
          <a:bodyPr/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（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1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）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Opq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指令</a:t>
            </a:r>
            <a:endParaRPr lang="zh-CN" altLang="en-US" sz="2800" b="1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50897" t="17852" r="21174" b="11261"/>
          <a:stretch>
            <a:fillRect/>
          </a:stretch>
        </p:blipFill>
        <p:spPr>
          <a:xfrm>
            <a:off x="161290" y="840105"/>
            <a:ext cx="3593465" cy="5702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23825" t="28481" r="28206" b="27046"/>
          <a:stretch>
            <a:fillRect/>
          </a:stretch>
        </p:blipFill>
        <p:spPr>
          <a:xfrm>
            <a:off x="3816350" y="1645920"/>
            <a:ext cx="8340725" cy="4832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l="34624" t="27028" r="39803" b="64602"/>
          <a:stretch>
            <a:fillRect/>
          </a:stretch>
        </p:blipFill>
        <p:spPr>
          <a:xfrm>
            <a:off x="4234180" y="412750"/>
            <a:ext cx="2806065" cy="5740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1210" y="4672330"/>
            <a:ext cx="1790700" cy="36830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</a:rPr>
              <a:t>应为</a:t>
            </a:r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</a:rPr>
              <a:t>dstM, dstE</a:t>
            </a:r>
            <a:endParaRPr lang="en-US" altLang="zh-CN" b="1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4248" t="16874" r="28368" b="3804"/>
          <a:stretch>
            <a:fillRect/>
          </a:stretch>
        </p:blipFill>
        <p:spPr>
          <a:xfrm>
            <a:off x="0" y="170180"/>
            <a:ext cx="8696960" cy="65030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74405" y="2165350"/>
            <a:ext cx="34442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PC -&gt;Instruction Memory</a:t>
            </a:r>
            <a:r>
              <a:rPr lang="zh-CN" altLang="en-US"/>
              <a:t>（指令内存）</a:t>
            </a:r>
            <a:r>
              <a:rPr lang="en-US" altLang="zh-CN"/>
              <a:t>-&gt;icode,ifun,rA,rB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PC-&gt;PC increment</a:t>
            </a:r>
            <a:r>
              <a:rPr lang="zh-CN" altLang="en-US"/>
              <a:t>（</a:t>
            </a:r>
            <a:r>
              <a:rPr lang="en-US" altLang="zh-CN"/>
              <a:t>PC</a:t>
            </a:r>
            <a:r>
              <a:rPr lang="zh-CN" altLang="en-US"/>
              <a:t>增量器）</a:t>
            </a:r>
            <a:endParaRPr lang="zh-CN" altLang="en-US"/>
          </a:p>
          <a:p>
            <a:r>
              <a:rPr lang="en-US" altLang="zh-CN"/>
              <a:t>-&gt;valP</a:t>
            </a:r>
            <a:endParaRPr lang="en-US" altLang="zh-CN"/>
          </a:p>
          <a:p>
            <a:r>
              <a:rPr lang="en-US" altLang="zh-CN"/>
              <a:t>rA, rB -&gt; srcA,srcB -&gt; register file</a:t>
            </a:r>
            <a:r>
              <a:rPr lang="zh-CN" altLang="en-US"/>
              <a:t>（寄存器文件）</a:t>
            </a:r>
            <a:r>
              <a:rPr lang="en-US" altLang="zh-CN"/>
              <a:t>-&gt; valA, valB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valA, valB -&gt; ALU -&gt; valE</a:t>
            </a:r>
            <a:endParaRPr lang="en-US" altLang="zh-CN"/>
          </a:p>
          <a:p>
            <a:r>
              <a:rPr lang="en-US" altLang="zh-CN"/>
              <a:t>ALU -&gt; CC</a:t>
            </a:r>
            <a:r>
              <a:rPr lang="zh-CN" altLang="en-US"/>
              <a:t>寄存器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valE -&gt; register file</a:t>
            </a:r>
            <a:r>
              <a:rPr lang="zh-CN" altLang="en-US"/>
              <a:t>（寄存器文件写入端口</a:t>
            </a:r>
            <a:r>
              <a:rPr lang="en-US" altLang="zh-CN"/>
              <a:t>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rB -&gt; dstE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valP -&gt; PC</a:t>
            </a:r>
            <a:r>
              <a:rPr lang="zh-CN" altLang="en-US"/>
              <a:t>寄存器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9455" y="327730"/>
            <a:ext cx="10969200" cy="705600"/>
          </a:xfrm>
        </p:spPr>
        <p:txBody>
          <a:bodyPr/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（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2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）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rmmovq</a:t>
            </a:r>
            <a:endParaRPr lang="en-US" altLang="zh-CN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20515" t="38039" r="21825" b="53316"/>
          <a:stretch>
            <a:fillRect/>
          </a:stretch>
        </p:blipFill>
        <p:spPr>
          <a:xfrm>
            <a:off x="3671570" y="0"/>
            <a:ext cx="7804785" cy="731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24277" t="33944" r="47587" b="21046"/>
          <a:stretch>
            <a:fillRect/>
          </a:stretch>
        </p:blipFill>
        <p:spPr>
          <a:xfrm>
            <a:off x="0" y="933450"/>
            <a:ext cx="4364355" cy="4364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l="52697" t="41499" r="26279" b="39963"/>
          <a:stretch>
            <a:fillRect/>
          </a:stretch>
        </p:blipFill>
        <p:spPr>
          <a:xfrm>
            <a:off x="210185" y="5426710"/>
            <a:ext cx="2310765" cy="1273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l="7627" t="24213" r="7182" b="13222"/>
          <a:stretch>
            <a:fillRect/>
          </a:stretch>
        </p:blipFill>
        <p:spPr>
          <a:xfrm>
            <a:off x="3731895" y="814705"/>
            <a:ext cx="8419465" cy="3865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rcRect l="7569" t="34491" r="8999" b="30324"/>
          <a:stretch>
            <a:fillRect/>
          </a:stretch>
        </p:blipFill>
        <p:spPr>
          <a:xfrm>
            <a:off x="3731895" y="4679950"/>
            <a:ext cx="8263255" cy="217805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4385" y="177870"/>
            <a:ext cx="10969200" cy="705600"/>
          </a:xfrm>
        </p:spPr>
        <p:txBody>
          <a:bodyPr/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</a:rPr>
              <a:t>（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</a:rPr>
              <a:t>3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</a:rPr>
              <a:t>）</a:t>
            </a:r>
            <a:endParaRPr lang="en-US" altLang="zh-CN" sz="2400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1500" t="50354" r="19123" b="43229"/>
          <a:stretch>
            <a:fillRect/>
          </a:stretch>
        </p:blipFill>
        <p:spPr>
          <a:xfrm>
            <a:off x="947420" y="177800"/>
            <a:ext cx="11070590" cy="640080"/>
          </a:xfrm>
          <a:prstGeom prst="rect">
            <a:avLst/>
          </a:prstGeom>
        </p:spPr>
      </p:pic>
      <p:pic>
        <p:nvPicPr>
          <p:cNvPr id="3" name="图片 2" descr="研讨题10_Shee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0" y="1123315"/>
            <a:ext cx="10059035" cy="56241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96615"/>
            <a:ext cx="10969200" cy="705600"/>
          </a:xfrm>
        </p:spPr>
        <p:txBody>
          <a:bodyPr/>
          <a:p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(4) popq -- pushq</a:t>
            </a:r>
            <a:endParaRPr lang="en-US" altLang="zh-CN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7563" t="28859" r="46151" b="13876"/>
          <a:stretch>
            <a:fillRect/>
          </a:stretch>
        </p:blipFill>
        <p:spPr>
          <a:xfrm>
            <a:off x="346075" y="1488440"/>
            <a:ext cx="4982210" cy="49155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60800" y="3324225"/>
            <a:ext cx="1622425" cy="6451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valA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：读内存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valB</a:t>
            </a:r>
            <a:r>
              <a:rPr lang="zh-CN" altLang="en-US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：改指针</a:t>
            </a:r>
            <a:endParaRPr lang="zh-CN" altLang="en-US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 descr="研讨题10_Sheet1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775" y="1488440"/>
            <a:ext cx="6144895" cy="48171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11678" t="63139" r="60932" b="24861"/>
          <a:stretch>
            <a:fillRect/>
          </a:stretch>
        </p:blipFill>
        <p:spPr>
          <a:xfrm>
            <a:off x="7358380" y="179070"/>
            <a:ext cx="4352290" cy="11918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66700"/>
            <a:ext cx="10968990" cy="913765"/>
          </a:xfrm>
        </p:spPr>
        <p:txBody>
          <a:bodyPr>
            <a:normAutofit fontScale="90000"/>
          </a:bodyPr>
          <a:p>
            <a:r>
              <a:rPr lang="en-US" altLang="zh-CN" sz="3110" b="1">
                <a:latin typeface="华文宋体" panose="02010600040101010101" charset="-122"/>
                <a:ea typeface="华文宋体" panose="02010600040101010101" charset="-122"/>
              </a:rPr>
              <a:t>(6) call -- ret &lt;=&gt; push -- pop</a:t>
            </a:r>
            <a:br>
              <a:rPr lang="en-US" altLang="zh-CN" sz="3110" b="1">
                <a:latin typeface="华文宋体" panose="02010600040101010101" charset="-122"/>
                <a:ea typeface="华文宋体" panose="02010600040101010101" charset="-122"/>
              </a:rPr>
            </a:br>
            <a:r>
              <a:rPr lang="en-US" altLang="zh-CN" sz="3110" b="1">
                <a:latin typeface="华文宋体" panose="02010600040101010101" charset="-122"/>
                <a:ea typeface="华文宋体" panose="02010600040101010101" charset="-122"/>
              </a:rPr>
              <a:t>6.1 call  </a:t>
            </a:r>
            <a:endParaRPr lang="en-US" altLang="zh-CN" sz="311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7088" t="26698" r="22008" b="16531"/>
          <a:stretch>
            <a:fillRect/>
          </a:stretch>
        </p:blipFill>
        <p:spPr>
          <a:xfrm>
            <a:off x="171450" y="1420495"/>
            <a:ext cx="8622665" cy="50234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63330" y="2147570"/>
            <a:ext cx="30575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valC</a:t>
            </a:r>
            <a:r>
              <a:rPr lang="zh-CN" altLang="en-US"/>
              <a:t>：被调用函数的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valP</a:t>
            </a:r>
            <a:r>
              <a:rPr lang="zh-CN" altLang="en-US"/>
              <a:t>：顺序读取</a:t>
            </a:r>
            <a:r>
              <a:rPr lang="zh-CN" altLang="en-US"/>
              <a:t>下一步</a:t>
            </a:r>
            <a:endParaRPr lang="zh-CN" altLang="en-US"/>
          </a:p>
          <a:p>
            <a:r>
              <a:rPr lang="zh-CN" altLang="en-US"/>
              <a:t>（即被调用函数返回后进行的下一步</a:t>
            </a:r>
            <a:r>
              <a:rPr lang="zh-CN" altLang="en-US"/>
              <a:t>操作）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096375" y="435483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扩展栈空间，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valP</a:t>
            </a:r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压入栈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94115" y="5861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跳转到被调用</a:t>
            </a:r>
            <a:r>
              <a:rPr lang="zh-CN" altLang="en-US"/>
              <a:t>函数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2025" t="61852" r="24780" b="32250"/>
          <a:stretch>
            <a:fillRect/>
          </a:stretch>
        </p:blipFill>
        <p:spPr>
          <a:xfrm>
            <a:off x="2998470" y="775970"/>
            <a:ext cx="8011795" cy="4673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47720"/>
            <a:ext cx="10969200" cy="705600"/>
          </a:xfrm>
        </p:spPr>
        <p:txBody>
          <a:bodyPr/>
          <a:p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6.2 ret 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弹出栈底的指令地址，并跳转到该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指令</a:t>
            </a:r>
            <a:endParaRPr lang="zh-CN" altLang="en-US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59495" y="4216400"/>
            <a:ext cx="3140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弹出并读取栈底值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（即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call</a:t>
            </a:r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时存入的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valP</a:t>
            </a:r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回收栈空间</a:t>
            </a:r>
            <a:endParaRPr lang="zh-CN" altLang="en-US" sz="2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557260" y="5854700"/>
            <a:ext cx="3242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跳转到调用者函数的顺序下一步</a:t>
            </a:r>
            <a:r>
              <a:rPr lang="zh-CN" altLang="en-US"/>
              <a:t>指令</a:t>
            </a:r>
            <a:endParaRPr lang="zh-CN" altLang="en-US"/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7755" t="31354" r="22333" b="12809"/>
          <a:stretch>
            <a:fillRect/>
          </a:stretch>
        </p:blipFill>
        <p:spPr>
          <a:xfrm>
            <a:off x="227330" y="1533525"/>
            <a:ext cx="8432165" cy="4912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2309" t="68213" r="66296" b="26528"/>
          <a:stretch>
            <a:fillRect/>
          </a:stretch>
        </p:blipFill>
        <p:spPr>
          <a:xfrm>
            <a:off x="7432040" y="953135"/>
            <a:ext cx="3575050" cy="549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4870" y="285820"/>
            <a:ext cx="10969200" cy="705600"/>
          </a:xfrm>
        </p:spPr>
        <p:txBody>
          <a:bodyPr/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（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5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）条件判断的处理：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cmovxx vs jxx</a:t>
            </a:r>
            <a:endParaRPr lang="en-US" altLang="zh-CN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7421" t="32555" r="46685" b="12408"/>
          <a:stretch>
            <a:fillRect/>
          </a:stretch>
        </p:blipFill>
        <p:spPr>
          <a:xfrm>
            <a:off x="511175" y="1604010"/>
            <a:ext cx="5126990" cy="4915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17153" t="20889" r="46806" b="23019"/>
          <a:stretch>
            <a:fillRect/>
          </a:stretch>
        </p:blipFill>
        <p:spPr>
          <a:xfrm>
            <a:off x="6387465" y="1440180"/>
            <a:ext cx="5311775" cy="51676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004175" y="4456430"/>
            <a:ext cx="3631565" cy="588645"/>
          </a:xfrm>
          <a:prstGeom prst="rect">
            <a:avLst/>
          </a:prstGeom>
          <a:noFill/>
          <a:ln w="762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06600" y="4601845"/>
            <a:ext cx="3631565" cy="443230"/>
          </a:xfrm>
          <a:prstGeom prst="rect">
            <a:avLst/>
          </a:prstGeom>
          <a:noFill/>
          <a:ln w="76200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061845" y="5285740"/>
            <a:ext cx="1758950" cy="461645"/>
          </a:xfrm>
          <a:prstGeom prst="roundRect">
            <a:avLst/>
          </a:prstGeom>
          <a:noFill/>
          <a:ln w="762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079105" y="6033770"/>
            <a:ext cx="3119120" cy="62484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l="12193" t="34907" r="61163" b="59741"/>
          <a:stretch>
            <a:fillRect/>
          </a:stretch>
        </p:blipFill>
        <p:spPr>
          <a:xfrm>
            <a:off x="607060" y="1003935"/>
            <a:ext cx="3474720" cy="4362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12251" t="66370" r="25069" b="28370"/>
          <a:stretch>
            <a:fillRect/>
          </a:stretch>
        </p:blipFill>
        <p:spPr>
          <a:xfrm>
            <a:off x="4821555" y="991235"/>
            <a:ext cx="6877685" cy="3606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60420"/>
            <a:ext cx="10969200" cy="705600"/>
          </a:xfrm>
        </p:spPr>
        <p:txBody>
          <a:bodyPr/>
          <a:p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5.1 cmovxx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：条件判断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决定结果是否写入寄存器</a:t>
            </a:r>
            <a:endParaRPr lang="zh-CN" altLang="en-US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7505" t="35077" r="55075" b="21988"/>
          <a:stretch>
            <a:fillRect/>
          </a:stretch>
        </p:blipFill>
        <p:spPr>
          <a:xfrm>
            <a:off x="694690" y="1489075"/>
            <a:ext cx="4950460" cy="4845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18300" y="154622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 Write back R[rB] &lt;-- valE</a:t>
            </a:r>
            <a:endParaRPr lang="en-US" altLang="zh-CN" sz="2000"/>
          </a:p>
          <a:p>
            <a:r>
              <a:rPr lang="en-US" altLang="zh-CN" sz="2000"/>
              <a:t>&lt;==&gt;	valE -&gt; regiter file</a:t>
            </a:r>
            <a:endParaRPr lang="en-US" altLang="zh-CN" sz="2000"/>
          </a:p>
          <a:p>
            <a:pPr marL="457200" lvl="1" indent="457200"/>
            <a:r>
              <a:rPr lang="en-US" altLang="zh-CN" sz="2000"/>
              <a:t>rB -&gt; dstE</a:t>
            </a:r>
            <a:endParaRPr lang="en-US" altLang="zh-CN" sz="2000"/>
          </a:p>
        </p:txBody>
      </p:sp>
      <p:sp>
        <p:nvSpPr>
          <p:cNvPr id="7" name="文本框 6"/>
          <p:cNvSpPr txBox="1"/>
          <p:nvPr/>
        </p:nvSpPr>
        <p:spPr>
          <a:xfrm>
            <a:off x="6718300" y="3001645"/>
            <a:ext cx="406400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if Cond</a:t>
            </a:r>
            <a:endParaRPr lang="en-US" altLang="zh-CN" sz="2000"/>
          </a:p>
          <a:p>
            <a:pPr indent="457200"/>
            <a:r>
              <a:rPr lang="en-US" altLang="zh-CN" sz="2000"/>
              <a:t>valE -&gt; register file</a:t>
            </a:r>
            <a:endParaRPr lang="en-US" altLang="zh-CN" sz="2000"/>
          </a:p>
          <a:p>
            <a:pPr indent="457200"/>
            <a:r>
              <a:rPr lang="en-US" altLang="zh-CN" sz="2000"/>
              <a:t>rB -&gt; dstE</a:t>
            </a:r>
            <a:endParaRPr lang="en-US" altLang="zh-CN" sz="2000"/>
          </a:p>
          <a:p>
            <a:r>
              <a:rPr lang="zh-CN" altLang="en-US" sz="2000"/>
              <a:t>正常写入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if !Cond</a:t>
            </a:r>
            <a:endParaRPr lang="en-US" altLang="zh-CN" sz="2000"/>
          </a:p>
          <a:p>
            <a:pPr indent="457200"/>
            <a:r>
              <a:rPr lang="en-US" altLang="zh-CN" sz="2000"/>
              <a:t>rB = 0xF</a:t>
            </a:r>
            <a:endParaRPr lang="en-US" altLang="zh-CN" sz="2000"/>
          </a:p>
          <a:p>
            <a:pPr indent="457200"/>
            <a:r>
              <a:rPr lang="en-US" altLang="zh-CN" sz="2000"/>
              <a:t>valE -&gt; register file</a:t>
            </a:r>
            <a:endParaRPr lang="en-US" altLang="zh-CN" sz="2000"/>
          </a:p>
          <a:p>
            <a:pPr indent="457200"/>
            <a:r>
              <a:rPr lang="en-US" altLang="zh-CN" sz="2000"/>
              <a:t>rB -&gt; dstE --&gt; dstE = RNONE</a:t>
            </a:r>
            <a:endParaRPr lang="en-US" altLang="zh-CN" sz="2000"/>
          </a:p>
          <a:p>
            <a:r>
              <a:rPr lang="zh-CN" altLang="en-US" sz="2000"/>
              <a:t>无法进行写入，即不执行移动</a:t>
            </a:r>
            <a:endParaRPr lang="zh-CN" altLang="en-US" sz="2000"/>
          </a:p>
          <a:p>
            <a:pPr indent="457200"/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12193" t="35463" r="61337" b="59556"/>
          <a:stretch>
            <a:fillRect/>
          </a:stretch>
        </p:blipFill>
        <p:spPr>
          <a:xfrm>
            <a:off x="694690" y="965835"/>
            <a:ext cx="3703320" cy="4356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91535"/>
            <a:ext cx="10969200" cy="705600"/>
          </a:xfrm>
        </p:spPr>
        <p:txBody>
          <a:bodyPr/>
          <a:p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5.2 jxx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：条件判断决定下一步调用的指令地址</a:t>
            </a:r>
            <a:endParaRPr lang="zh-CN" altLang="en-US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47752" t="35610" r="24418" b="21454"/>
          <a:stretch>
            <a:fillRect/>
          </a:stretch>
        </p:blipFill>
        <p:spPr>
          <a:xfrm>
            <a:off x="608330" y="1723390"/>
            <a:ext cx="5013325" cy="48355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11968" t="66278" r="25243" b="27815"/>
          <a:stretch>
            <a:fillRect/>
          </a:stretch>
        </p:blipFill>
        <p:spPr>
          <a:xfrm>
            <a:off x="608330" y="1082040"/>
            <a:ext cx="7926705" cy="4660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63335" y="3229610"/>
            <a:ext cx="539305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valC</a:t>
            </a:r>
            <a:r>
              <a:rPr lang="zh-CN" altLang="en-US" sz="2000"/>
              <a:t>：从指令中读出的跳转目标指令地址</a:t>
            </a:r>
            <a:endParaRPr lang="zh-CN" altLang="en-US" sz="2000"/>
          </a:p>
          <a:p>
            <a:r>
              <a:rPr lang="en-US" altLang="zh-CN" sz="2000"/>
              <a:t>valP</a:t>
            </a:r>
            <a:r>
              <a:rPr lang="zh-CN" altLang="en-US" sz="2000"/>
              <a:t>：顺序读取的下一步指令地址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if Cond</a:t>
            </a:r>
            <a:endParaRPr lang="en-US" altLang="zh-CN" sz="2000"/>
          </a:p>
          <a:p>
            <a:pPr indent="457200"/>
            <a:r>
              <a:rPr lang="en-US" altLang="zh-CN" sz="2000"/>
              <a:t>PC &lt;- valC </a:t>
            </a:r>
            <a:r>
              <a:rPr lang="zh-CN" altLang="en-US" sz="2000"/>
              <a:t>（跳转）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if !Cond</a:t>
            </a:r>
            <a:endParaRPr lang="en-US" altLang="zh-CN" sz="2000"/>
          </a:p>
          <a:p>
            <a:pPr indent="457200"/>
            <a:r>
              <a:rPr lang="en-US" altLang="zh-CN" sz="2000"/>
              <a:t>PC &lt;- valP </a:t>
            </a:r>
            <a:r>
              <a:rPr lang="zh-CN" altLang="en-US" sz="2000"/>
              <a:t>（顺序执行）</a:t>
            </a:r>
            <a:endParaRPr lang="zh-CN" altLang="en-US" sz="2000"/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3270" y="241370"/>
            <a:ext cx="10969200" cy="705600"/>
          </a:xfrm>
        </p:spPr>
        <p:txBody>
          <a:bodyPr/>
          <a:p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（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7</a:t>
            </a:r>
            <a:r>
              <a:rPr lang="zh-CN" altLang="en-US" sz="2800" b="1">
                <a:latin typeface="华文宋体" panose="02010600040101010101" charset="-122"/>
                <a:ea typeface="华文宋体" panose="02010600040101010101" charset="-122"/>
              </a:rPr>
              <a:t>）信号</a:t>
            </a:r>
            <a:r>
              <a:rPr lang="en-US" altLang="zh-CN" sz="2800" b="1">
                <a:latin typeface="华文宋体" panose="02010600040101010101" charset="-122"/>
                <a:ea typeface="华文宋体" panose="02010600040101010101" charset="-122"/>
              </a:rPr>
              <a:t> Computed Values</a:t>
            </a:r>
            <a:endParaRPr lang="en-US" altLang="zh-CN" sz="2800" b="1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62993" t="28966" r="7714" b="25043"/>
          <a:stretch>
            <a:fillRect/>
          </a:stretch>
        </p:blipFill>
        <p:spPr>
          <a:xfrm>
            <a:off x="5486400" y="156845"/>
            <a:ext cx="6654165" cy="6530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17558" t="27065" r="12674" b="17389"/>
          <a:stretch>
            <a:fillRect/>
          </a:stretch>
        </p:blipFill>
        <p:spPr>
          <a:xfrm>
            <a:off x="156845" y="1189355"/>
            <a:ext cx="4752975" cy="2365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l="17558" t="18861" r="12095" b="11769"/>
          <a:stretch>
            <a:fillRect/>
          </a:stretch>
        </p:blipFill>
        <p:spPr>
          <a:xfrm>
            <a:off x="156845" y="3617595"/>
            <a:ext cx="4805680" cy="29622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WPS 演示</Application>
  <PresentationFormat>宽屏</PresentationFormat>
  <Paragraphs>84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华文宋体</vt:lpstr>
      <vt:lpstr>华文楷体</vt:lpstr>
      <vt:lpstr>微软雅黑</vt:lpstr>
      <vt:lpstr>Arial Unicode MS</vt:lpstr>
      <vt:lpstr>Calibri</vt:lpstr>
      <vt:lpstr>WPS</vt:lpstr>
      <vt:lpstr>研讨题10-1</vt:lpstr>
      <vt:lpstr>（1）Opq指令</vt:lpstr>
      <vt:lpstr>PowerPoint 演示文稿</vt:lpstr>
      <vt:lpstr>（2）rmmovq</vt:lpstr>
      <vt:lpstr>（3）</vt:lpstr>
      <vt:lpstr>(4) popq -- pushq</vt:lpstr>
      <vt:lpstr>(6) call -- ret &lt;=&gt; push -- pop 6.1 call  </vt:lpstr>
      <vt:lpstr>6.2 ret 弹出栈底的指令地址，并跳转到该指令</vt:lpstr>
      <vt:lpstr>（5）条件判断的处理：cmovxx vs jxx</vt:lpstr>
      <vt:lpstr>5.1 cmovxx：条件判断决定结果是否写入寄存器</vt:lpstr>
      <vt:lpstr>5.2 jxx：条件判断决定下一步调用的指令地址</vt:lpstr>
      <vt:lpstr>（7）信号 Computed Values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张加弛</cp:lastModifiedBy>
  <cp:revision>171</cp:revision>
  <dcterms:created xsi:type="dcterms:W3CDTF">2019-06-19T02:08:00Z</dcterms:created>
  <dcterms:modified xsi:type="dcterms:W3CDTF">2025-10-22T10:15:50Z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A838C460D647436BBB6B3C6670E82214_11</vt:lpwstr>
  </property>
</Properties>
</file>