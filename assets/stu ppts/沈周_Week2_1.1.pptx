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9" name="标题 307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/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zh-CN" altLang="en-US" sz="4400" kern="1200" baseline="0">
                <a:latin typeface="+mj-lt"/>
                <a:ea typeface="+mj-ea"/>
                <a:cs typeface="+mj-cs"/>
              </a:rPr>
              <a:t>关于</a:t>
            </a:r>
            <a:r>
              <a:rPr lang="en-US" altLang="zh-CN" sz="4400" kern="1200" baseline="0">
                <a:latin typeface="+mj-lt"/>
                <a:ea typeface="+mj-ea"/>
                <a:cs typeface="+mj-cs"/>
              </a:rPr>
              <a:t>“</a:t>
            </a:r>
            <a:r>
              <a:rPr lang="zh-CN" altLang="en-US" sz="4400" kern="1200" baseline="0">
                <a:latin typeface="+mj-lt"/>
                <a:ea typeface="+mj-ea"/>
                <a:cs typeface="+mj-cs"/>
              </a:rPr>
              <a:t>位</a:t>
            </a:r>
            <a:r>
              <a:rPr lang="en-US" altLang="zh-CN" sz="4400" kern="1200" baseline="0">
                <a:latin typeface="+mj-lt"/>
                <a:ea typeface="+mj-ea"/>
                <a:cs typeface="+mj-cs"/>
              </a:rPr>
              <a:t>”</a:t>
            </a:r>
            <a:r>
              <a:rPr lang="zh-CN" altLang="en-US" sz="4400" kern="1200" baseline="0">
                <a:latin typeface="+mj-lt"/>
                <a:ea typeface="+mj-ea"/>
                <a:cs typeface="+mj-cs"/>
              </a:rPr>
              <a:t>（</a:t>
            </a:r>
            <a:r>
              <a:rPr lang="en-US" altLang="zh-CN" sz="4400" kern="1200" baseline="0">
                <a:latin typeface="+mj-lt"/>
                <a:ea typeface="+mj-ea"/>
                <a:cs typeface="+mj-cs"/>
              </a:rPr>
              <a:t>bit</a:t>
            </a:r>
            <a:r>
              <a:rPr lang="zh-CN" altLang="en-US" sz="4400" kern="1200" baseline="0">
                <a:latin typeface="+mj-lt"/>
                <a:ea typeface="+mj-ea"/>
                <a:cs typeface="+mj-cs"/>
              </a:rPr>
              <a:t>）和字节（</a:t>
            </a:r>
            <a:r>
              <a:rPr lang="en-US" altLang="zh-CN" sz="4400" kern="1200" baseline="0">
                <a:latin typeface="+mj-lt"/>
                <a:ea typeface="+mj-ea"/>
                <a:cs typeface="+mj-cs"/>
              </a:rPr>
              <a:t>byte</a:t>
            </a:r>
            <a:r>
              <a:rPr lang="zh-CN" altLang="en-US" sz="4400" kern="1200" baseline="0">
                <a:latin typeface="+mj-lt"/>
                <a:ea typeface="+mj-ea"/>
                <a:cs typeface="+mj-cs"/>
              </a:rPr>
              <a:t>）</a:t>
            </a:r>
            <a:endParaRPr lang="zh-CN" altLang="en-US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2050" name="副标题 307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/>
        </p:spPr>
        <p:txBody>
          <a:bodyPr anchor="t" anchorCtr="0"/>
          <a:p>
            <a:pPr defTabSz="914400">
              <a:buClrTx/>
              <a:buSzTx/>
              <a:buFontTx/>
            </a:pPr>
            <a:endParaRPr lang="zh-CN" altLang="zh-CN" sz="3200" kern="1200" baseline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Representing information as bits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6385"/>
            <a:ext cx="8229600" cy="4525963"/>
          </a:xfrm>
        </p:spPr>
        <p:txBody>
          <a:bodyPr/>
          <a:p>
            <a:r>
              <a:rPr lang="zh-CN" altLang="en-US" sz="2000"/>
              <a:t>计算机内部一般选用二进制表达形式</a:t>
            </a:r>
            <a:endParaRPr lang="zh-CN" altLang="en-US" sz="2000"/>
          </a:p>
          <a:p>
            <a:pPr marL="0" indent="457200">
              <a:buNone/>
            </a:pPr>
            <a:r>
              <a:rPr lang="zh-CN" altLang="en-US" sz="2000"/>
              <a:t>二进制与高</a:t>
            </a:r>
            <a:r>
              <a:rPr lang="en-US" altLang="zh-CN" sz="2000"/>
              <a:t>/</a:t>
            </a:r>
            <a:r>
              <a:rPr lang="zh-CN" altLang="en-US" sz="2000"/>
              <a:t>低电压直接对应</a:t>
            </a:r>
            <a:endParaRPr lang="zh-CN" altLang="en-US" sz="2000"/>
          </a:p>
          <a:p>
            <a:pPr marL="0" indent="457200">
              <a:buNone/>
            </a:pPr>
            <a:r>
              <a:rPr lang="zh-CN" altLang="en-US" sz="2000"/>
              <a:t>但二进制数往往太长不方便阅读</a:t>
            </a:r>
            <a:r>
              <a:rPr lang="en-US" altLang="zh-CN" sz="2000"/>
              <a:t>,</a:t>
            </a:r>
            <a:r>
              <a:rPr lang="zh-CN" altLang="en-US" sz="2000"/>
              <a:t>所以在计算机颜色代码、内存地址表示、网络设备标识、错误代码与调试等场合使用十六进制，比二进制更紧凑</a:t>
            </a:r>
            <a:endParaRPr lang="zh-CN" altLang="en-US" sz="2000"/>
          </a:p>
          <a:p>
            <a:pPr marL="0" indent="457200">
              <a:buNone/>
            </a:pPr>
            <a:endParaRPr lang="zh-CN" altLang="en-US" sz="2000"/>
          </a:p>
          <a:p>
            <a:pPr marL="0" indent="457200">
              <a:buNone/>
            </a:pPr>
            <a:endParaRPr lang="zh-CN" altLang="en-US" sz="2000"/>
          </a:p>
          <a:p>
            <a:pPr marL="0" indent="457200">
              <a:buNone/>
            </a:pPr>
            <a:endParaRPr lang="zh-CN" altLang="en-US" sz="2000"/>
          </a:p>
          <a:p>
            <a:pPr marL="0" indent="457200">
              <a:buNone/>
            </a:pPr>
            <a:r>
              <a:rPr lang="en-US" altLang="zh-CN" sz="2000"/>
              <a:t>10111101-&gt;1+2^3+2^4+2^5+2^6+2^8=377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/>
              <a:t>10111101-&gt;1011/1101-&gt;bd</a:t>
            </a:r>
            <a:endParaRPr lang="zh-CN" altLang="en-US" sz="2000"/>
          </a:p>
          <a:p>
            <a:r>
              <a:rPr lang="en-US" altLang="zh-CN" sz="2000"/>
              <a:t>Byte = 8 bits</a:t>
            </a:r>
            <a:endParaRPr lang="en-US" altLang="zh-CN" sz="2000"/>
          </a:p>
          <a:p>
            <a:pPr marL="0" indent="457200">
              <a:buNone/>
            </a:pPr>
            <a:r>
              <a:rPr lang="zh-CN" altLang="en-US" sz="2000"/>
              <a:t>原因</a:t>
            </a:r>
            <a:r>
              <a:rPr lang="en-US" altLang="zh-CN" sz="2000"/>
              <a:t>:8</a:t>
            </a:r>
            <a:r>
              <a:rPr lang="zh-CN" altLang="en-US" sz="2000"/>
              <a:t>位</a:t>
            </a:r>
            <a:r>
              <a:rPr lang="en-US" altLang="zh-CN" sz="2000"/>
              <a:t>-&gt;256</a:t>
            </a:r>
            <a:r>
              <a:rPr lang="zh-CN" altLang="en-US" sz="2000"/>
              <a:t>符号，覆盖</a:t>
            </a:r>
            <a:r>
              <a:rPr lang="en-US" altLang="zh-CN" sz="2000"/>
              <a:t>ASCII</a:t>
            </a:r>
            <a:endParaRPr lang="en-US" altLang="zh-CN" sz="200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83565" y="3314700"/>
          <a:ext cx="799147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3456305"/>
                <a:gridCol w="369697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十六进制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十进制</a:t>
                      </a:r>
                      <a:endParaRPr lang="zh-CN" altLang="en-US"/>
                    </a:p>
                  </a:txBody>
                  <a:tcPr/>
                </a:tc>
              </a:tr>
              <a:tr h="3448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与二进制直接对应</a:t>
                      </a:r>
                      <a:r>
                        <a:rPr lang="en-US" altLang="zh-CN"/>
                        <a:t>,</a:t>
                      </a:r>
                      <a:r>
                        <a:rPr lang="zh-CN" altLang="en-US"/>
                        <a:t>方便与换算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符合人类习惯</a:t>
                      </a:r>
                      <a:r>
                        <a:rPr lang="en-US" altLang="zh-CN"/>
                        <a:t>,</a:t>
                      </a:r>
                      <a:r>
                        <a:rPr lang="zh-CN" altLang="en-US"/>
                        <a:t>方便计算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缺点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不符合人类习惯</a:t>
                      </a:r>
                      <a:r>
                        <a:rPr lang="en-US" altLang="zh-CN"/>
                        <a:t>,</a:t>
                      </a:r>
                      <a:r>
                        <a:rPr lang="zh-CN" altLang="en-US"/>
                        <a:t>不方便计算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与二进制</a:t>
                      </a:r>
                      <a:r>
                        <a:rPr lang="zh-CN" altLang="en-US"/>
                        <a:t>不能直接对应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Bit-level manipulations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000"/>
              <a:t>&amp;</a:t>
            </a:r>
            <a:r>
              <a:rPr lang="zh-CN" altLang="en-US" sz="2000"/>
              <a:t>、</a:t>
            </a:r>
            <a:r>
              <a:rPr lang="en-US" altLang="zh-CN" sz="2000"/>
              <a:t>|</a:t>
            </a:r>
            <a:r>
              <a:rPr lang="zh-CN" altLang="en-US" sz="2000"/>
              <a:t>、</a:t>
            </a:r>
            <a:r>
              <a:rPr lang="en-US" altLang="zh-CN" sz="2000"/>
              <a:t>~</a:t>
            </a:r>
            <a:r>
              <a:rPr lang="zh-CN" altLang="en-US" sz="2000"/>
              <a:t>、</a:t>
            </a:r>
            <a:r>
              <a:rPr lang="en-US" altLang="zh-CN" sz="2000"/>
              <a:t>^</a:t>
            </a:r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  <a:p>
            <a:pPr marL="0" indent="457200">
              <a:buNone/>
            </a:pPr>
            <a:r>
              <a:rPr lang="en-US" altLang="zh-CN" sz="2000"/>
              <a:t>11110000&amp;00001111=00000000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/>
              <a:t>11110000|00001111=11111111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/>
              <a:t>~11110000=00001111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/>
              <a:t>11110000^00001111=11111111</a:t>
            </a:r>
            <a:endParaRPr lang="en-US" altLang="zh-CN" sz="2000"/>
          </a:p>
          <a:p>
            <a:r>
              <a:rPr lang="en-US" altLang="zh-CN" sz="2000"/>
              <a:t>&amp;&amp;</a:t>
            </a:r>
            <a:r>
              <a:rPr lang="zh-CN" altLang="en-US" sz="2000"/>
              <a:t>、</a:t>
            </a:r>
            <a:r>
              <a:rPr lang="en-US" altLang="zh-CN" sz="2000"/>
              <a:t>||</a:t>
            </a:r>
            <a:r>
              <a:rPr lang="zh-CN" altLang="en-US" sz="2000"/>
              <a:t>、</a:t>
            </a:r>
            <a:r>
              <a:rPr lang="en-US" altLang="zh-CN" sz="2000"/>
              <a:t>!</a:t>
            </a:r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  <a:p>
            <a:pPr marL="0" indent="457200">
              <a:buNone/>
            </a:pPr>
            <a:endParaRPr lang="en-US" altLang="zh-CN" sz="200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49910" y="1986280"/>
          <a:ext cx="1381125" cy="1116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75"/>
                <a:gridCol w="460375"/>
                <a:gridCol w="460375"/>
              </a:tblGrid>
              <a:tr h="3721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&amp;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721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  <a:tr h="3721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2074545" y="2000250"/>
          <a:ext cx="1221105" cy="110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035"/>
                <a:gridCol w="407035"/>
                <a:gridCol w="407035"/>
              </a:tblGrid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|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4828540" y="2000250"/>
          <a:ext cx="1310640" cy="1146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/>
                <a:gridCol w="436880"/>
                <a:gridCol w="436880"/>
              </a:tblGrid>
              <a:tr h="3822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^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822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822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3409315" y="2000250"/>
          <a:ext cx="1293495" cy="1144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165"/>
                <a:gridCol w="431165"/>
                <a:gridCol w="431165"/>
              </a:tblGrid>
              <a:tr h="381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~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381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5"/>
            </p:custDataLst>
          </p:nvPr>
        </p:nvGraphicFramePr>
        <p:xfrm>
          <a:off x="549910" y="4869180"/>
          <a:ext cx="2205990" cy="1123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330"/>
                <a:gridCol w="735330"/>
                <a:gridCol w="735330"/>
              </a:tblGrid>
              <a:tr h="3746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&amp;&amp;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false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true</a:t>
                      </a:r>
                      <a:endParaRPr lang="en-US" altLang="zh-CN"/>
                    </a:p>
                  </a:txBody>
                  <a:tcPr/>
                </a:tc>
              </a:tr>
              <a:tr h="3746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false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false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false</a:t>
                      </a:r>
                      <a:endParaRPr lang="en-US" altLang="zh-CN"/>
                    </a:p>
                  </a:txBody>
                  <a:tcPr/>
                </a:tc>
              </a:tr>
              <a:tr h="3746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true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false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true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6"/>
            </p:custDataLst>
          </p:nvPr>
        </p:nvGraphicFramePr>
        <p:xfrm>
          <a:off x="2844165" y="4883150"/>
          <a:ext cx="2234565" cy="1144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855"/>
                <a:gridCol w="744855"/>
                <a:gridCol w="744855"/>
              </a:tblGrid>
              <a:tr h="381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||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false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true</a:t>
                      </a:r>
                      <a:endParaRPr lang="en-US" altLang="zh-CN"/>
                    </a:p>
                  </a:txBody>
                  <a:tcPr/>
                </a:tc>
              </a:tr>
              <a:tr h="381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false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false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true</a:t>
                      </a:r>
                      <a:endParaRPr lang="en-US" altLang="zh-CN"/>
                    </a:p>
                  </a:txBody>
                  <a:tcPr/>
                </a:tc>
              </a:tr>
              <a:tr h="3816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true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true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true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7"/>
            </p:custDataLst>
          </p:nvPr>
        </p:nvGraphicFramePr>
        <p:xfrm>
          <a:off x="5240020" y="4897755"/>
          <a:ext cx="2211705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235"/>
                <a:gridCol w="737235"/>
                <a:gridCol w="737235"/>
              </a:tblGrid>
              <a:tr h="401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!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1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false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true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1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true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false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000"/>
              <a:t>0xab&amp;&amp;0xab=true&amp;&amp;true=true=0x01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>
                <a:sym typeface="+mn-ea"/>
              </a:rPr>
              <a:t>0xab||0xab=0x01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>
                <a:sym typeface="+mn-ea"/>
              </a:rPr>
              <a:t>!0xab=0x00</a:t>
            </a:r>
            <a:endParaRPr lang="en-US" altLang="zh-CN" sz="2000"/>
          </a:p>
          <a:p>
            <a:r>
              <a:rPr lang="en-US" altLang="zh-CN" sz="2000"/>
              <a:t>p&amp;&amp; *p (avoids null pointer access)</a:t>
            </a:r>
            <a:endParaRPr lang="en-US" altLang="zh-CN" sz="2000"/>
          </a:p>
          <a:p>
            <a:pPr marL="0" indent="457200">
              <a:buNone/>
            </a:pPr>
            <a:r>
              <a:rPr lang="zh-CN" altLang="en-US" sz="2000"/>
              <a:t>原理</a:t>
            </a:r>
            <a:r>
              <a:rPr lang="en-US" altLang="zh-CN" sz="2000"/>
              <a:t>:</a:t>
            </a:r>
            <a:r>
              <a:rPr lang="zh-CN" altLang="en-US" sz="2000"/>
              <a:t>只有当</a:t>
            </a:r>
            <a:r>
              <a:rPr lang="en-US" altLang="zh-CN" sz="2000"/>
              <a:t>p</a:t>
            </a:r>
            <a:r>
              <a:rPr lang="zh-CN" altLang="en-US" sz="2000"/>
              <a:t>非空才会执行</a:t>
            </a:r>
            <a:r>
              <a:rPr lang="en-US" altLang="zh-CN" sz="2000"/>
              <a:t>*</a:t>
            </a:r>
            <a:r>
              <a:rPr lang="en-US" altLang="zh-CN" sz="2000"/>
              <a:t>p</a:t>
            </a:r>
            <a:endParaRPr lang="en-US" altLang="zh-CN" sz="2000"/>
          </a:p>
          <a:p>
            <a:r>
              <a:rPr lang="en-US" altLang="zh-CN" sz="2000"/>
              <a:t>&lt;&lt;</a:t>
            </a:r>
            <a:r>
              <a:rPr lang="zh-CN" altLang="en-US" sz="2000"/>
              <a:t>、</a:t>
            </a:r>
            <a:r>
              <a:rPr lang="en-US" altLang="zh-CN" sz="2000"/>
              <a:t>Log.&gt;&gt;</a:t>
            </a:r>
            <a:r>
              <a:rPr lang="zh-CN" altLang="en-US" sz="2000"/>
              <a:t>、</a:t>
            </a:r>
            <a:r>
              <a:rPr lang="en-US" altLang="zh-CN" sz="2000"/>
              <a:t>Arith.&gt;&gt;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/>
              <a:t>11000011&lt;&lt;1=10000110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/>
              <a:t>11000011&gt;&gt;1=01100001(L</a:t>
            </a:r>
            <a:r>
              <a:rPr lang="en-US" altLang="zh-CN" sz="2000"/>
              <a:t>og)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/>
              <a:t>00110011&gt;&gt;1=00011001(Log)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/>
              <a:t>11000011&gt;&gt;1=11100001(Airth)</a:t>
            </a:r>
            <a:endParaRPr lang="en-US" altLang="zh-CN" sz="2000"/>
          </a:p>
          <a:p>
            <a:pPr marL="0" indent="457200">
              <a:buNone/>
            </a:pPr>
            <a:r>
              <a:rPr lang="en-US" altLang="zh-CN" sz="2000"/>
              <a:t>00110011&gt;&gt;1=00011001(Airth)</a:t>
            </a:r>
            <a:endParaRPr lang="en-US" altLang="zh-CN" sz="2000"/>
          </a:p>
          <a:p>
            <a:pPr marL="0" indent="457200">
              <a:buNone/>
            </a:pPr>
            <a:r>
              <a:rPr lang="zh-CN" altLang="en-US" sz="2000"/>
              <a:t>逻辑右移适用于无符号数，</a:t>
            </a:r>
            <a:r>
              <a:rPr lang="zh-CN" altLang="en-US" sz="2000"/>
              <a:t>算术右移适用于有符号数</a:t>
            </a:r>
            <a:endParaRPr lang="zh-CN" altLang="en-US" sz="2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29*84"/>
  <p:tag name="TABLE_ENDDRAG_RECT" val="45*256*629*84"/>
</p:tagLst>
</file>

<file path=ppt/tags/tag2.xml><?xml version="1.0" encoding="utf-8"?>
<p:tagLst xmlns:p="http://schemas.openxmlformats.org/presentationml/2006/main">
  <p:tag name="TABLE_ENDDRAG_ORIGIN_RECT" val="108*87"/>
  <p:tag name="TABLE_ENDDRAG_RECT" val="43*156*108*87"/>
</p:tagLst>
</file>

<file path=ppt/tags/tag3.xml><?xml version="1.0" encoding="utf-8"?>
<p:tagLst xmlns:p="http://schemas.openxmlformats.org/presentationml/2006/main">
  <p:tag name="TABLE_ENDDRAG_ORIGIN_RECT" val="96*86"/>
  <p:tag name="TABLE_ENDDRAG_RECT" val="163*157*96*86"/>
</p:tagLst>
</file>

<file path=ppt/tags/tag4.xml><?xml version="1.0" encoding="utf-8"?>
<p:tagLst xmlns:p="http://schemas.openxmlformats.org/presentationml/2006/main">
  <p:tag name="TABLE_ENDDRAG_ORIGIN_RECT" val="103*90"/>
  <p:tag name="TABLE_ENDDRAG_RECT" val="108*225*103*90"/>
</p:tagLst>
</file>

<file path=ppt/tags/tag5.xml><?xml version="1.0" encoding="utf-8"?>
<p:tagLst xmlns:p="http://schemas.openxmlformats.org/presentationml/2006/main">
  <p:tag name="TABLE_ENDDRAG_ORIGIN_RECT" val="101*90"/>
  <p:tag name="TABLE_ENDDRAG_RECT" val="108*225*101*90"/>
</p:tagLst>
</file>

<file path=ppt/tags/tag6.xml><?xml version="1.0" encoding="utf-8"?>
<p:tagLst xmlns:p="http://schemas.openxmlformats.org/presentationml/2006/main">
  <p:tag name="TABLE_ENDDRAG_ORIGIN_RECT" val="173*88"/>
  <p:tag name="TABLE_ENDDRAG_RECT" val="43*383*173*88"/>
</p:tagLst>
</file>

<file path=ppt/tags/tag7.xml><?xml version="1.0" encoding="utf-8"?>
<p:tagLst xmlns:p="http://schemas.openxmlformats.org/presentationml/2006/main">
  <p:tag name="TABLE_ENDDRAG_ORIGIN_RECT" val="175*90"/>
  <p:tag name="TABLE_ENDDRAG_RECT" val="223*384*175*90"/>
</p:tagLst>
</file>

<file path=ppt/tags/tag8.xml><?xml version="1.0" encoding="utf-8"?>
<p:tagLst xmlns:p="http://schemas.openxmlformats.org/presentationml/2006/main">
  <p:tag name="TABLE_ENDDRAG_ORIGIN_RECT" val="174*94"/>
  <p:tag name="TABLE_ENDDRAG_RECT" val="412*385*174*94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825</Words>
  <Application>WPS 演示</Application>
  <PresentationFormat/>
  <Paragraphs>170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沈周</dc:creator>
  <cp:lastModifiedBy>沈周</cp:lastModifiedBy>
  <cp:revision>3</cp:revision>
  <dcterms:created xsi:type="dcterms:W3CDTF">2025-07-23T00:59:22Z</dcterms:created>
  <dcterms:modified xsi:type="dcterms:W3CDTF">2025-09-16T13:21:06Z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BC1A120F638F401DADF9A449189506F5_12</vt:lpwstr>
  </property>
</Properties>
</file>